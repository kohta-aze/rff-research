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6f7a1e44d24503" /><Relationship Type="http://schemas.openxmlformats.org/officeDocument/2006/relationships/extended-properties" Target="/docProps/app.xml" Id="R1197b1ff80de4b5b" /><Relationship Type="http://schemas.openxmlformats.org/officeDocument/2006/relationships/officeDocument" Target="/ppt/presentation.xml" Id="Rf8b4b115f45b4c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37a6089df648a2"/>
  </p:sldMasterIdLst>
  <p:notesMasterIdLst>
    <p:notesMasterId xmlns:r="http://schemas.openxmlformats.org/officeDocument/2006/relationships" r:id="R4b4f93e9f8df483e"/>
  </p:notesMasterIdLst>
  <p:sldIdLst>
    <p:sldId xmlns:r="http://schemas.openxmlformats.org/officeDocument/2006/relationships" id="256" r:id="R41255208cbb74ba9"/>
    <p:sldId xmlns:r="http://schemas.openxmlformats.org/officeDocument/2006/relationships" id="257" r:id="R3e9f236454a145e7"/>
    <p:sldId xmlns:r="http://schemas.openxmlformats.org/officeDocument/2006/relationships" id="258" r:id="R517906f0a66e4d7b"/>
    <p:sldId xmlns:r="http://schemas.openxmlformats.org/officeDocument/2006/relationships" id="259" r:id="R4ca0a0d871e64c81"/>
    <p:sldId xmlns:r="http://schemas.openxmlformats.org/officeDocument/2006/relationships" id="260" r:id="R419e76b05b6d4b0f"/>
    <p:sldId xmlns:r="http://schemas.openxmlformats.org/officeDocument/2006/relationships" id="261" r:id="Rf2d2c1b81c514bd5"/>
    <p:sldId xmlns:r="http://schemas.openxmlformats.org/officeDocument/2006/relationships" id="262" r:id="Rfec0124bab56422d"/>
    <p:sldId xmlns:r="http://schemas.openxmlformats.org/officeDocument/2006/relationships" id="263" r:id="R705090f4364c45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e61f447bb64d9f" /><Relationship Type="http://schemas.openxmlformats.org/officeDocument/2006/relationships/slideMaster" Target="/ppt/slideMasters/slideMaster1.xml" Id="R8f37a6089df648a2" /><Relationship Type="http://schemas.openxmlformats.org/officeDocument/2006/relationships/notesMaster" Target="/ppt/notesMasters/notesMaster1.xml" Id="R4b4f93e9f8df483e" /><Relationship Type="http://schemas.openxmlformats.org/officeDocument/2006/relationships/presProps" Target="/ppt/presProps.xml" Id="R6aeb9346ff094047" /><Relationship Type="http://schemas.openxmlformats.org/officeDocument/2006/relationships/tableStyles" Target="/ppt/tableStyles.xml" Id="Rdfbe2258fb844434" /><Relationship Type="http://schemas.openxmlformats.org/officeDocument/2006/relationships/slide" Target="/ppt/slides/slide1.xml" Id="R41255208cbb74ba9" /><Relationship Type="http://schemas.openxmlformats.org/officeDocument/2006/relationships/slide" Target="/ppt/slides/slide2.xml" Id="R3e9f236454a145e7" /><Relationship Type="http://schemas.openxmlformats.org/officeDocument/2006/relationships/slide" Target="/ppt/slides/slide3.xml" Id="R517906f0a66e4d7b" /><Relationship Type="http://schemas.openxmlformats.org/officeDocument/2006/relationships/slide" Target="/ppt/slides/slide4.xml" Id="R4ca0a0d871e64c81" /><Relationship Type="http://schemas.openxmlformats.org/officeDocument/2006/relationships/slide" Target="/ppt/slides/slide5.xml" Id="R419e76b05b6d4b0f" /><Relationship Type="http://schemas.openxmlformats.org/officeDocument/2006/relationships/slide" Target="/ppt/slides/slide6.xml" Id="Rf2d2c1b81c514bd5" /><Relationship Type="http://schemas.openxmlformats.org/officeDocument/2006/relationships/slide" Target="/ppt/slides/slide7.xml" Id="Rfec0124bab56422d" /><Relationship Type="http://schemas.openxmlformats.org/officeDocument/2006/relationships/slide" Target="/ppt/slides/slide8.xml" Id="R705090f4364c45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1400d3d45c40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85156ea969447e" /><Relationship Type="http://schemas.openxmlformats.org/officeDocument/2006/relationships/notesMaster" Target="/ppt/notesMasters/notesMaster1.xml" Id="Rbea2873873dd44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f8d1116c9d4646" /><Relationship Type="http://schemas.openxmlformats.org/officeDocument/2006/relationships/notesMaster" Target="/ppt/notesMasters/notesMaster1.xml" Id="R30c81bc1c27d46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bb206f880c49fd" /><Relationship Type="http://schemas.openxmlformats.org/officeDocument/2006/relationships/notesMaster" Target="/ppt/notesMasters/notesMaster1.xml" Id="Rfcfd22ce256e4d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ebe972688d4e5b" /><Relationship Type="http://schemas.openxmlformats.org/officeDocument/2006/relationships/notesMaster" Target="/ppt/notesMasters/notesMaster1.xml" Id="R2aec887dc1d545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f9618836834f5d" /><Relationship Type="http://schemas.openxmlformats.org/officeDocument/2006/relationships/notesMaster" Target="/ppt/notesMasters/notesMaster1.xml" Id="R1e613d0d162547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66a13370cc40bb" /><Relationship Type="http://schemas.openxmlformats.org/officeDocument/2006/relationships/notesMaster" Target="/ppt/notesMasters/notesMaster1.xml" Id="R42144d1a859e46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99127809174bcb" /><Relationship Type="http://schemas.openxmlformats.org/officeDocument/2006/relationships/notesMaster" Target="/ppt/notesMasters/notesMaster1.xml" Id="R4faf486d774c46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a114e1c7034680" /><Relationship Type="http://schemas.openxmlformats.org/officeDocument/2006/relationships/notesMaster" Target="/ppt/notesMasters/notesMaster1.xml" Id="R0398efc8e97e4c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generated by AI(2026-10-07)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 ] レビュー済み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最終目標は、日・受信機・機器状態が変わっても、識別と未知拒否に使えるデータの収集方法を設計することにある。</a:t>
            </a:r>
          </a:p>
          <a:p xmlns:a="http://schemas.openxmlformats.org/drawingml/2006/main">
            <a:r>
              <a:t>今回の既存データ実験は、実機で何を残し、どの条件を変えて収るかを決める準備である。</a:t>
            </a:r>
          </a:p>
          <a:p xmlns:a="http://schemas.openxmlformats.org/drawingml/2006/main">
            <a:r>
              <a:t>OpenMaxを基準に選び、複数日学習と校正日の変更、残差強調を試した。ただし、原因はまだ特定できていない。改善した手法を探すことが主題ではない。</a:t>
            </a:r>
          </a:p>
          <a:p xmlns:a="http://schemas.openxmlformats.org/drawingml/2006/main">
            <a:r>
              <a:t>ORACLEは別条件の予備実験として補足へ置く。設備の台数・遮蔽箱は本人申告に基づく。型番・同期・接続方法は未確認。</a:t>
            </a:r>
          </a:p>
          <a:p xmlns:a="http://schemas.openxmlformats.org/drawingml/2006/main">
            <a:r>
              <a:t>実験実施日は2026年10月、WiSigの収録日は2021年である。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- 2.define-baseline-model/2026-10-06_初回比較結果.json</a:t>
            </a:r>
          </a:p>
          <a:p xmlns:a="http://schemas.openxmlformats.org/drawingml/2006/main">
            <a:r>
              <a:t>- 3.improve-baseline/01_multiday_training/実験結果/結果.csv</a:t>
            </a:r>
          </a:p>
          <a:p xmlns:a="http://schemas.openxmlformats.org/drawingml/2006/main">
            <a:r>
              <a:t>- 3.improve-baseline/02_wisig_signal_processing/実験結果/残差強調の初回結果.json</a:t>
            </a:r>
          </a:p>
          <a:p xmlns:a="http://schemas.openxmlformats.org/drawingml/2006/main">
            <a:r>
              <a:t>- 3.improve-baseline/90_oracle_feasibility/初回実験結果.json</a:t>
            </a:r>
          </a:p>
          <a:p xmlns:a="http://schemas.openxmlformats.org/drawingml/2006/main">
            <a:r>
              <a:t>- 設備情報：本会話でのユーザー申告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generated by AI(2026-10-07)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 ] レビュー済み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二つの問いを分ける。第一は、同日から既知・未知の分離が弱い理由。第二は、別日で既知をさらに拒否しやすくなる理由である。</a:t>
            </a:r>
          </a:p>
          <a:p xmlns:a="http://schemas.openxmlformats.org/drawingml/2006/main">
            <a:r>
              <a:t>03/23の既知分類率は87.5%だが、正しく受け入れられる既知は51.7%である。既知分類率はOpenMaxの既知クラス内予測を拒否前に評価した値で、生のCNN logits最大値の正解率とは区別する。</a:t>
            </a:r>
          </a:p>
          <a:p xmlns:a="http://schemas.openxmlformats.org/drawingml/2006/main">
            <a:r>
              <a:t>左の内訳は既知を分母とする。右のFARは未知を分母とする。小さい橙色部分も既知内訳に含める。</a:t>
            </a:r>
          </a:p>
          <a:p xmlns:a="http://schemas.openxmlformats.org/drawingml/2006/main">
            <a:r>
              <a:t>OSCRは03/01 0.724、03/23 0.491。AUROCも0.730から0.504へ低下しているため、しきい値調整だけで分離が戻るとは限らない。OSCRは分類正解率ではない。</a:t>
            </a:r>
          </a:p>
          <a:p xmlns:a="http://schemas.openxmlformats.org/drawingml/2006/main">
            <a:r>
              <a:t>fold 0、seed 42の探索結果。既知6 Tx、調整用未知2 Tx、評価用未知2 Tx、16 Rx、256点、RMS正規化。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- 2.define-baseline-model/2026-10-06_初回比較結果.json : runs.cnn_openmax.metrics.test_*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generated by AI(2026-10-07)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 ] レビュー済み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複数日学習の結果は、日・セッションの被覆が関係するという仮説と一部整合する。しかし2日が最適、3日では過学習、と断定できない。</a:t>
            </a:r>
          </a:p>
          <a:p xmlns:a="http://schemas.openxmlformats.org/drawingml/2006/main">
            <a:r>
              <a:t>校正だけの変更で結果が動いたため、特徴学習に加えて未知判定側も調べる必要がある。固定CNNでもOpenMaxの既知内の予測は校正により変わり得る。</a:t>
            </a:r>
          </a:p>
          <a:p xmlns:a="http://schemas.openxmlformats.org/drawingml/2006/main">
            <a:r>
              <a:t>Day-After-Tomorrowは、有線でもTx・Rxを電源再投入すると低下する例を報告する。これはWiSigの原因が電源だと示した結果ではない。</a:t>
            </a:r>
          </a:p>
          <a:p xmlns:a="http://schemas.openxmlformats.org/drawingml/2006/main">
            <a:r>
              <a:t>データ収集、モデル、ハードウェア配置は介入箇所の整理として使える。原因は重なり得る。</a:t>
            </a:r>
          </a:p>
          <a:p xmlns:a="http://schemas.openxmlformats.org/drawingml/2006/main">
            <a:r>
              <a:t>研究室で条件を管理した収録を行うため、同じ端末の条件変化と端末間の差を比べるという問いへ絞りたい。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- 3.improve-baseline/01_multiday_training/実験結果/結果.csv</a:t>
            </a:r>
          </a:p>
          <a:p xmlns:a="http://schemas.openxmlformats.org/drawingml/2006/main">
            <a:r>
              <a:t>- https://arxiv.org/html/2112.15363v2 §VI-B</a:t>
            </a:r>
          </a:p>
          <a:p xmlns:a="http://schemas.openxmlformats.org/drawingml/2006/main">
            <a:r>
              <a:t>- https://arxiv.org/html/2305.05285v2 §5.2</a:t>
            </a:r>
          </a:p>
          <a:p xmlns:a="http://schemas.openxmlformats.org/drawingml/2006/main">
            <a:r>
              <a:t>- https://openaccess.thecvf.com/content_cvpr_2016/papers/Bendale_Towards_Open_Set_CVPR_2016_paper.pdf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generated by AI(2026-10-07)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 ] レビュー済み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は1日（03/01）、2日（03/01＋03/08）、3日（03/01＋03/08＋03/15）の学習・校正比較。学習総数は11,520にそろえ、1日あたりの信号数は11,520、5,760、3,840になる。CNNを再学習しOpenMaxも再校正するため、特徴学習だけの寄与は分離できない。</a:t>
            </a:r>
          </a:p>
          <a:p xmlns:a="http://schemas.openxmlformats.org/drawingml/2006/main">
            <a:r>
              <a:t>右は同じ1日学習CNNを固定した校正比較。fitは合計100信号／クラスで、3日配分は34／33／33。共通validationで設定としきい値を再選択する。左の1日条件とはfit数が異なるため、左右の棒を直接順位付けしない。</a:t>
            </a:r>
          </a:p>
          <a:p xmlns:a="http://schemas.openxmlformats.org/drawingml/2006/main">
            <a:r>
              <a:t>校正混合でOSCRが0.428から0.486へ変わる一方、未知FARも43.6%から50.9%へ上昇する。既知CCRは35.3%から47.6%へ変わる。</a:t>
            </a:r>
          </a:p>
          <a:p xmlns:a="http://schemas.openxmlformats.org/drawingml/2006/main">
            <a:r>
              <a:t>2日の改善だけから多様性の効果と断定できず、評価日に近い日の影響も残る。3日の低下は日の配分、学習、校正を分けて調べる必要がある。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- 3.improve-baseline/01_multiday_training/実験結果/結果.csv</a:t>
            </a:r>
          </a:p>
          <a:p xmlns:a="http://schemas.openxmlformats.org/drawingml/2006/main">
            <a:r>
              <a:t>- 3.improve-baseline/01_multiday_training/実験結果/実験条件.json</a:t>
            </a:r>
          </a:p>
          <a:p xmlns:a="http://schemas.openxmlformats.org/drawingml/2006/main">
            <a:r>
              <a:t>- 3.improve-baseline/01_multiday_training/実験結果/短報.md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generated by AI(2026-10-07)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 ] レビュー済み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SMoRFFIは、123台の同機種2.4 GHz Wi-Fi Tx、Rx 1台、室内・距離50 cmでプリアンブルIQとRF特徴を収集している。公表ベンチマークは80/20分割・5-foldの既知分類である。</a:t>
            </a:r>
          </a:p>
          <a:p xmlns:a="http://schemas.openxmlformats.org/drawingml/2006/main">
            <a:r>
              <a:t>拡張候補は、補正前のIQと補正・特徴抽出後を同じ観測に対応付け、日、Rx、独立セッション、電源状態、配置も追える形で残すことにある。MACや送信番号は対応付けと評価用とし、識別入力に混ぜない。</a:t>
            </a:r>
          </a:p>
          <a:p xmlns:a="http://schemas.openxmlformats.org/drawingml/2006/main">
            <a:r>
              <a:t>IQはHDF5等の複素数配列、索引はCSV/Parquet、設定はJSONが候補。</a:t>
            </a:r>
          </a:p>
          <a:p xmlns:a="http://schemas.openxmlformats.org/drawingml/2006/main">
            <a:r>
              <a:t>同じ送信の3 Rx観測は同じ評価分割へ置く。時刻だけで対応付けず送信番号等を用いる。パケット対応付けと位相同期は異なる。Rx型番、同期、箱の収容、AP通信経路は未確認。</a:t>
            </a:r>
          </a:p>
          <a:p xmlns:a="http://schemas.openxmlformats.org/drawingml/2006/main">
            <a:r>
              <a:t>遮蔽箱内でも反射・伝搬・Rxの影響は残る。外部からの影響を完全に消してTxだけを測る装置とは扱わない。</a:t>
            </a:r>
          </a:p>
          <a:p xmlns:a="http://schemas.openxmlformats.org/drawingml/2006/main">
            <a:r>
              <a:t>USRP等のSDRで受信波をIQ記録できる。別方式ではオシロスコープやIQ記録対応の信号解析器が候補だが、帯域・サンプルレート・オプションの確認が必要。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- https://arxiv.org/html/2511.07770v2 §2、§3.2、§4.2</a:t>
            </a:r>
          </a:p>
          <a:p xmlns:a="http://schemas.openxmlformats.org/drawingml/2006/main">
            <a:r>
              <a:t>- 0.paper-library/SMoRFFY/2511.07770v2.pdf</a:t>
            </a:r>
          </a:p>
          <a:p xmlns:a="http://schemas.openxmlformats.org/drawingml/2006/main">
            <a:r>
              <a:t>- https://github.com/EttusResearch/uhd/blob/master/host/docs/getting_started/gsg_examples.md</a:t>
            </a:r>
          </a:p>
          <a:p xmlns:a="http://schemas.openxmlformats.org/drawingml/2006/main">
            <a:r>
              <a:t>- https://helpfiles.keysight.com/csg/D_Series_FieldFox_WebHelp/n9918-90020/ch11_iqa/ch11_iqa.htm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generated by AI(2026-10-07)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 ] レビュー済み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最初に文献と条件を照合し、同じ問い・条件・評価が解決済みなら、その比較を新たな研究として実施しない。今回の確認は近い先例の確認であり、網羅調査・新規性確定ではない。</a:t>
            </a:r>
          </a:p>
          <a:p xmlns:a="http://schemas.openxmlformats.org/drawingml/2006/main">
            <a:r>
              <a:t>CNN可視化にはExplainable Efficiency（INFOCOM 2026）のIQ画像＋Grad-CAMがある。手設計特徴＋SVM対生IQの1D-CNN比較にはKangら（2021、周波数ホッピング信号）がある。SMoRFFIにもRF特徴＋Random Forestがある。電源再投入はDay-After-Tomorrow（2023）がTx・Rxをともに再投入した影響を調べている。</a:t>
            </a:r>
          </a:p>
          <a:p xmlns:a="http://schemas.openxmlformats.org/drawingml/2006/main">
            <a:r>
              <a:t>既存データでは、同じTx・Rxの日別波形と特徴、既知・未知のスコア分布、正解受入・誤分類・誤拒否を対照させる。現在の入力はequalized・RMS正規化済みなので、補正前CFOや絶対振幅には元IQと処理履歴の確認が必要である。低次元図や寄与図だけで原因を断定しない。</a:t>
            </a:r>
          </a:p>
          <a:p xmlns:a="http://schemas.openxmlformats.org/drawingml/2006/main">
            <a:r>
              <a:t>人力の分類器は、人が特徴・判定規則を設計する意味で置いている。同じ観測、利用情報、分割でCNNと比較し、条件差がある場合は明記する。</a:t>
            </a:r>
          </a:p>
          <a:p xmlns:a="http://schemas.openxmlformats.org/drawingml/2006/main">
            <a:r>
              <a:t>実機では配置、Rx、周波数、gain、送信内容を固定し、一条件ずつ変える。電源再投入後の待ち時間、時刻、順序を記録し、独立した収録を反復する。スマホは同じ位置で無線停止／対象帯域の通信中を分け、物体追加と干渉を区別する。</a:t>
            </a:r>
          </a:p>
          <a:p xmlns:a="http://schemas.openxmlformats.org/drawingml/2006/main">
            <a:r>
              <a:t>一台で分かるのは端末内の変動である。端末間の識別精度には別Txが必要であり、少数Txで再現性を確認してから100台以上へ広げる。</a:t>
            </a:r>
          </a:p>
          <a:p xmlns:a="http://schemas.openxmlformats.org/drawingml/2006/main">
            <a:r>
              <a:t>相談したい点は、可視化と条件を管理した収録から、何を含めて収るべきかというSMoRFFIの収集設計へつなげる進め方である。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- https://elmi.hbku.edu.qa/en/publications/explainable-efficiency-grad-cam-analysis-of-image-based-radio-fre/</a:t>
            </a:r>
          </a:p>
          <a:p xmlns:a="http://schemas.openxmlformats.org/drawingml/2006/main">
            <a:r>
              <a:t>- https://heungno.net/wp-content/uploads/2012/08/applsci-11-10812-1.pdf §4、§5.1、Appendix C</a:t>
            </a:r>
          </a:p>
          <a:p xmlns:a="http://schemas.openxmlformats.org/drawingml/2006/main">
            <a:r>
              <a:t>- https://arxiv.org/html/2511.07770v2</a:t>
            </a:r>
          </a:p>
          <a:p xmlns:a="http://schemas.openxmlformats.org/drawingml/2006/main">
            <a:r>
              <a:t>- https://arxiv.org/html/2305.05285v2 §5.2、§7</a:t>
            </a:r>
          </a:p>
          <a:p xmlns:a="http://schemas.openxmlformats.org/drawingml/2006/main">
            <a:r>
              <a:t>- 4.報告構成/報告構成.md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generated by AI(2026-10-07)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 ] レビュー済み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今回の比較ではOpenMaxのOSCRが全評価日で最も高いため基準にした。一般に最良の手法だとは結論しない。</a:t>
            </a:r>
          </a:p>
          <a:p xmlns:a="http://schemas.openxmlformats.org/drawingml/2006/main">
            <a:r>
              <a:t>同日03/01には0.724、別日03/23には0.491へ低下する。他の手法でも同様に別日で低下する。</a:t>
            </a:r>
          </a:p>
          <a:p xmlns:a="http://schemas.openxmlformats.org/drawingml/2006/main">
            <a:r>
              <a:t>手法の構造や全ハイパーパラメータの解説は本編では省き、必要に応じてこの補足を使う。</a:t>
            </a:r>
          </a:p>
          <a:p xmlns:a="http://schemas.openxmlformats.org/drawingml/2006/main">
            <a:r>
              <a:t>共通条件はWiSig ManyRx・equalized、256点、RMS正規化、既知6 Tx／調整用未知2 Tx／評価用未知2 Tx、16 Rx、fold 0、seed 42。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- 2.define-baseline-model/2026-10-06_初回比較結果.json : runs.*.metrics.test_*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generated by AI(2026-10-07)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 ] レビュー済み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左は、微細な違いを強める意図で残差強調を試した結果である。CNN、OpenMax、しきい値は固定し、03/01 validationでλを選択した。選ばれたのはλ=0の無加工である。λ=0.5は相対L2最大11.73%で、波形変化10%以内の制約を超える。</a:t>
            </a:r>
          </a:p>
          <a:p xmlns:a="http://schemas.openxmlformats.org/drawingml/2006/main">
            <a:r>
              <a:t>強めた成分がTx差か雑音かを分離しておらず、原因仮説を絞る実験としては弱い。非ゼロλは別日testへ適用していないため、日跨ぎで加工が無効とは結論できない。</a:t>
            </a:r>
          </a:p>
          <a:p xmlns:a="http://schemas.openxmlformats.org/drawingml/2006/main">
            <a:r>
              <a:t>右はORACLEの物理Tx 1台・run 1の16注入設定を、同一収録内で既知10・調整用未知3・評価用未知3へ分けた予備実験である。追加AWGN 10 dBで大きく低下するが、WiSigの日跨ぎ低下が雑音によるとは分からない。</a:t>
            </a:r>
          </a:p>
          <a:p xmlns:a="http://schemas.openxmlformats.org/drawingml/2006/main">
            <a:r>
              <a:t>注入設定の識別であり、自然な端末個体差の識別とは条件が異なる。無注入との比較なし、別日・別Txへの汎化なし。20／10 dBは追加雑音のSNRであり、元信号の総SNRではない。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- 3.improve-baseline/02_wisig_signal_processing/実験結果/残差強調の初回結果.json</a:t>
            </a:r>
          </a:p>
          <a:p xmlns:a="http://schemas.openxmlformats.org/drawingml/2006/main">
            <a:r>
              <a:t>- 3.improve-baseline/90_oracle_feasibility/初回実験結果.json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efc506da8e4e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087f3ba82a4c4f" /><Relationship Type="http://schemas.openxmlformats.org/officeDocument/2006/relationships/slideLayout" Target="/ppt/slideLayouts/slideLayout1.xml" Id="R5213724668534f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13724668534f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acc993f334c82" /><Relationship Type="http://schemas.openxmlformats.org/officeDocument/2006/relationships/notesSlide" Target="/ppt/notesSlides/notesSlide1.xml" Id="R9f88e5b8fe8840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7b9a6de3940f2" /><Relationship Type="http://schemas.openxmlformats.org/officeDocument/2006/relationships/chart" Target="/ppt/slides/charts/chart1.xml" Id="R4545a2d565a848fc" /><Relationship Type="http://schemas.openxmlformats.org/officeDocument/2006/relationships/chart" Target="/ppt/slides/charts/chart2.xml" Id="R0a597c3bd7ee4d77" /><Relationship Type="http://schemas.openxmlformats.org/officeDocument/2006/relationships/notesSlide" Target="/ppt/notesSlides/notesSlide2.xml" Id="Rc7f51fdc656441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17d014e7846f7" /><Relationship Type="http://schemas.openxmlformats.org/officeDocument/2006/relationships/notesSlide" Target="/ppt/notesSlides/notesSlide3.xml" Id="R4e72a3d7957649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d2c0d33794538" /><Relationship Type="http://schemas.openxmlformats.org/officeDocument/2006/relationships/chart" Target="/ppt/slides/charts/chart3.xml" Id="Re5eb0b5c6f954426" /><Relationship Type="http://schemas.openxmlformats.org/officeDocument/2006/relationships/chart" Target="/ppt/slides/charts/chart4.xml" Id="R5bb5ee58b3c84ef5" /><Relationship Type="http://schemas.openxmlformats.org/officeDocument/2006/relationships/notesSlide" Target="/ppt/notesSlides/notesSlide4.xml" Id="R5d19fa3d02e843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b83b869e94938" /><Relationship Type="http://schemas.openxmlformats.org/officeDocument/2006/relationships/notesSlide" Target="/ppt/notesSlides/notesSlide5.xml" Id="Ree961079397647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7b43931e24016" /><Relationship Type="http://schemas.openxmlformats.org/officeDocument/2006/relationships/notesSlide" Target="/ppt/notesSlides/notesSlide6.xml" Id="R2a9203374c3c41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032f783fb46c9" /><Relationship Type="http://schemas.openxmlformats.org/officeDocument/2006/relationships/chart" Target="/ppt/slides/charts/chart5.xml" Id="R2c1d57a91bd24c9c" /><Relationship Type="http://schemas.openxmlformats.org/officeDocument/2006/relationships/notesSlide" Target="/ppt/notesSlides/notesSlide7.xml" Id="Rbaa301eee14848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f94a3370949e5" /><Relationship Type="http://schemas.openxmlformats.org/officeDocument/2006/relationships/chart" Target="/ppt/slides/charts/chart6.xml" Id="R0deba4e94aaa4b1a" /><Relationship Type="http://schemas.openxmlformats.org/officeDocument/2006/relationships/chart" Target="/ppt/slides/charts/chart7.xml" Id="Rfaf775f52db04738" /><Relationship Type="http://schemas.openxmlformats.org/officeDocument/2006/relationships/notesSlide" Target="/ppt/notesSlides/notesSlide8.xml" Id="Rc8170598cbd847f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正解受入</c:v>
          </c:tx>
          <c:spPr>
            <a:solidFill xmlns:a="http://schemas.openxmlformats.org/drawingml/2006/main">
              <a:srgbClr val="087F8C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Yu Gothic"/>
                      <a:ea typeface="Yu Gothic"/>
                      <a:cs typeface="Yu Gothic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Yu Gothic"/>
                      <a:ea typeface="Yu Gothic"/>
                      <a:cs typeface="Yu Gothic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Yu Gothic"/>
                      <a:ea typeface="Yu Gothic"/>
                      <a:cs typeface="Yu Gothic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Yu Gothic"/>
                      <a:ea typeface="Yu Gothic"/>
                      <a:cs typeface="Yu Gothic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Data'!$A$2:$A$5</c:f>
              <c:strCache>
                <c:ptCount val="4"/>
                <c:pt idx="0">
                  <c:v>03/01</c:v>
                </c:pt>
                <c:pt idx="1">
                  <c:v>03/08</c:v>
                </c:pt>
                <c:pt idx="2">
                  <c:v>03/15</c:v>
                </c:pt>
                <c:pt idx="3">
                  <c:v>03/23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0.7755208333</c:v>
                </c:pt>
                <c:pt idx="1">
                  <c:v>0.5122395833</c:v>
                </c:pt>
                <c:pt idx="2">
                  <c:v>0.4716145833</c:v>
                </c:pt>
                <c:pt idx="3">
                  <c:v>0.5174479167</c:v>
                </c:pt>
              </c:numCache>
            </c:numRef>
          </c:val>
        </c:ser>
        <c:ser>
          <c:idx val="1"/>
          <c:order val="1"/>
          <c:tx>
            <c:v>誤分類して受入</c:v>
          </c:tx>
          <c:spPr>
            <a:solidFill xmlns:a="http://schemas.openxmlformats.org/drawingml/2006/main">
              <a:srgbClr val="CC6B32"/>
            </a:solidFill>
          </c:spPr>
          <c:dLbls>
            <c:dLbl>
              <c:idx val="0"/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Data'!$C$2:$C$5</c:f>
              <c:strCache>
                <c:ptCount val="4"/>
                <c:pt idx="0">
                  <c:v>03/01</c:v>
                </c:pt>
                <c:pt idx="1">
                  <c:v>03/08</c:v>
                </c:pt>
                <c:pt idx="2">
                  <c:v>03/15</c:v>
                </c:pt>
                <c:pt idx="3">
                  <c:v>03/23</c:v>
                </c:pt>
              </c:strCache>
            </c:strRef>
          </c:cat>
          <c:val>
            <c:numRef>
              <c:f>'Chart Data'!$D$2:$D$5</c:f>
              <c:numCache>
                <c:formatCode>0.0%</c:formatCode>
                <c:ptCount val="4"/>
                <c:pt idx="0">
                  <c:v>0</c:v>
                </c:pt>
                <c:pt idx="1">
                  <c:v>0.0205729167</c:v>
                </c:pt>
                <c:pt idx="2">
                  <c:v>0.0221354167</c:v>
                </c:pt>
                <c:pt idx="3">
                  <c:v>0.0010416667</c:v>
                </c:pt>
              </c:numCache>
            </c:numRef>
          </c:val>
        </c:ser>
        <c:ser>
          <c:idx val="2"/>
          <c:order val="2"/>
          <c:tx>
            <c:v>拒否</c:v>
          </c:tx>
          <c:spPr>
            <a:solidFill xmlns:a="http://schemas.openxmlformats.org/drawingml/2006/main">
              <a:srgbClr val="D1D8DE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solidFill>
                        <a:srgbClr val="172C3E"/>
                      </a:solidFill>
                      <a:latin typeface="Yu Gothic"/>
                      <a:ea typeface="Yu Gothic"/>
                      <a:cs typeface="Yu Gothic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solidFill>
                        <a:srgbClr val="172C3E"/>
                      </a:solidFill>
                      <a:latin typeface="Yu Gothic"/>
                      <a:ea typeface="Yu Gothic"/>
                      <a:cs typeface="Yu Gothic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solidFill>
                        <a:srgbClr val="172C3E"/>
                      </a:solidFill>
                      <a:latin typeface="Yu Gothic"/>
                      <a:ea typeface="Yu Gothic"/>
                      <a:cs typeface="Yu Gothic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solidFill>
                        <a:srgbClr val="172C3E"/>
                      </a:solidFill>
                      <a:latin typeface="Yu Gothic"/>
                      <a:ea typeface="Yu Gothic"/>
                      <a:cs typeface="Yu Gothic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Data'!$E$2:$E$5</c:f>
              <c:strCache>
                <c:ptCount val="4"/>
                <c:pt idx="0">
                  <c:v>03/01</c:v>
                </c:pt>
                <c:pt idx="1">
                  <c:v>03/08</c:v>
                </c:pt>
                <c:pt idx="2">
                  <c:v>03/15</c:v>
                </c:pt>
                <c:pt idx="3">
                  <c:v>03/23</c:v>
                </c:pt>
              </c:strCache>
            </c:strRef>
          </c:cat>
          <c:val>
            <c:numRef>
              <c:f>'Chart Data'!$F$2:$F$5</c:f>
              <c:numCache>
                <c:formatCode>0.0%</c:formatCode>
                <c:ptCount val="4"/>
                <c:pt idx="0">
                  <c:v>0.2244791667</c:v>
                </c:pt>
                <c:pt idx="1">
                  <c:v>0.4671875</c:v>
                </c:pt>
                <c:pt idx="2">
                  <c:v>0.50625</c:v>
                </c:pt>
                <c:pt idx="3">
                  <c:v>0.4815104167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C3E"/>
                  </a:solidFill>
                  <a:latin typeface="Yu Gothic"/>
                  <a:ea typeface="Yu Gothic"/>
                  <a:cs typeface="Yu Gothic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1D8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72C3E"/>
              </a:solidFill>
              <a:latin typeface="Yu Gothic"/>
              <a:ea typeface="Yu Gothic"/>
              <a:cs typeface="Yu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未知を既知として受入</c:v>
          </c:tx>
          <c:spPr>
            <a:ln xmlns:a="http://schemas.openxmlformats.org/drawingml/2006/main" w="28575">
              <a:solidFill>
                <a:srgbClr val="CC6B32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CC6B32"/>
              </a:solidFill>
            </c:spPr>
          </c:marker>
          <c:cat>
            <c:strRef>
              <c:f>'Chart Data'!$A$2:$A$5</c:f>
              <c:strCache>
                <c:ptCount val="4"/>
                <c:pt idx="0">
                  <c:v>03/01</c:v>
                </c:pt>
                <c:pt idx="1">
                  <c:v>03/08</c:v>
                </c:pt>
                <c:pt idx="2">
                  <c:v>03/15</c:v>
                </c:pt>
                <c:pt idx="3">
                  <c:v>03/23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0.47734375</c:v>
                </c:pt>
                <c:pt idx="1">
                  <c:v>0.46796875</c:v>
                </c:pt>
                <c:pt idx="2">
                  <c:v>0.4234375</c:v>
                </c:pt>
                <c:pt idx="3">
                  <c:v>0.52109375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CC6B32"/>
                  </a:solidFill>
                  <a:latin typeface="Yu Gothic"/>
                  <a:ea typeface="Yu Gothic"/>
                  <a:cs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1D8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72C3E"/>
              </a:solidFill>
              <a:latin typeface="Yu Gothic"/>
              <a:ea typeface="Yu Gothic"/>
              <a:cs typeface="Yu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03/23 OSCR</c:v>
          </c:tx>
          <c:spPr>
            <a:solidFill xmlns:a="http://schemas.openxmlformats.org/drawingml/2006/main">
              <a:srgbClr val="087F8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087F8C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87F8C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87F8C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1日</c:v>
                </c:pt>
                <c:pt idx="1">
                  <c:v>2日</c:v>
                </c:pt>
                <c:pt idx="2">
                  <c:v>3日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0.4909637451</c:v>
                </c:pt>
                <c:pt idx="1">
                  <c:v>0.5700716146</c:v>
                </c:pt>
                <c:pt idx="2">
                  <c:v>0.4754390462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72C3E"/>
                  </a:solidFill>
                  <a:latin typeface="Yu Gothic"/>
                  <a:ea typeface="Yu Gothic"/>
                  <a:cs typeface="Yu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1D8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C3E"/>
                    </a:solidFill>
                    <a:latin typeface="Yu Gothic"/>
                    <a:ea typeface="Yu Gothic"/>
                    <a:cs typeface="Yu Gothic"/>
                  </a:rPr>
                  <a:t>OSCR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C3E"/>
                  </a:solidFill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03/23 OSCR</c:v>
          </c:tx>
          <c:spPr>
            <a:solidFill xmlns:a="http://schemas.openxmlformats.org/drawingml/2006/main">
              <a:srgbClr val="CC6B32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C6B32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C6B32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1日fit</c:v>
                </c:pt>
                <c:pt idx="1">
                  <c:v>3日混合fit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0.4283754476</c:v>
                </c:pt>
                <c:pt idx="1">
                  <c:v>0.4861676025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72C3E"/>
                  </a:solidFill>
                  <a:latin typeface="Yu Gothic"/>
                  <a:ea typeface="Yu Gothic"/>
                  <a:cs typeface="Yu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1D8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C3E"/>
                    </a:solidFill>
                    <a:latin typeface="Yu Gothic"/>
                    <a:ea typeface="Yu Gothic"/>
                    <a:cs typeface="Yu Gothic"/>
                  </a:rPr>
                  <a:t>OSCR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C3E"/>
                  </a:solidFill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MSP</c:v>
          </c:tx>
          <c:spPr>
            <a:ln xmlns:a="http://schemas.openxmlformats.org/drawingml/2006/main" w="19050">
              <a:solidFill>
                <a:srgbClr val="7B8998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7B8998"/>
              </a:solidFill>
            </c:spPr>
          </c:marker>
          <c:cat>
            <c:strRef>
              <c:f>'Chart Data'!$A$2:$A$5</c:f>
              <c:strCache>
                <c:ptCount val="4"/>
                <c:pt idx="0">
                  <c:v>03/01</c:v>
                </c:pt>
                <c:pt idx="1">
                  <c:v>03/08</c:v>
                </c:pt>
                <c:pt idx="2">
                  <c:v>03/15</c:v>
                </c:pt>
                <c:pt idx="3">
                  <c:v>03/23</c:v>
                </c:pt>
              </c:strCache>
            </c:str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0.7015764364</c:v>
                </c:pt>
                <c:pt idx="1">
                  <c:v>0.4850602214</c:v>
                </c:pt>
                <c:pt idx="2">
                  <c:v>0.4773309326</c:v>
                </c:pt>
                <c:pt idx="3">
                  <c:v>0.4672117106</c:v>
                </c:pt>
              </c:numCache>
            </c:numRef>
          </c:val>
          <c:smooth val="0"/>
        </c:ser>
        <c:ser>
          <c:idx val="1"/>
          <c:order val="1"/>
          <c:tx>
            <c:v>Cosine</c:v>
          </c:tx>
          <c:spPr>
            <a:ln xmlns:a="http://schemas.openxmlformats.org/drawingml/2006/main" w="19050">
              <a:solidFill>
                <a:srgbClr val="C49B67"/>
              </a:solidFill>
            </a:ln>
          </c:spPr>
          <c:marker>
            <c:symbol val="square"/>
            <c:size val="8"/>
            <c:spPr>
              <a:solidFill xmlns:a="http://schemas.openxmlformats.org/drawingml/2006/main">
                <a:srgbClr val="C49B67"/>
              </a:solidFill>
            </c:spPr>
          </c:marker>
          <c:cat>
            <c:strRef>
              <c:f>'Chart Data'!$C$2:$C$5</c:f>
              <c:strCache>
                <c:ptCount val="4"/>
                <c:pt idx="0">
                  <c:v>03/01</c:v>
                </c:pt>
                <c:pt idx="1">
                  <c:v>03/08</c:v>
                </c:pt>
                <c:pt idx="2">
                  <c:v>03/15</c:v>
                </c:pt>
                <c:pt idx="3">
                  <c:v>03/23</c:v>
                </c:pt>
              </c:strCache>
            </c:strRef>
          </c:cat>
          <c:val>
            <c:numRef>
              <c:f>'Chart Data'!$D$2:$D$5</c:f>
              <c:numCache>
                <c:formatCode>0.000</c:formatCode>
                <c:ptCount val="4"/>
                <c:pt idx="0">
                  <c:v>0.6187750244</c:v>
                </c:pt>
                <c:pt idx="1">
                  <c:v>0.4784733073</c:v>
                </c:pt>
                <c:pt idx="2">
                  <c:v>0.4427357992</c:v>
                </c:pt>
                <c:pt idx="3">
                  <c:v>0.4412461344</c:v>
                </c:pt>
              </c:numCache>
            </c:numRef>
          </c:val>
          <c:smooth val="0"/>
        </c:ser>
        <c:ser>
          <c:idx val="2"/>
          <c:order val="2"/>
          <c:tx>
            <c:v>OpenMax</c:v>
          </c:tx>
          <c:spPr>
            <a:ln xmlns:a="http://schemas.openxmlformats.org/drawingml/2006/main" w="38100">
              <a:solidFill>
                <a:srgbClr val="087F8C"/>
              </a:solidFill>
            </a:ln>
          </c:spPr>
          <c:marker>
            <c:symbol val="diamond"/>
            <c:size val="10"/>
            <c:spPr>
              <a:solidFill xmlns:a="http://schemas.openxmlformats.org/drawingml/2006/main">
                <a:srgbClr val="087F8C"/>
              </a:solidFill>
            </c:spPr>
          </c:marker>
          <c:cat>
            <c:strRef>
              <c:f>'Chart Data'!$E$2:$E$5</c:f>
              <c:strCache>
                <c:ptCount val="4"/>
                <c:pt idx="0">
                  <c:v>03/01</c:v>
                </c:pt>
                <c:pt idx="1">
                  <c:v>03/08</c:v>
                </c:pt>
                <c:pt idx="2">
                  <c:v>03/15</c:v>
                </c:pt>
                <c:pt idx="3">
                  <c:v>03/23</c:v>
                </c:pt>
              </c:strCache>
            </c:strRef>
          </c:cat>
          <c:val>
            <c:numRef>
              <c:f>'Chart Data'!$F$2:$F$5</c:f>
              <c:numCache>
                <c:formatCode>0.000</c:formatCode>
                <c:ptCount val="4"/>
                <c:pt idx="0">
                  <c:v>0.7236151123</c:v>
                </c:pt>
                <c:pt idx="1">
                  <c:v>0.5078989665</c:v>
                </c:pt>
                <c:pt idx="2">
                  <c:v>0.4941571045</c:v>
                </c:pt>
                <c:pt idx="3">
                  <c:v>0.4909637451</c:v>
                </c:pt>
              </c:numCache>
            </c:numRef>
          </c:val>
          <c:smooth val="0"/>
        </c:ser>
        <c:ser>
          <c:idx val="3"/>
          <c:order val="3"/>
          <c:tx>
            <c:v>SupCon</c:v>
          </c:tx>
          <c:spPr>
            <a:ln xmlns:a="http://schemas.openxmlformats.org/drawingml/2006/main" w="19050">
              <a:solidFill>
                <a:srgbClr val="7E7198"/>
              </a:solidFill>
            </a:ln>
          </c:spPr>
          <c:marker>
            <c:symbol val="triangle"/>
            <c:size val="8"/>
            <c:spPr>
              <a:solidFill xmlns:a="http://schemas.openxmlformats.org/drawingml/2006/main">
                <a:srgbClr val="7E7198"/>
              </a:solidFill>
            </c:spPr>
          </c:marker>
          <c:cat>
            <c:strRef>
              <c:f>'Chart Data'!$G$2:$G$5</c:f>
              <c:strCache>
                <c:ptCount val="4"/>
                <c:pt idx="0">
                  <c:v>03/01</c:v>
                </c:pt>
                <c:pt idx="1">
                  <c:v>03/08</c:v>
                </c:pt>
                <c:pt idx="2">
                  <c:v>03/15</c:v>
                </c:pt>
                <c:pt idx="3">
                  <c:v>03/23</c:v>
                </c:pt>
              </c:strCache>
            </c:strRef>
          </c:cat>
          <c:val>
            <c:numRef>
              <c:f>'Chart Data'!$H$2:$H$5</c:f>
              <c:numCache>
                <c:formatCode>0.000</c:formatCode>
                <c:ptCount val="4"/>
                <c:pt idx="0">
                  <c:v>0.6769740804</c:v>
                </c:pt>
                <c:pt idx="1">
                  <c:v>0.4901027425</c:v>
                </c:pt>
                <c:pt idx="2">
                  <c:v>0.4627640788</c:v>
                </c:pt>
                <c:pt idx="3">
                  <c:v>0.4878898112</c:v>
                </c:pt>
              </c:numCache>
            </c:numRef>
          </c:val>
          <c:smooth val="0"/>
        </c:ser>
        <c:ser>
          <c:idx val="4"/>
          <c:order val="4"/>
          <c:tx>
            <c:v>MTPL+EVT</c:v>
          </c:tx>
          <c:spPr>
            <a:ln xmlns:a="http://schemas.openxmlformats.org/drawingml/2006/main" w="19050">
              <a:solidFill>
                <a:srgbClr val="A0A8AF"/>
              </a:solidFill>
            </a:ln>
          </c:spPr>
          <c:marker>
            <c:symbol val="x"/>
            <c:size val="8"/>
            <c:spPr>
              <a:solidFill xmlns:a="http://schemas.openxmlformats.org/drawingml/2006/main">
                <a:srgbClr val="A0A8AF"/>
              </a:solidFill>
            </c:spPr>
          </c:marker>
          <c:cat>
            <c:strRef>
              <c:f>'Chart Data'!$I$2:$I$5</c:f>
              <c:strCache>
                <c:ptCount val="4"/>
                <c:pt idx="0">
                  <c:v>03/01</c:v>
                </c:pt>
                <c:pt idx="1">
                  <c:v>03/08</c:v>
                </c:pt>
                <c:pt idx="2">
                  <c:v>03/15</c:v>
                </c:pt>
                <c:pt idx="3">
                  <c:v>03/23</c:v>
                </c:pt>
              </c:strCache>
            </c:strRef>
          </c:cat>
          <c:val>
            <c:numRef>
              <c:f>'Chart Data'!$J$2:$J$5</c:f>
              <c:numCache>
                <c:formatCode>0.000</c:formatCode>
                <c:ptCount val="4"/>
                <c:pt idx="0">
                  <c:v>0.4778881836</c:v>
                </c:pt>
                <c:pt idx="1">
                  <c:v>0.4225617472</c:v>
                </c:pt>
                <c:pt idx="2">
                  <c:v>0.4172488403</c:v>
                </c:pt>
                <c:pt idx="3">
                  <c:v>0.4134030151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Yu Gothic"/>
                  <a:ea typeface="Yu Gothic"/>
                  <a:cs typeface="Yu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1D8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72C3E"/>
                    </a:solidFill>
                    <a:latin typeface="Yu Gothic"/>
                    <a:ea typeface="Yu Gothic"/>
                    <a:cs typeface="Yu Gothic"/>
                  </a:rPr>
                  <a:t>OSCR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72C3E"/>
                  </a:solidFill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72C3E"/>
              </a:solidFill>
              <a:latin typeface="Yu Gothic"/>
              <a:ea typeface="Yu Gothic"/>
              <a:cs typeface="Yu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無加工との差</c:v>
          </c:tx>
          <c:spPr>
            <a:ln xmlns:a="http://schemas.openxmlformats.org/drawingml/2006/main" w="19050">
              <a:solidFill>
                <a:srgbClr val="087F8C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087F8C"/>
              </a:solidFill>
            </c:spPr>
          </c:marker>
          <c:dPt>
            <c:idx val="0"/>
            <c:spPr>
              <a:solidFill xmlns:a="http://schemas.openxmlformats.org/drawingml/2006/main">
                <a:srgbClr val="087F8C"/>
              </a:solidFill>
            </c:spPr>
          </c:dPt>
          <c:dPt>
            <c:idx val="1"/>
            <c:spPr>
              <a:solidFill xmlns:a="http://schemas.openxmlformats.org/drawingml/2006/main">
                <a:srgbClr val="087F8C"/>
              </a:solidFill>
            </c:spPr>
          </c:dPt>
          <c:dPt>
            <c:idx val="2"/>
            <c:spPr>
              <a:solidFill xmlns:a="http://schemas.openxmlformats.org/drawingml/2006/main">
                <a:srgbClr val="087F8C"/>
              </a:solidFill>
            </c:spPr>
          </c:dPt>
          <c:dPt>
            <c:idx val="3"/>
            <c:spPr>
              <a:solidFill xmlns:a="http://schemas.openxmlformats.org/drawingml/2006/main">
                <a:srgbClr val="087F8C"/>
              </a:solidFill>
            </c:spPr>
          </c:dPt>
          <c:dPt>
            <c:idx val="4"/>
            <c:spPr>
              <a:solidFill xmlns:a="http://schemas.openxmlformats.org/drawingml/2006/main">
                <a:srgbClr val="CC6B32"/>
              </a:solidFill>
            </c:spPr>
          </c:dPt>
          <c:xVal>
            <c:numRef>
              <c:f>'Chart Data'!$A$2:$A$6</c:f>
              <c:numCache>
                <c:formatCode>0.00</c:formatCode>
                <c:ptCount val="5"/>
                <c:pt idx="0">
                  <c:v>-0.25</c:v>
                </c:pt>
                <c:pt idx="1">
                  <c:v>0</c:v>
                </c:pt>
                <c:pt idx="2">
                  <c:v>0.1</c:v>
                </c:pt>
                <c:pt idx="3">
                  <c:v>0.25</c:v>
                </c:pt>
                <c:pt idx="4">
                  <c:v>0.5</c:v>
                </c:pt>
              </c:numCache>
            </c:numRef>
          </c:xVal>
          <c:yVal>
            <c:numRef>
              <c:f>'Chart Data'!$B$2:$B$6</c:f>
              <c:numCache>
                <c:formatCode>0.000</c:formatCode>
                <c:ptCount val="5"/>
                <c:pt idx="0">
                  <c:v>-0.0003063965</c:v>
                </c:pt>
                <c:pt idx="1">
                  <c:v>0</c:v>
                </c:pt>
                <c:pt idx="2">
                  <c:v>-0.0014180501</c:v>
                </c:pt>
                <c:pt idx="3">
                  <c:v>-0.0053468831</c:v>
                </c:pt>
                <c:pt idx="4">
                  <c:v>-0.0138736979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Yu Gothic"/>
                  <a:ea typeface="Yu Gothic"/>
                  <a:cs typeface="Yu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001"/>
          <c:min val="-0.01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C3E"/>
                    </a:solidFill>
                    <a:latin typeface="Yu Gothic"/>
                    <a:ea typeface="Yu Gothic"/>
                    <a:cs typeface="Yu Gothic"/>
                  </a:rPr>
                  <a:t>ΔOSCR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C3E"/>
                  </a:solidFill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majorUnit val="0.005"/>
      </c:valAx>
      <c:valAx>
        <c:axId val="48650112"/>
        <c:scaling>
          <c:orientation val="minMax"/>
          <c:max val="0.55"/>
          <c:min val="-0.2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C3E"/>
                    </a:solidFill>
                    <a:latin typeface="Yu Gothic"/>
                    <a:ea typeface="Yu Gothic"/>
                    <a:cs typeface="Yu Gothic"/>
                  </a:rPr>
                  <a:t>強度 λ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C3E"/>
                  </a:solidFill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1D8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MSP</c:v>
          </c:tx>
          <c:spPr>
            <a:solidFill xmlns:a="http://schemas.openxmlformats.org/drawingml/2006/main">
              <a:srgbClr val="D1D8DE"/>
            </a:solidFill>
          </c:spPr>
          <c:cat>
            <c:strRef>
              <c:f>'Chart Data'!$A$2:$A$4</c:f>
              <c:strCache>
                <c:ptCount val="3"/>
                <c:pt idx="0">
                  <c:v>追加なし</c:v>
                </c:pt>
                <c:pt idx="1">
                  <c:v>20 dB</c:v>
                </c:pt>
                <c:pt idx="2">
                  <c:v>10 dB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0.729456838</c:v>
                </c:pt>
                <c:pt idx="1">
                  <c:v>0.7295082092</c:v>
                </c:pt>
                <c:pt idx="2">
                  <c:v>0.2247258504</c:v>
                </c:pt>
              </c:numCache>
            </c:numRef>
          </c:val>
        </c:ser>
        <c:ser>
          <c:idx val="1"/>
          <c:order val="1"/>
          <c:tx>
            <c:v>OpenMax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Data'!$C$2:$C$4</c:f>
              <c:strCache>
                <c:ptCount val="3"/>
                <c:pt idx="0">
                  <c:v>追加なし</c:v>
                </c:pt>
                <c:pt idx="1">
                  <c:v>20 dB</c:v>
                </c:pt>
                <c:pt idx="2">
                  <c:v>10 dB</c:v>
                </c:pt>
              </c:strCache>
            </c:strRef>
          </c:cat>
          <c:val>
            <c:numRef>
              <c:f>'Chart Data'!$D$2:$D$4</c:f>
              <c:numCache>
                <c:formatCode>0.000</c:formatCode>
                <c:ptCount val="3"/>
                <c:pt idx="0">
                  <c:v>0.8527491252</c:v>
                </c:pt>
                <c:pt idx="1">
                  <c:v>0.7840601603</c:v>
                </c:pt>
                <c:pt idx="2">
                  <c:v>0.1481694539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72C3E"/>
                  </a:solidFill>
                  <a:latin typeface="Yu Gothic"/>
                  <a:ea typeface="Yu Gothic"/>
                  <a:cs typeface="Yu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1D8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C3E"/>
                    </a:solidFill>
                    <a:latin typeface="Yu Gothic"/>
                    <a:ea typeface="Yu Gothic"/>
                    <a:cs typeface="Yu Gothic"/>
                  </a:rPr>
                  <a:t>OSCR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C3E"/>
                  </a:solidFill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C3E"/>
              </a:solidFill>
              <a:latin typeface="Yu Gothic"/>
              <a:ea typeface="Yu Gothic"/>
              <a:cs typeface="Yu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headline_1">
            <a:extLst xmlns:a="http://schemas.openxmlformats.org/drawingml/2006/main">
              <a:ext uri="{FF2B5EF4-FFF2-40B4-BE49-F238E27FC236}">
                <a16:creationId xmlns:a16="http://schemas.microsoft.com/office/drawing/2014/main" id="{27D783AB-42D1-4D55-88E3-E59E46DB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今回の目的と実験の順序</a:t>
            </a:r>
          </a:p>
        </p:txBody>
      </p:sp>
      <p:sp>
        <p:nvSpPr>
          <p:cNvPr id="2" name="text_xc4i1c_1">
            <a:extLst xmlns:a="http://schemas.openxmlformats.org/drawingml/2006/main">
              <a:ext uri="{FF2B5EF4-FFF2-40B4-BE49-F238E27FC236}">
                <a16:creationId xmlns:a16="http://schemas.microsoft.com/office/drawing/2014/main" id="{B8C8B27C-3A02-47F1-AB10-D4CFC1B8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text_xc4i1c_2">
            <a:extLst xmlns:a="http://schemas.openxmlformats.org/drawingml/2006/main">
              <a:ext uri="{FF2B5EF4-FFF2-40B4-BE49-F238E27FC236}">
                <a16:creationId xmlns:a16="http://schemas.microsoft.com/office/drawing/2014/main" id="{BC03DD65-C189-47DC-8BB4-9B515504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4" name="text_xc4i1c_3">
            <a:extLst xmlns:a="http://schemas.openxmlformats.org/drawingml/2006/main">
              <a:ext uri="{FF2B5EF4-FFF2-40B4-BE49-F238E27FC236}">
                <a16:creationId xmlns:a16="http://schemas.microsoft.com/office/drawing/2014/main" id="{0802874B-E232-46B1-9D6C-3DEA1723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generated by AI(2026-10-07)　[ ] レビュー済み</a:t>
            </a:r>
          </a:p>
        </p:txBody>
      </p:sp>
      <p:sp>
        <p:nvSpPr>
          <p:cNvPr id="5" name="text_xc4i1c_4">
            <a:extLst xmlns:a="http://schemas.openxmlformats.org/drawingml/2006/main">
              <a:ext uri="{FF2B5EF4-FFF2-40B4-BE49-F238E27FC236}">
                <a16:creationId xmlns:a16="http://schemas.microsoft.com/office/drawing/2014/main" id="{C2C42314-7005-4E65-AD57-A3424A08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7F8C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087F8C"/>
                </a:solidFill>
                <a:latin typeface="Yu Gothic"/>
                <a:ea typeface="Yu Gothic"/>
                <a:cs typeface="Yu Gothic"/>
              </a:rPr>
              <a:t>なぜ性能が落ちるのかを調べ、収集方法へつなぐ</a:t>
            </a:r>
          </a:p>
        </p:txBody>
      </p:sp>
      <p:sp>
        <p:nvSpPr>
          <p:cNvPr id="6" name="diagram_5手法の比較">
            <a:extLst xmlns:a="http://schemas.openxmlformats.org/drawingml/2006/main">
              <a:ext uri="{FF2B5EF4-FFF2-40B4-BE49-F238E27FC236}">
                <a16:creationId xmlns:a16="http://schemas.microsoft.com/office/drawing/2014/main" id="{89274EEE-33B8-412D-AC6A-2477AFEC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438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8DE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5手法の比較</a:t>
            </a:r>
          </a:p>
        </p:txBody>
      </p:sp>
      <p:sp>
        <p:nvSpPr>
          <p:cNvPr id="7" name="diagram_学習日・校正日_の比較">
            <a:extLst xmlns:a="http://schemas.openxmlformats.org/drawingml/2006/main">
              <a:ext uri="{FF2B5EF4-FFF2-40B4-BE49-F238E27FC236}">
                <a16:creationId xmlns:a16="http://schemas.microsoft.com/office/drawing/2014/main" id="{6F0A9F56-4C0F-4C49-B5CB-894E57B9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57500"/>
            <a:ext cx="2438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8DE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学習日・校正日</a:t>
            </a:r>
          </a:p>
          <a:p xmlns:a="http://schemas.openxmlformats.org/drawingml/2006/main">
            <a:pPr algn="ctr">
              <a:defRPr sz="2025" b="0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の比較</a:t>
            </a:r>
          </a:p>
        </p:txBody>
      </p:sp>
      <p:sp>
        <p:nvSpPr>
          <p:cNvPr id="8" name="diagram_残差強調">
            <a:extLst xmlns:a="http://schemas.openxmlformats.org/drawingml/2006/main">
              <a:ext uri="{FF2B5EF4-FFF2-40B4-BE49-F238E27FC236}">
                <a16:creationId xmlns:a16="http://schemas.microsoft.com/office/drawing/2014/main" id="{E4BB6F25-487E-4EAD-BEEF-A4BA318E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2438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8DE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残差強調</a:t>
            </a:r>
          </a:p>
        </p:txBody>
      </p:sp>
      <p:sp>
        <p:nvSpPr>
          <p:cNvPr id="9" name="diagram_IQ・CNNの診断">
            <a:extLst xmlns:a="http://schemas.openxmlformats.org/drawingml/2006/main">
              <a:ext uri="{FF2B5EF4-FFF2-40B4-BE49-F238E27FC236}">
                <a16:creationId xmlns:a16="http://schemas.microsoft.com/office/drawing/2014/main" id="{419FB82B-4E46-4387-9D64-9F10BF9C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57500"/>
            <a:ext cx="2438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9050">
            <a:solidFill>
              <a:srgbClr val="087F8C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IQ・CNNの診断</a:t>
            </a:r>
          </a:p>
        </p:txBody>
      </p: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48000" y="33909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C78"/>
            </a:solidFill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886450" y="33909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C78"/>
            </a:solidFill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724900" y="33909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C78"/>
            </a:solidFill>
            <a:tailEnd type="triangle" w="sm" len="sm"/>
          </a:ln>
        </p:spPr>
      </p:cxnSp>
      <p:sp>
        <p:nvSpPr>
          <p:cNvPr id="13" name="text_xc4i1c_12">
            <a:extLst xmlns:a="http://schemas.openxmlformats.org/drawingml/2006/main">
              <a:ext uri="{FF2B5EF4-FFF2-40B4-BE49-F238E27FC236}">
                <a16:creationId xmlns:a16="http://schemas.microsoft.com/office/drawing/2014/main" id="{F49B02EB-B871-47E2-9E9D-C64B0ABE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10/06 実施</a:t>
            </a:r>
          </a:p>
        </p:txBody>
      </p:sp>
      <p:sp>
        <p:nvSpPr>
          <p:cNvPr id="14" name="text_xc4i1c_13">
            <a:extLst xmlns:a="http://schemas.openxmlformats.org/drawingml/2006/main">
              <a:ext uri="{FF2B5EF4-FFF2-40B4-BE49-F238E27FC236}">
                <a16:creationId xmlns:a16="http://schemas.microsoft.com/office/drawing/2014/main" id="{35EB19A5-32E9-42F7-956D-1F66D55F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8125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10/06 実施</a:t>
            </a:r>
          </a:p>
        </p:txBody>
      </p:sp>
      <p:sp>
        <p:nvSpPr>
          <p:cNvPr id="15" name="text_xc4i1c_14">
            <a:extLst xmlns:a="http://schemas.openxmlformats.org/drawingml/2006/main">
              <a:ext uri="{FF2B5EF4-FFF2-40B4-BE49-F238E27FC236}">
                <a16:creationId xmlns:a16="http://schemas.microsoft.com/office/drawing/2014/main" id="{0E13824D-F273-42CC-861F-1183FD48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10/07 実施</a:t>
            </a:r>
          </a:p>
        </p:txBody>
      </p:sp>
      <p:sp>
        <p:nvSpPr>
          <p:cNvPr id="16" name="text_xc4i1c_15">
            <a:extLst xmlns:a="http://schemas.openxmlformats.org/drawingml/2006/main">
              <a:ext uri="{FF2B5EF4-FFF2-40B4-BE49-F238E27FC236}">
                <a16:creationId xmlns:a16="http://schemas.microsoft.com/office/drawing/2014/main" id="{06F015F1-65DC-4B60-B213-27582EA5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8125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7F8C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087F8C"/>
                </a:solidFill>
                <a:latin typeface="Yu Gothic"/>
                <a:ea typeface="Yu Gothic"/>
                <a:cs typeface="Yu Gothic"/>
              </a:rPr>
              <a:t>次の計画</a:t>
            </a:r>
          </a:p>
        </p:txBody>
      </p:sp>
      <p:sp>
        <p:nvSpPr>
          <p:cNvPr id="17" name="text_xc4i1c_16">
            <a:extLst xmlns:a="http://schemas.openxmlformats.org/drawingml/2006/main">
              <a:ext uri="{FF2B5EF4-FFF2-40B4-BE49-F238E27FC236}">
                <a16:creationId xmlns:a16="http://schemas.microsoft.com/office/drawing/2014/main" id="{2055088D-075D-4A30-A84A-88845644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現状：日跨ぎで落ちる理由を、まだ説明しきれていない</a:t>
            </a:r>
          </a:p>
        </p:txBody>
      </p:sp>
      <p:sp>
        <p:nvSpPr>
          <p:cNvPr id="18" name="text_xc4i1c_17">
            <a:extLst xmlns:a="http://schemas.openxmlformats.org/drawingml/2006/main">
              <a:ext uri="{FF2B5EF4-FFF2-40B4-BE49-F238E27FC236}">
                <a16:creationId xmlns:a16="http://schemas.microsoft.com/office/drawing/2014/main" id="{60669EA8-3878-499C-8AF7-F31D8434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利用できる環境　Rx 3台　Tx 100台以上　電波遮蔽箱</a:t>
            </a:r>
          </a:p>
        </p:txBody>
      </p:sp>
      <p:sp>
        <p:nvSpPr>
          <p:cNvPr id="19" name="text_xc4i1c_18">
            <a:extLst xmlns:a="http://schemas.openxmlformats.org/drawingml/2006/main">
              <a:ext uri="{FF2B5EF4-FFF2-40B4-BE49-F238E27FC236}">
                <a16:creationId xmlns:a16="http://schemas.microsoft.com/office/drawing/2014/main" id="{2A8F19AF-CDCE-4DE2-97DF-CAD15CD1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WiSigの既存データで仮説検証中。ORACLEの予備実験は補足へ置く。</a:t>
            </a:r>
          </a:p>
        </p:txBody>
      </p:sp>
    </p:spTree>
    <p:extLst>
      <p:ext uri="{BB962C8B-B14F-4D97-AF65-F5344CB8AC3E}">
        <p14:creationId xmlns:p14="http://schemas.microsoft.com/office/powerpoint/2010/main" val="15859915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line_2">
            <a:extLst xmlns:a="http://schemas.openxmlformats.org/drawingml/2006/main">
              <a:ext uri="{FF2B5EF4-FFF2-40B4-BE49-F238E27FC236}">
                <a16:creationId xmlns:a16="http://schemas.microsoft.com/office/drawing/2014/main" id="{32987F32-B531-4F3B-B2C1-7E93D7FC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既知分類と未知判定の両方に問題が残る</a:t>
            </a:r>
          </a:p>
        </p:txBody>
      </p:sp>
      <p:sp>
        <p:nvSpPr>
          <p:cNvPr id="2" name="text_k0b7lu_1">
            <a:extLst xmlns:a="http://schemas.openxmlformats.org/drawingml/2006/main">
              <a:ext uri="{FF2B5EF4-FFF2-40B4-BE49-F238E27FC236}">
                <a16:creationId xmlns:a16="http://schemas.microsoft.com/office/drawing/2014/main" id="{8DCDAE94-96E6-42F7-8826-0A930793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text_k0b7lu_2">
            <a:extLst xmlns:a="http://schemas.openxmlformats.org/drawingml/2006/main">
              <a:ext uri="{FF2B5EF4-FFF2-40B4-BE49-F238E27FC236}">
                <a16:creationId xmlns:a16="http://schemas.microsoft.com/office/drawing/2014/main" id="{07EC65AF-255A-43C6-9A60-364071C5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4" name="text_k0b7lu_3">
            <a:extLst xmlns:a="http://schemas.openxmlformats.org/drawingml/2006/main">
              <a:ext uri="{FF2B5EF4-FFF2-40B4-BE49-F238E27FC236}">
                <a16:creationId xmlns:a16="http://schemas.microsoft.com/office/drawing/2014/main" id="{154A0685-1D5E-44DB-84F6-690C8E81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既知の判定内訳</a:t>
            </a:r>
          </a:p>
        </p:txBody>
      </p:sp>
      <p:sp>
        <p:nvSpPr>
          <p:cNvPr id="5" name="text_k0b7lu_4">
            <a:extLst xmlns:a="http://schemas.openxmlformats.org/drawingml/2006/main">
              <a:ext uri="{FF2B5EF4-FFF2-40B4-BE49-F238E27FC236}">
                <a16:creationId xmlns:a16="http://schemas.microsoft.com/office/drawing/2014/main" id="{D252D452-9432-4CA6-BA69-0F37FE73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3525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未知の誤受入率（FAR）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636270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45a2d565a848fc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7334250" y="1790700"/>
          <a:ext xmlns:a="http://schemas.openxmlformats.org/drawingml/2006/main" cx="4238625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597c3bd7ee4d77"/>
          </a:graphicData>
        </a:graphic>
      </p:graphicFrame>
      <p:sp>
        <p:nvSpPr>
          <p:cNvPr id="8" name="text_k0b7lu_5">
            <a:extLst xmlns:a="http://schemas.openxmlformats.org/drawingml/2006/main">
              <a:ext uri="{FF2B5EF4-FFF2-40B4-BE49-F238E27FC236}">
                <a16:creationId xmlns:a16="http://schemas.microsoft.com/office/drawing/2014/main" id="{18B7A920-E812-4B73-95C4-B9B92AF6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03/23　拒否前の既知分類 87.5%　正解受入 51.7%</a:t>
            </a:r>
          </a:p>
        </p:txBody>
      </p:sp>
      <p:sp>
        <p:nvSpPr>
          <p:cNvPr id="9" name="text_k0b7lu_6">
            <a:extLst xmlns:a="http://schemas.openxmlformats.org/drawingml/2006/main">
              <a:ext uri="{FF2B5EF4-FFF2-40B4-BE49-F238E27FC236}">
                <a16:creationId xmlns:a16="http://schemas.microsoft.com/office/drawing/2014/main" id="{B4A0C68E-2D4E-44EB-8A58-202F24F6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同日でも未知FAR 47.7%。未知判定の弱さは日跨ぎ前からある。</a:t>
            </a:r>
          </a:p>
        </p:txBody>
      </p:sp>
      <p:sp>
        <p:nvSpPr>
          <p:cNvPr id="10" name="text_k0b7lu_7">
            <a:extLst xmlns:a="http://schemas.openxmlformats.org/drawingml/2006/main">
              <a:ext uri="{FF2B5EF4-FFF2-40B4-BE49-F238E27FC236}">
                <a16:creationId xmlns:a16="http://schemas.microsoft.com/office/drawing/2014/main" id="{5C3D99D0-EBB7-4ADD-8400-CB12EE79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OpenMax。既知3,840・未知1,280信号／日。WiSig ManyRx、16 Rx、既知6 Tx、equalized。</a:t>
            </a:r>
          </a:p>
        </p:txBody>
      </p:sp>
    </p:spTree>
    <p:extLst>
      <p:ext uri="{BB962C8B-B14F-4D97-AF65-F5344CB8AC3E}">
        <p14:creationId xmlns:p14="http://schemas.microsoft.com/office/powerpoint/2010/main" val="8216655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line_3">
            <a:extLst xmlns:a="http://schemas.openxmlformats.org/drawingml/2006/main">
              <a:ext uri="{FF2B5EF4-FFF2-40B4-BE49-F238E27FC236}">
                <a16:creationId xmlns:a16="http://schemas.microsoft.com/office/drawing/2014/main" id="{B90AEF6F-E932-4D50-815B-0B0B270C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原因仮説と、まだ分からないこと</a:t>
            </a:r>
          </a:p>
        </p:txBody>
      </p:sp>
      <p:sp>
        <p:nvSpPr>
          <p:cNvPr id="2" name="text_whkgpj_1">
            <a:extLst xmlns:a="http://schemas.openxmlformats.org/drawingml/2006/main">
              <a:ext uri="{FF2B5EF4-FFF2-40B4-BE49-F238E27FC236}">
                <a16:creationId xmlns:a16="http://schemas.microsoft.com/office/drawing/2014/main" id="{C6C6BD12-4642-4076-A3A8-014CD6EE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text_whkgpj_2">
            <a:extLst xmlns:a="http://schemas.openxmlformats.org/drawingml/2006/main">
              <a:ext uri="{FF2B5EF4-FFF2-40B4-BE49-F238E27FC236}">
                <a16:creationId xmlns:a16="http://schemas.microsoft.com/office/drawing/2014/main" id="{EB46A115-7FCE-4539-9D9A-F52E73BA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4" name="text_whkgpj_3">
            <a:extLst xmlns:a="http://schemas.openxmlformats.org/drawingml/2006/main">
              <a:ext uri="{FF2B5EF4-FFF2-40B4-BE49-F238E27FC236}">
                <a16:creationId xmlns:a16="http://schemas.microsoft.com/office/drawing/2014/main" id="{7829F1F7-96A3-44F4-B928-6B256509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F8C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087F8C"/>
                </a:solidFill>
                <a:latin typeface="Yu Gothic"/>
                <a:ea typeface="Yu Gothic"/>
                <a:cs typeface="Yu Gothic"/>
              </a:rPr>
              <a:t>既存結果に整合する仮説はあるが、どれも確定していない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43250"/>
                <a:gridCol w="3238500"/>
                <a:gridCol w="459105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原因仮説</a:t>
                      </a:r>
                    </a:p>
                  </a:txBody>
                  <a:tcPr marL="171450" marR="133350" marT="152400" marB="114300">
                    <a:solidFill>
                      <a:srgbClr val="172C3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正しければ</a:t>
                      </a:r>
                    </a:p>
                  </a:txBody>
                  <a:tcPr marL="171450" marR="133350" marT="152400" marB="114300">
                    <a:solidFill>
                      <a:srgbClr val="172C3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今回の結果・残る問い</a:t>
                      </a:r>
                    </a:p>
                  </a:txBody>
                  <a:tcPr marL="171450" marR="133350" marT="152400" marB="114300">
                    <a:solidFill>
                      <a:srgbClr val="172C3E"/>
                    </a:solidFill>
                  </a:tcPr>
                </a:tc>
              </a:tr>
              <a:tr h="885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C3E"/>
                          </a:solidFill>
                          <a:latin typeface="Yu Gothic"/>
                          <a:ea typeface="Yu Gothic"/>
                          <a:cs typeface="Yu Gothic"/>
                        </a:rPr>
                        <a:t>収録日・セッションの</a:t>
                      </a:r>
                    </a:p>
                    <a:p>
                      <a:r>
                        <a:rPr sz="1875" b="0">
                          <a:solidFill>
                            <a:srgbClr val="172C3E"/>
                          </a:solidFill>
                          <a:latin typeface="Yu Gothic"/>
                          <a:ea typeface="Yu Gothic"/>
                          <a:cs typeface="Yu Gothic"/>
                        </a:rPr>
                        <a:t>被覆が足りない</a:t>
                      </a:r>
                    </a:p>
                  </a:txBody>
                  <a:tcPr marL="171450" marR="133350" marT="1524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C3E"/>
                          </a:solidFill>
                          <a:latin typeface="Yu Gothic"/>
                          <a:ea typeface="Yu Gothic"/>
                          <a:cs typeface="Yu Gothic"/>
                        </a:rPr>
                        <a:t>総数固定でも</a:t>
                      </a:r>
                    </a:p>
                    <a:p>
                      <a:r>
                        <a:rPr sz="1875" b="0">
                          <a:solidFill>
                            <a:srgbClr val="172C3E"/>
                          </a:solidFill>
                          <a:latin typeface="Yu Gothic"/>
                          <a:ea typeface="Yu Gothic"/>
                          <a:cs typeface="Yu Gothic"/>
                        </a:rPr>
                        <a:t>複数日学習で改善</a:t>
                      </a:r>
                    </a:p>
                  </a:txBody>
                  <a:tcPr marL="171450" marR="133350" marT="1524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C3E"/>
                          </a:solidFill>
                          <a:latin typeface="Yu Gothic"/>
                          <a:ea typeface="Yu Gothic"/>
                          <a:cs typeface="Yu Gothic"/>
                        </a:rPr>
                        <a:t>2日は改善、3日は低下</a:t>
                      </a:r>
                    </a:p>
                    <a:p>
                      <a:r>
                        <a:rPr sz="1875" b="0">
                          <a:solidFill>
                            <a:srgbClr val="172C3E"/>
                          </a:solidFill>
                          <a:latin typeface="Yu Gothic"/>
                          <a:ea typeface="Yu Gothic"/>
                          <a:cs typeface="Yu Gothic"/>
                        </a:rPr>
                        <a:t>日付・配分・校正が混在</a:t>
                      </a:r>
                    </a:p>
                  </a:txBody>
                  <a:tcPr marL="171450" marR="133350" marT="152400" marB="114300"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C3E"/>
                          </a:solidFill>
                          <a:latin typeface="Yu Gothic"/>
                          <a:ea typeface="Yu Gothic"/>
                          <a:cs typeface="Yu Gothic"/>
                        </a:rPr>
                        <a:t>既知の特徴と</a:t>
                      </a:r>
                    </a:p>
                    <a:p>
                      <a:r>
                        <a:rPr sz="1875" b="0">
                          <a:solidFill>
                            <a:srgbClr val="172C3E"/>
                          </a:solidFill>
                          <a:latin typeface="Yu Gothic"/>
                          <a:ea typeface="Yu Gothic"/>
                          <a:cs typeface="Yu Gothic"/>
                        </a:rPr>
                        <a:t>未知判定の校正がずれる</a:t>
                      </a:r>
                    </a:p>
                  </a:txBody>
                  <a:tcPr marL="171450" marR="133350" marT="1524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C3E"/>
                          </a:solidFill>
                          <a:latin typeface="Yu Gothic"/>
                          <a:ea typeface="Yu Gothic"/>
                          <a:cs typeface="Yu Gothic"/>
                        </a:rPr>
                        <a:t>CNN固定でも</a:t>
                      </a:r>
                    </a:p>
                    <a:p>
                      <a:r>
                        <a:rPr sz="1875" b="0">
                          <a:solidFill>
                            <a:srgbClr val="172C3E"/>
                          </a:solidFill>
                          <a:latin typeface="Yu Gothic"/>
                          <a:ea typeface="Yu Gothic"/>
                          <a:cs typeface="Yu Gothic"/>
                        </a:rPr>
                        <a:t>校正変更で結果が動く</a:t>
                      </a:r>
                    </a:p>
                  </a:txBody>
                  <a:tcPr marL="171450" marR="133350" marT="1524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C3E"/>
                          </a:solidFill>
                          <a:latin typeface="Yu Gothic"/>
                          <a:ea typeface="Yu Gothic"/>
                          <a:cs typeface="Yu Gothic"/>
                        </a:rPr>
                        <a:t>OSCRは改善、FARも上昇</a:t>
                      </a:r>
                    </a:p>
                    <a:p>
                      <a:r>
                        <a:rPr sz="1875" b="0">
                          <a:solidFill>
                            <a:srgbClr val="172C3E"/>
                          </a:solidFill>
                          <a:latin typeface="Yu Gothic"/>
                          <a:ea typeface="Yu Gothic"/>
                          <a:cs typeface="Yu Gothic"/>
                        </a:rPr>
                        <a:t>何がずれたかは未確認</a:t>
                      </a:r>
                    </a:p>
                  </a:txBody>
                  <a:tcPr marL="171450" marR="133350" marT="152400" marB="114300"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C3E"/>
                          </a:solidFill>
                          <a:latin typeface="Yu Gothic"/>
                          <a:ea typeface="Yu Gothic"/>
                          <a:cs typeface="Yu Gothic"/>
                        </a:rPr>
                        <a:t>伝搬と機器状態の</a:t>
                      </a:r>
                    </a:p>
                    <a:p>
                      <a:r>
                        <a:rPr sz="1875" b="0">
                          <a:solidFill>
                            <a:srgbClr val="172C3E"/>
                          </a:solidFill>
                          <a:latin typeface="Yu Gothic"/>
                          <a:ea typeface="Yu Gothic"/>
                          <a:cs typeface="Yu Gothic"/>
                        </a:rPr>
                        <a:t>変化が混在する</a:t>
                      </a:r>
                    </a:p>
                  </a:txBody>
                  <a:tcPr marL="171450" marR="133350" marT="1524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C3E"/>
                          </a:solidFill>
                          <a:latin typeface="Yu Gothic"/>
                          <a:ea typeface="Yu Gothic"/>
                          <a:cs typeface="Yu Gothic"/>
                        </a:rPr>
                        <a:t>環境固定でも</a:t>
                      </a:r>
                    </a:p>
                    <a:p>
                      <a:r>
                        <a:rPr sz="1875" b="0">
                          <a:solidFill>
                            <a:srgbClr val="172C3E"/>
                          </a:solidFill>
                          <a:latin typeface="Yu Gothic"/>
                          <a:ea typeface="Yu Gothic"/>
                          <a:cs typeface="Yu Gothic"/>
                        </a:rPr>
                        <a:t>電源再投入で変化</a:t>
                      </a:r>
                    </a:p>
                  </a:txBody>
                  <a:tcPr marL="171450" marR="133350" marT="1524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C3E"/>
                          </a:solidFill>
                          <a:latin typeface="Yu Gothic"/>
                          <a:ea typeface="Yu Gothic"/>
                          <a:cs typeface="Yu Gothic"/>
                        </a:rPr>
                        <a:t>WiSigでは切り分け困難</a:t>
                      </a:r>
                    </a:p>
                    <a:p>
                      <a:r>
                        <a:rPr sz="1875" b="0">
                          <a:solidFill>
                            <a:srgbClr val="172C3E"/>
                          </a:solidFill>
                          <a:latin typeface="Yu Gothic"/>
                          <a:ea typeface="Yu Gothic"/>
                          <a:cs typeface="Yu Gothic"/>
                        </a:rPr>
                        <a:t>実機の対照収録が必要</a:t>
                      </a:r>
                    </a:p>
                  </a:txBody>
                  <a:tcPr marL="171450" marR="133350" marT="1524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_whkgpj_4">
            <a:extLst xmlns:a="http://schemas.openxmlformats.org/drawingml/2006/main">
              <a:ext uri="{FF2B5EF4-FFF2-40B4-BE49-F238E27FC236}">
                <a16:creationId xmlns:a16="http://schemas.microsoft.com/office/drawing/2014/main" id="{598201FC-9EEF-4B8B-ADC7-F307AF79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次の焦点：同じTxの条件差と、異なるTxの差を比べる</a:t>
            </a:r>
          </a:p>
        </p:txBody>
      </p:sp>
      <p:sp>
        <p:nvSpPr>
          <p:cNvPr id="7" name="text_whkgpj_5">
            <a:extLst xmlns:a="http://schemas.openxmlformats.org/drawingml/2006/main">
              <a:ext uri="{FF2B5EF4-FFF2-40B4-BE49-F238E27FC236}">
                <a16:creationId xmlns:a16="http://schemas.microsoft.com/office/drawing/2014/main" id="{2E7B4977-64EB-4204-91A6-3EE9C270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仮説1・2は今回の探索結果からの解釈。機器状態の影響には先行研究がある。</a:t>
            </a:r>
          </a:p>
        </p:txBody>
      </p:sp>
    </p:spTree>
    <p:extLst>
      <p:ext uri="{BB962C8B-B14F-4D97-AF65-F5344CB8AC3E}">
        <p14:creationId xmlns:p14="http://schemas.microsoft.com/office/powerpoint/2010/main" val="11768891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headline_4">
            <a:extLst xmlns:a="http://schemas.openxmlformats.org/drawingml/2006/main">
              <a:ext uri="{FF2B5EF4-FFF2-40B4-BE49-F238E27FC236}">
                <a16:creationId xmlns:a16="http://schemas.microsoft.com/office/drawing/2014/main" id="{C19D24E7-3053-49CF-95F5-CF74E31C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学習・校正を変えると結果は動く</a:t>
            </a:r>
          </a:p>
        </p:txBody>
      </p:sp>
      <p:sp>
        <p:nvSpPr>
          <p:cNvPr id="2" name="text_rtj4w0_1">
            <a:extLst xmlns:a="http://schemas.openxmlformats.org/drawingml/2006/main">
              <a:ext uri="{FF2B5EF4-FFF2-40B4-BE49-F238E27FC236}">
                <a16:creationId xmlns:a16="http://schemas.microsoft.com/office/drawing/2014/main" id="{BB5F3321-B2C9-48DE-AFD6-598455BD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text_rtj4w0_2">
            <a:extLst xmlns:a="http://schemas.openxmlformats.org/drawingml/2006/main">
              <a:ext uri="{FF2B5EF4-FFF2-40B4-BE49-F238E27FC236}">
                <a16:creationId xmlns:a16="http://schemas.microsoft.com/office/drawing/2014/main" id="{47EEBDE6-214B-4EEF-B84F-A4E3B001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4" name="text_rtj4w0_3">
            <a:extLst xmlns:a="http://schemas.openxmlformats.org/drawingml/2006/main">
              <a:ext uri="{FF2B5EF4-FFF2-40B4-BE49-F238E27FC236}">
                <a16:creationId xmlns:a16="http://schemas.microsoft.com/office/drawing/2014/main" id="{D4E8CC9F-FF15-4F60-9E7E-47E4CE34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学習日を増やす</a:t>
            </a:r>
          </a:p>
        </p:txBody>
      </p:sp>
      <p:sp>
        <p:nvSpPr>
          <p:cNvPr id="5" name="text_rtj4w0_4">
            <a:extLst xmlns:a="http://schemas.openxmlformats.org/drawingml/2006/main">
              <a:ext uri="{FF2B5EF4-FFF2-40B4-BE49-F238E27FC236}">
                <a16:creationId xmlns:a16="http://schemas.microsoft.com/office/drawing/2014/main" id="{628BBB24-8724-47BE-B6E7-D09078C4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CNN固定で校正日を変える</a:t>
            </a:r>
          </a:p>
        </p:txBody>
      </p:sp>
      <p:sp>
        <p:nvSpPr>
          <p:cNvPr id="6" name="text_rtj4w0_5">
            <a:extLst xmlns:a="http://schemas.openxmlformats.org/drawingml/2006/main">
              <a:ext uri="{FF2B5EF4-FFF2-40B4-BE49-F238E27FC236}">
                <a16:creationId xmlns:a16="http://schemas.microsoft.com/office/drawing/2014/main" id="{AFBCF44A-6FD8-4EA5-B443-D4877F83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09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CNNとOpenMaxを更新</a:t>
            </a:r>
          </a:p>
        </p:txBody>
      </p:sp>
      <p:sp>
        <p:nvSpPr>
          <p:cNvPr id="7" name="text_rtj4w0_6">
            <a:extLst xmlns:a="http://schemas.openxmlformats.org/drawingml/2006/main">
              <a:ext uri="{FF2B5EF4-FFF2-40B4-BE49-F238E27FC236}">
                <a16:creationId xmlns:a16="http://schemas.microsoft.com/office/drawing/2014/main" id="{05176317-7F86-4533-8C10-E4B09282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509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fit総数100信号／クラス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09600" y="2219325"/>
          <a:ext xmlns:a="http://schemas.openxmlformats.org/drawingml/2006/main" cx="5095875" cy="2695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eb0b5c6f954426"/>
          </a:graphicData>
        </a:graphic>
      </p:graphicFrame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477000" y="2219325"/>
          <a:ext xmlns:a="http://schemas.openxmlformats.org/drawingml/2006/main" cx="5095875" cy="2695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b5ee58b3c84ef5"/>
          </a:graphicData>
        </a:graphic>
      </p:graphicFrame>
      <p:sp>
        <p:nvSpPr>
          <p:cNvPr id="10" name="text_rtj4w0_7">
            <a:extLst xmlns:a="http://schemas.openxmlformats.org/drawingml/2006/main">
              <a:ext uri="{FF2B5EF4-FFF2-40B4-BE49-F238E27FC236}">
                <a16:creationId xmlns:a16="http://schemas.microsoft.com/office/drawing/2014/main" id="{97C2E0B5-D5F9-4BBD-BAF6-11366772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未知FAR　52.1% ／ 40.6% ／ 59.4%</a:t>
            </a:r>
          </a:p>
        </p:txBody>
      </p:sp>
      <p:sp>
        <p:nvSpPr>
          <p:cNvPr id="11" name="text_rtj4w0_8">
            <a:extLst xmlns:a="http://schemas.openxmlformats.org/drawingml/2006/main">
              <a:ext uri="{FF2B5EF4-FFF2-40B4-BE49-F238E27FC236}">
                <a16:creationId xmlns:a16="http://schemas.microsoft.com/office/drawing/2014/main" id="{E55C9F63-3FC9-4654-B751-15824A4E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387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未知FAR　43.6% ／ 50.9%</a:t>
            </a:r>
          </a:p>
        </p:txBody>
      </p:sp>
      <p:sp>
        <p:nvSpPr>
          <p:cNvPr id="12" name="text_rtj4w0_9">
            <a:extLst xmlns:a="http://schemas.openxmlformats.org/drawingml/2006/main">
              <a:ext uri="{FF2B5EF4-FFF2-40B4-BE49-F238E27FC236}">
                <a16:creationId xmlns:a16="http://schemas.microsoft.com/office/drawing/2014/main" id="{A37EAF43-CA64-41FE-8ADC-38BE5FBF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2日では改善、3日では低下。校正変更では未知FARも上昇。</a:t>
            </a:r>
          </a:p>
        </p:txBody>
      </p:sp>
      <p:sp>
        <p:nvSpPr>
          <p:cNvPr id="13" name="text_rtj4w0_10">
            <a:extLst xmlns:a="http://schemas.openxmlformats.org/drawingml/2006/main">
              <a:ext uri="{FF2B5EF4-FFF2-40B4-BE49-F238E27FC236}">
                <a16:creationId xmlns:a16="http://schemas.microsoft.com/office/drawing/2014/main" id="{4B2BE447-2F1F-43FF-AAC4-C2EF74F9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縦軸：03/23のOSCR（0〜1）。左右はfit数が異なる別の比較。左の学習総数は11,520で固定。</a:t>
            </a:r>
          </a:p>
        </p:txBody>
      </p:sp>
    </p:spTree>
    <p:extLst>
      <p:ext uri="{BB962C8B-B14F-4D97-AF65-F5344CB8AC3E}">
        <p14:creationId xmlns:p14="http://schemas.microsoft.com/office/powerpoint/2010/main" val="17929669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headline_5">
            <a:extLst xmlns:a="http://schemas.openxmlformats.org/drawingml/2006/main">
              <a:ext uri="{FF2B5EF4-FFF2-40B4-BE49-F238E27FC236}">
                <a16:creationId xmlns:a16="http://schemas.microsoft.com/office/drawing/2014/main" id="{06478EFA-60F2-4BB2-8CBE-FCCA0988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収集では、条件と波形の対応を残す</a:t>
            </a:r>
          </a:p>
        </p:txBody>
      </p:sp>
      <p:sp>
        <p:nvSpPr>
          <p:cNvPr id="2" name="text_8cqbbv_1">
            <a:extLst xmlns:a="http://schemas.openxmlformats.org/drawingml/2006/main">
              <a:ext uri="{FF2B5EF4-FFF2-40B4-BE49-F238E27FC236}">
                <a16:creationId xmlns:a16="http://schemas.microsoft.com/office/drawing/2014/main" id="{3F5FC7AD-F25E-4E23-BA04-2531B25F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text_8cqbbv_2">
            <a:extLst xmlns:a="http://schemas.openxmlformats.org/drawingml/2006/main">
              <a:ext uri="{FF2B5EF4-FFF2-40B4-BE49-F238E27FC236}">
                <a16:creationId xmlns:a16="http://schemas.microsoft.com/office/drawing/2014/main" id="{17858761-9F34-49BE-A198-5AF21D72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4" name="text_8cqbbv_3">
            <a:extLst xmlns:a="http://schemas.openxmlformats.org/drawingml/2006/main">
              <a:ext uri="{FF2B5EF4-FFF2-40B4-BE49-F238E27FC236}">
                <a16:creationId xmlns:a16="http://schemas.microsoft.com/office/drawing/2014/main" id="{8A7CCE50-0BBF-4BCD-B4B9-8E10D601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同じ送信を複数Rxで観測する案</a:t>
            </a:r>
          </a:p>
        </p:txBody>
      </p:sp>
      <p:sp>
        <p:nvSpPr>
          <p:cNvPr id="5" name="diagram_同じ送信_送信ID">
            <a:extLst xmlns:a="http://schemas.openxmlformats.org/drawingml/2006/main">
              <a:ext uri="{FF2B5EF4-FFF2-40B4-BE49-F238E27FC236}">
                <a16:creationId xmlns:a16="http://schemas.microsoft.com/office/drawing/2014/main" id="{21EC0081-21A5-4399-92E0-0B2545B6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17621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9050">
            <a:solidFill>
              <a:srgbClr val="087F8C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同じ送信</a:t>
            </a:r>
          </a:p>
          <a:p xmlns:a="http://schemas.openxmlformats.org/drawingml/2006/main">
            <a:pPr algn="ctr">
              <a:defRPr sz="2025" b="1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送信ID</a:t>
            </a:r>
          </a:p>
        </p:txBody>
      </p:sp>
      <p:sp>
        <p:nvSpPr>
          <p:cNvPr id="6" name="diagram_Rx 1_観測ID 1">
            <a:extLst xmlns:a="http://schemas.openxmlformats.org/drawingml/2006/main">
              <a:ext uri="{FF2B5EF4-FFF2-40B4-BE49-F238E27FC236}">
                <a16:creationId xmlns:a16="http://schemas.microsoft.com/office/drawing/2014/main" id="{76D1CCCC-9C71-4275-AAB5-84D4387A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9550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8DE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Rx 1</a:t>
            </a:r>
          </a:p>
          <a:p xmlns:a="http://schemas.openxmlformats.org/drawingml/2006/main">
            <a:pPr algn="ctr">
              <a:defRPr sz="2025" b="0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観測ID 1</a:t>
            </a:r>
          </a:p>
        </p:txBody>
      </p:sp>
      <p:sp>
        <p:nvSpPr>
          <p:cNvPr id="7" name="diagram_Rx 2_観測ID 2">
            <a:extLst xmlns:a="http://schemas.openxmlformats.org/drawingml/2006/main">
              <a:ext uri="{FF2B5EF4-FFF2-40B4-BE49-F238E27FC236}">
                <a16:creationId xmlns:a16="http://schemas.microsoft.com/office/drawing/2014/main" id="{D2745E86-4950-47C6-86C4-5DF7D13F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05175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8DE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Rx 2</a:t>
            </a:r>
          </a:p>
          <a:p xmlns:a="http://schemas.openxmlformats.org/drawingml/2006/main">
            <a:pPr algn="ctr">
              <a:defRPr sz="2025" b="0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観測ID 2</a:t>
            </a:r>
          </a:p>
        </p:txBody>
      </p:sp>
      <p:sp>
        <p:nvSpPr>
          <p:cNvPr id="8" name="diagram_Rx 3_観測ID 3">
            <a:extLst xmlns:a="http://schemas.openxmlformats.org/drawingml/2006/main">
              <a:ext uri="{FF2B5EF4-FFF2-40B4-BE49-F238E27FC236}">
                <a16:creationId xmlns:a16="http://schemas.microsoft.com/office/drawing/2014/main" id="{103FD4AD-6A76-4B7D-95D8-0919EC71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51485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8DE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Rx 3</a:t>
            </a:r>
          </a:p>
          <a:p xmlns:a="http://schemas.openxmlformats.org/drawingml/2006/main">
            <a:pPr algn="ctr">
              <a:defRPr sz="2025" b="0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観測ID 3</a:t>
            </a:r>
          </a:p>
        </p:txBody>
      </p: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371725" y="2514600"/>
            <a:ext cx="1114425" cy="1066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C6C78"/>
            </a:solidFill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71725" y="3581400"/>
            <a:ext cx="111442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C6C78"/>
            </a:solidFill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71725" y="3581400"/>
            <a:ext cx="1114425" cy="1352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C6C78"/>
            </a:solidFill>
            <a:tailEnd type="triangle" w="sm" len="sm"/>
          </a:ln>
        </p:spPr>
      </p:cxnSp>
      <p:graphicFrame>
        <p:nvGraphicFramePr>
          <p:cNvPr id="26" name=""/>
          <p:cNvGraphicFramePr/>
          <p:nvPr/>
        </p:nvGraphicFramePr>
        <p:xfrm>
          <a:off xmlns:a="http://schemas.openxmlformats.org/drawingml/2006/main" x="6048375" y="1971675"/>
          <a:ext xmlns:a="http://schemas.openxmlformats.org/drawingml/2006/main" cx="5534025" cy="33432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43200"/>
                <a:gridCol w="2790825"/>
              </a:tblGrid>
              <a:tr h="561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保存するもの</a:t>
                      </a:r>
                    </a:p>
                  </a:txBody>
                  <a:tcPr marL="171450" marR="133350" marT="152400" marB="114300">
                    <a:solidFill>
                      <a:srgbClr val="172C3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目的</a:t>
                      </a:r>
                    </a:p>
                  </a:txBody>
                  <a:tcPr marL="171450" marR="133350" marT="152400" marB="114300">
                    <a:solidFill>
                      <a:srgbClr val="172C3E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3E"/>
                          </a:solidFill>
                          <a:latin typeface="Yu Gothic"/>
                          <a:ea typeface="Yu Gothic"/>
                          <a:cs typeface="Yu Gothic"/>
                        </a:rPr>
                        <a:t>補正前IQ・補正後IQ</a:t>
                      </a:r>
                    </a:p>
                  </a:txBody>
                  <a:tcPr marL="171450" marR="133350" marT="1524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3E"/>
                          </a:solidFill>
                          <a:latin typeface="Yu Gothic"/>
                          <a:ea typeface="Yu Gothic"/>
                          <a:cs typeface="Yu Gothic"/>
                        </a:rPr>
                        <a:t>前処理を比較する</a:t>
                      </a:r>
                    </a:p>
                  </a:txBody>
                  <a:tcPr marL="171450" marR="133350" marT="152400" marB="11430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3E"/>
                          </a:solidFill>
                          <a:latin typeface="Yu Gothic"/>
                          <a:ea typeface="Yu Gothic"/>
                          <a:cs typeface="Yu Gothic"/>
                        </a:rPr>
                        <a:t>Tx・Rx・送信ID</a:t>
                      </a:r>
                    </a:p>
                  </a:txBody>
                  <a:tcPr marL="171450" marR="133350" marT="1524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3E"/>
                          </a:solidFill>
                          <a:latin typeface="Yu Gothic"/>
                          <a:ea typeface="Yu Gothic"/>
                          <a:cs typeface="Yu Gothic"/>
                        </a:rPr>
                        <a:t>同じ送信を対応付ける</a:t>
                      </a:r>
                    </a:p>
                  </a:txBody>
                  <a:tcPr marL="171450" marR="133350" marT="152400" marB="11430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3E"/>
                          </a:solidFill>
                          <a:latin typeface="Yu Gothic"/>
                          <a:ea typeface="Yu Gothic"/>
                          <a:cs typeface="Yu Gothic"/>
                        </a:rPr>
                        <a:t>日・session・機器状態</a:t>
                      </a:r>
                    </a:p>
                  </a:txBody>
                  <a:tcPr marL="171450" marR="133350" marT="1524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3E"/>
                          </a:solidFill>
                          <a:latin typeface="Yu Gothic"/>
                          <a:ea typeface="Yu Gothic"/>
                          <a:cs typeface="Yu Gothic"/>
                        </a:rPr>
                        <a:t>条件差を追跡する</a:t>
                      </a:r>
                    </a:p>
                  </a:txBody>
                  <a:tcPr marL="171450" marR="133350" marT="152400" marB="11430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3E"/>
                          </a:solidFill>
                          <a:latin typeface="Yu Gothic"/>
                          <a:ea typeface="Yu Gothic"/>
                          <a:cs typeface="Yu Gothic"/>
                        </a:rPr>
                        <a:t>周波数・gain・配置</a:t>
                      </a:r>
                    </a:p>
                  </a:txBody>
                  <a:tcPr marL="171450" marR="133350" marT="1524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3E"/>
                          </a:solidFill>
                          <a:latin typeface="Yu Gothic"/>
                          <a:ea typeface="Yu Gothic"/>
                          <a:cs typeface="Yu Gothic"/>
                        </a:rPr>
                        <a:t>取得条件を再現する</a:t>
                      </a:r>
                    </a:p>
                  </a:txBody>
                  <a:tcPr marL="171450" marR="133350" marT="1524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_8cqbbv_11">
            <a:extLst xmlns:a="http://schemas.openxmlformats.org/drawingml/2006/main">
              <a:ext uri="{FF2B5EF4-FFF2-40B4-BE49-F238E27FC236}">
                <a16:creationId xmlns:a16="http://schemas.microsoft.com/office/drawing/2014/main" id="{9467607A-EAD2-4121-A6DD-92E47B3B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SMoRFFIのIQ・特徴抽出を基盤に、日・Rx・状態の対応を加える</a:t>
            </a:r>
          </a:p>
        </p:txBody>
      </p:sp>
      <p:sp>
        <p:nvSpPr>
          <p:cNvPr id="14" name="text_8cqbbv_12">
            <a:extLst xmlns:a="http://schemas.openxmlformats.org/drawingml/2006/main">
              <a:ext uri="{FF2B5EF4-FFF2-40B4-BE49-F238E27FC236}">
                <a16:creationId xmlns:a16="http://schemas.microsoft.com/office/drawing/2014/main" id="{49D15E6D-7E1F-486F-8012-384ECF3C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未実施の収集案。遮蔽箱内・固定配置を基準候補とする。パケット対応付けと位相同期は別。</a:t>
            </a:r>
          </a:p>
        </p:txBody>
      </p:sp>
    </p:spTree>
    <p:extLst>
      <p:ext uri="{BB962C8B-B14F-4D97-AF65-F5344CB8AC3E}">
        <p14:creationId xmlns:p14="http://schemas.microsoft.com/office/powerpoint/2010/main" val="10615196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headline_6">
            <a:extLst xmlns:a="http://schemas.openxmlformats.org/drawingml/2006/main">
              <a:ext uri="{FF2B5EF4-FFF2-40B4-BE49-F238E27FC236}">
                <a16:creationId xmlns:a16="http://schemas.microsoft.com/office/drawing/2014/main" id="{5BBB923F-0850-463B-B7DD-8706272A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次はIQ・CNNの診断と、一台の条件比較</a:t>
            </a:r>
          </a:p>
        </p:txBody>
      </p:sp>
      <p:sp>
        <p:nvSpPr>
          <p:cNvPr id="2" name="text_wfab95_1">
            <a:extLst xmlns:a="http://schemas.openxmlformats.org/drawingml/2006/main">
              <a:ext uri="{FF2B5EF4-FFF2-40B4-BE49-F238E27FC236}">
                <a16:creationId xmlns:a16="http://schemas.microsoft.com/office/drawing/2014/main" id="{8C272393-4E9F-40A7-83FB-FD32EE3E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text_wfab95_2">
            <a:extLst xmlns:a="http://schemas.openxmlformats.org/drawingml/2006/main">
              <a:ext uri="{FF2B5EF4-FFF2-40B4-BE49-F238E27FC236}">
                <a16:creationId xmlns:a16="http://schemas.microsoft.com/office/drawing/2014/main" id="{2936C125-50F2-4020-B7E9-77C762DE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4" name="text_wfab95_3">
            <a:extLst xmlns:a="http://schemas.openxmlformats.org/drawingml/2006/main">
              <a:ext uri="{FF2B5EF4-FFF2-40B4-BE49-F238E27FC236}">
                <a16:creationId xmlns:a16="http://schemas.microsoft.com/office/drawing/2014/main" id="{3E4055A3-1642-4246-8A8D-6347A051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F8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087F8C"/>
                </a:solidFill>
                <a:latin typeface="Yu Gothic"/>
                <a:ea typeface="Yu Gothic"/>
                <a:cs typeface="Yu Gothic"/>
              </a:rPr>
              <a:t>未実施の計画</a:t>
            </a:r>
          </a:p>
        </p:txBody>
      </p:sp>
      <p:sp>
        <p:nvSpPr>
          <p:cNvPr id="5" name="diagram_先行研究を照合">
            <a:extLst xmlns:a="http://schemas.openxmlformats.org/drawingml/2006/main">
              <a:ext uri="{FF2B5EF4-FFF2-40B4-BE49-F238E27FC236}">
                <a16:creationId xmlns:a16="http://schemas.microsoft.com/office/drawing/2014/main" id="{5947A79C-2895-45A8-81D4-FD999628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438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8DE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先行研究を照合</a:t>
            </a:r>
          </a:p>
        </p:txBody>
      </p:sp>
      <p:sp>
        <p:nvSpPr>
          <p:cNvPr id="6" name="diagram_IQ・CNNを診断">
            <a:extLst xmlns:a="http://schemas.openxmlformats.org/drawingml/2006/main">
              <a:ext uri="{FF2B5EF4-FFF2-40B4-BE49-F238E27FC236}">
                <a16:creationId xmlns:a16="http://schemas.microsoft.com/office/drawing/2014/main" id="{7E96792D-BD7C-47F3-9EE0-81ABA255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95500"/>
            <a:ext cx="2438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9050">
            <a:solidFill>
              <a:srgbClr val="087F8C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IQ・CNNを診断</a:t>
            </a:r>
          </a:p>
        </p:txBody>
      </p:sp>
      <p:sp>
        <p:nvSpPr>
          <p:cNvPr id="7" name="diagram_1 Txで条件比較">
            <a:extLst xmlns:a="http://schemas.openxmlformats.org/drawingml/2006/main">
              <a:ext uri="{FF2B5EF4-FFF2-40B4-BE49-F238E27FC236}">
                <a16:creationId xmlns:a16="http://schemas.microsoft.com/office/drawing/2014/main" id="{044400ED-2D44-4F4F-BA3F-B322F7E2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2438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8DE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1 Txで条件比較</a:t>
            </a:r>
          </a:p>
        </p:txBody>
      </p:sp>
      <p:sp>
        <p:nvSpPr>
          <p:cNvPr id="8" name="diagram_別Tx・Rxで検証">
            <a:extLst xmlns:a="http://schemas.openxmlformats.org/drawingml/2006/main">
              <a:ext uri="{FF2B5EF4-FFF2-40B4-BE49-F238E27FC236}">
                <a16:creationId xmlns:a16="http://schemas.microsoft.com/office/drawing/2014/main" id="{4E66CA8A-8617-4E40-B109-99C1E7B5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95500"/>
            <a:ext cx="2438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8DE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別Tx・Rxで検証</a:t>
            </a:r>
          </a:p>
        </p:txBody>
      </p: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48000" y="25431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C78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86450" y="25431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C78"/>
            </a:solidFill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724900" y="25431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C78"/>
            </a:solidFill>
            <a:tailEnd type="triangle" w="sm" len="sm"/>
          </a:ln>
        </p:spPr>
      </p:cxnSp>
      <p:sp>
        <p:nvSpPr>
          <p:cNvPr id="12" name="text_wfab95_11">
            <a:extLst xmlns:a="http://schemas.openxmlformats.org/drawingml/2006/main">
              <a:ext uri="{FF2B5EF4-FFF2-40B4-BE49-F238E27FC236}">
                <a16:creationId xmlns:a16="http://schemas.microsoft.com/office/drawing/2014/main" id="{35AE6317-1AAD-4DEE-AAAC-057EC557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既存データで見るもの</a:t>
            </a:r>
          </a:p>
        </p:txBody>
      </p:sp>
      <p:sp>
        <p:nvSpPr>
          <p:cNvPr id="13" name="text_wfab95_12">
            <a:extLst xmlns:a="http://schemas.openxmlformats.org/drawingml/2006/main">
              <a:ext uri="{FF2B5EF4-FFF2-40B4-BE49-F238E27FC236}">
                <a16:creationId xmlns:a16="http://schemas.microsoft.com/office/drawing/2014/main" id="{C32D6C5B-69D3-41AF-9832-0EDBC3E6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2863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IQ　振幅・位相・スペクトル</a:t>
            </a:r>
          </a:p>
          <a:p xmlns:a="http://schemas.openxmlformats.org/drawingml/2006/main">
            <a:pPr algn="l">
              <a:defRPr sz="1950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CNN　特徴分布・誤拒否への寄与</a:t>
            </a:r>
          </a:p>
          <a:p xmlns:a="http://schemas.openxmlformats.org/drawingml/2006/main">
            <a:pPr algn="l">
              <a:defRPr sz="1950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手設計比較　文献照合後に判断</a:t>
            </a:r>
          </a:p>
        </p:txBody>
      </p:sp>
      <p:sp>
        <p:nvSpPr>
          <p:cNvPr id="14" name="text_wfab95_13">
            <a:extLst xmlns:a="http://schemas.openxmlformats.org/drawingml/2006/main">
              <a:ext uri="{FF2B5EF4-FFF2-40B4-BE49-F238E27FC236}">
                <a16:creationId xmlns:a16="http://schemas.microsoft.com/office/drawing/2014/main" id="{79306FA1-4534-47C9-99CA-0F2CB0B9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3377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一台の収録で変える条件</a:t>
            </a:r>
          </a:p>
        </p:txBody>
      </p:sp>
      <p:sp>
        <p:nvSpPr>
          <p:cNvPr id="15" name="text_wfab95_14">
            <a:extLst xmlns:a="http://schemas.openxmlformats.org/drawingml/2006/main">
              <a:ext uri="{FF2B5EF4-FFF2-40B4-BE49-F238E27FC236}">
                <a16:creationId xmlns:a16="http://schemas.microsoft.com/office/drawing/2014/main" id="{E72F80C9-2171-4E11-85D7-A46367E6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48125"/>
            <a:ext cx="5095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電源　Tx／Rxを別々に再投入</a:t>
            </a:r>
          </a:p>
          <a:p xmlns:a="http://schemas.openxmlformats.org/drawingml/2006/main">
            <a:pPr algn="l">
              <a:defRPr sz="1950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姿勢　固定した向き／動作中</a:t>
            </a:r>
          </a:p>
          <a:p xmlns:a="http://schemas.openxmlformats.org/drawingml/2006/main">
            <a:pPr algn="l">
              <a:defRPr sz="1950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スマホ　なし／無線停止／通信中</a:t>
            </a:r>
          </a:p>
        </p:txBody>
      </p:sp>
      <p:sp>
        <p:nvSpPr>
          <p:cNvPr id="16" name="text_wfab95_15">
            <a:extLst xmlns:a="http://schemas.openxmlformats.org/drawingml/2006/main">
              <a:ext uri="{FF2B5EF4-FFF2-40B4-BE49-F238E27FC236}">
                <a16:creationId xmlns:a16="http://schemas.microsoft.com/office/drawing/2014/main" id="{A5F8D7A3-CC05-4568-9327-88824FD4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一台で見た変化を、端末間の差と比較する</a:t>
            </a:r>
          </a:p>
        </p:txBody>
      </p:sp>
      <p:sp>
        <p:nvSpPr>
          <p:cNvPr id="17" name="text_wfab95_16">
            <a:extLst xmlns:a="http://schemas.openxmlformats.org/drawingml/2006/main">
              <a:ext uri="{FF2B5EF4-FFF2-40B4-BE49-F238E27FC236}">
                <a16:creationId xmlns:a16="http://schemas.microsoft.com/office/drawing/2014/main" id="{310ABA68-62BD-40C4-9A51-6432D4EB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同じ問いが解決済みなら省く。相談：この検証を、SMoRFFIの収集方法へどうつなぐか。</a:t>
            </a:r>
          </a:p>
        </p:txBody>
      </p:sp>
    </p:spTree>
    <p:extLst>
      <p:ext uri="{BB962C8B-B14F-4D97-AF65-F5344CB8AC3E}">
        <p14:creationId xmlns:p14="http://schemas.microsoft.com/office/powerpoint/2010/main" val="8237380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line_7">
            <a:extLst xmlns:a="http://schemas.openxmlformats.org/drawingml/2006/main">
              <a:ext uri="{FF2B5EF4-FFF2-40B4-BE49-F238E27FC236}">
                <a16:creationId xmlns:a16="http://schemas.microsoft.com/office/drawing/2014/main" id="{61540FF3-AB22-4FF7-A122-A199DC5C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基準モデルの比較</a:t>
            </a:r>
          </a:p>
        </p:txBody>
      </p:sp>
      <p:sp>
        <p:nvSpPr>
          <p:cNvPr id="2" name="text_tkdhoc_1">
            <a:extLst xmlns:a="http://schemas.openxmlformats.org/drawingml/2006/main">
              <a:ext uri="{FF2B5EF4-FFF2-40B4-BE49-F238E27FC236}">
                <a16:creationId xmlns:a16="http://schemas.microsoft.com/office/drawing/2014/main" id="{87988947-F3C3-4DCA-8519-891E8C32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補足</a:t>
            </a:r>
          </a:p>
        </p:txBody>
      </p:sp>
      <p:sp>
        <p:nvSpPr>
          <p:cNvPr id="3" name="text_tkdhoc_2">
            <a:extLst xmlns:a="http://schemas.openxmlformats.org/drawingml/2006/main">
              <a:ext uri="{FF2B5EF4-FFF2-40B4-BE49-F238E27FC236}">
                <a16:creationId xmlns:a16="http://schemas.microsoft.com/office/drawing/2014/main" id="{60CBB402-B931-44D2-8342-08587245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4" name="text_tkdhoc_3">
            <a:extLst xmlns:a="http://schemas.openxmlformats.org/drawingml/2006/main">
              <a:ext uri="{FF2B5EF4-FFF2-40B4-BE49-F238E27FC236}">
                <a16:creationId xmlns:a16="http://schemas.microsoft.com/office/drawing/2014/main" id="{CF41FDF0-C9C6-41FF-AFAB-50E05ECF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OpenMaxを基準に選定したが、全手法で別日に低下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657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1d57a91bd24c9c"/>
          </a:graphicData>
        </a:graphic>
      </p:graphicFrame>
      <p:sp>
        <p:nvSpPr>
          <p:cNvPr id="6" name="text_tkdhoc_4">
            <a:extLst xmlns:a="http://schemas.openxmlformats.org/drawingml/2006/main">
              <a:ext uri="{FF2B5EF4-FFF2-40B4-BE49-F238E27FC236}">
                <a16:creationId xmlns:a16="http://schemas.microsoft.com/office/drawing/2014/main" id="{4CA85A9C-0AB4-4C24-B69D-73DAD97D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WiSig ManyRx。fold 0・seed 42の探索結果。今回の条件での比較であり、一般的な優劣は示さない。</a:t>
            </a:r>
          </a:p>
        </p:txBody>
      </p:sp>
    </p:spTree>
    <p:extLst>
      <p:ext uri="{BB962C8B-B14F-4D97-AF65-F5344CB8AC3E}">
        <p14:creationId xmlns:p14="http://schemas.microsoft.com/office/powerpoint/2010/main" val="3850017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headline_8">
            <a:extLst xmlns:a="http://schemas.openxmlformats.org/drawingml/2006/main">
              <a:ext uri="{FF2B5EF4-FFF2-40B4-BE49-F238E27FC236}">
                <a16:creationId xmlns:a16="http://schemas.microsoft.com/office/drawing/2014/main" id="{502E934B-2D86-4C65-B03B-CBBBEB21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途中で試した加工・人工特徴</a:t>
            </a:r>
          </a:p>
        </p:txBody>
      </p:sp>
      <p:sp>
        <p:nvSpPr>
          <p:cNvPr id="2" name="text_oq5t4j_1">
            <a:extLst xmlns:a="http://schemas.openxmlformats.org/drawingml/2006/main">
              <a:ext uri="{FF2B5EF4-FFF2-40B4-BE49-F238E27FC236}">
                <a16:creationId xmlns:a16="http://schemas.microsoft.com/office/drawing/2014/main" id="{F355A3B2-1B76-4BA0-92CA-6DEB257B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補足</a:t>
            </a:r>
          </a:p>
        </p:txBody>
      </p:sp>
      <p:sp>
        <p:nvSpPr>
          <p:cNvPr id="3" name="text_oq5t4j_2">
            <a:extLst xmlns:a="http://schemas.openxmlformats.org/drawingml/2006/main">
              <a:ext uri="{FF2B5EF4-FFF2-40B4-BE49-F238E27FC236}">
                <a16:creationId xmlns:a16="http://schemas.microsoft.com/office/drawing/2014/main" id="{371BF661-18AB-4D4F-B093-4B94325E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4" name="text_oq5t4j_3">
            <a:extLst xmlns:a="http://schemas.openxmlformats.org/drawingml/2006/main">
              <a:ext uri="{FF2B5EF4-FFF2-40B4-BE49-F238E27FC236}">
                <a16:creationId xmlns:a16="http://schemas.microsoft.com/office/drawing/2014/main" id="{A884F6E2-1045-4870-B021-BCCBD925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525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残差強調（WiSig validation）</a:t>
            </a:r>
          </a:p>
        </p:txBody>
      </p:sp>
      <p:sp>
        <p:nvSpPr>
          <p:cNvPr id="5" name="text_oq5t4j_4">
            <a:extLst xmlns:a="http://schemas.openxmlformats.org/drawingml/2006/main">
              <a:ext uri="{FF2B5EF4-FFF2-40B4-BE49-F238E27FC236}">
                <a16:creationId xmlns:a16="http://schemas.microsoft.com/office/drawing/2014/main" id="{988735D8-4E3A-4ACF-9C9A-E838576A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ORACLEの予備実験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09600" y="2085975"/>
          <a:ext xmlns:a="http://schemas.openxmlformats.org/drawingml/2006/main" cx="5257800" cy="2781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eba4e94aaa4b1a"/>
          </a:graphicData>
        </a:graphic>
      </p:graphicFrame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477000" y="2085975"/>
          <a:ext xmlns:a="http://schemas.openxmlformats.org/drawingml/2006/main" cx="5095875" cy="2781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af775f52db04738"/>
          </a:graphicData>
        </a:graphic>
      </p:graphicFrame>
      <p:sp>
        <p:nvSpPr>
          <p:cNvPr id="8" name="text_oq5t4j_5">
            <a:extLst xmlns:a="http://schemas.openxmlformats.org/drawingml/2006/main">
              <a:ext uri="{FF2B5EF4-FFF2-40B4-BE49-F238E27FC236}">
                <a16:creationId xmlns:a16="http://schemas.microsoft.com/office/drawing/2014/main" id="{734E0BEB-6988-4F00-97C2-5750F38F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525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無加工を選択。λ=0.5は波形変化の制約外。</a:t>
            </a:r>
          </a:p>
        </p:txBody>
      </p:sp>
      <p:sp>
        <p:nvSpPr>
          <p:cNvPr id="9" name="text_oq5t4j_6">
            <a:extLst xmlns:a="http://schemas.openxmlformats.org/drawingml/2006/main">
              <a:ext uri="{FF2B5EF4-FFF2-40B4-BE49-F238E27FC236}">
                <a16:creationId xmlns:a16="http://schemas.microsoft.com/office/drawing/2014/main" id="{04D5DC54-9847-4DF4-BC72-F825192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76825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物理Tx 1台・16注入設定・同一収録内。</a:t>
            </a:r>
          </a:p>
        </p:txBody>
      </p:sp>
      <p:sp>
        <p:nvSpPr>
          <p:cNvPr id="10" name="text_oq5t4j_7">
            <a:extLst xmlns:a="http://schemas.openxmlformats.org/drawingml/2006/main">
              <a:ext uri="{FF2B5EF4-FFF2-40B4-BE49-F238E27FC236}">
                <a16:creationId xmlns:a16="http://schemas.microsoft.com/office/drawing/2014/main" id="{335AD17B-4256-4A5D-8D4E-E86A4505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C3E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72C3E"/>
                </a:solidFill>
                <a:latin typeface="Yu Gothic"/>
                <a:ea typeface="Yu Gothic"/>
                <a:cs typeface="Yu Gothic"/>
              </a:rPr>
              <a:t>両実験から日跨ぎ低下の原因は特定できない</a:t>
            </a:r>
          </a:p>
        </p:txBody>
      </p:sp>
      <p:sp>
        <p:nvSpPr>
          <p:cNvPr id="11" name="text_oq5t4j_8">
            <a:extLst xmlns:a="http://schemas.openxmlformats.org/drawingml/2006/main">
              <a:ext uri="{FF2B5EF4-FFF2-40B4-BE49-F238E27FC236}">
                <a16:creationId xmlns:a16="http://schemas.microsoft.com/office/drawing/2014/main" id="{982D8FD8-CDD0-4580-8395-F7AB0F48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C78"/>
                </a:solidFill>
                <a:latin typeface="Yu Gothic"/>
                <a:ea typeface="Yu Gothic"/>
                <a:cs typeface="Yu Gothic"/>
              </a:rPr>
              <a:t>左：非ゼロλの別日testは未実施。右：20／10 dBは追加AWGNのSNR。別日・別Txへの汎化なし。</a:t>
            </a:r>
          </a:p>
        </p:txBody>
      </p:sp>
    </p:spTree>
    <p:extLst>
      <p:ext uri="{BB962C8B-B14F-4D97-AF65-F5344CB8AC3E}">
        <p14:creationId xmlns:p14="http://schemas.microsoft.com/office/powerpoint/2010/main" val="10859619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2026-10-07T07:51:24.6270000Z</dcterms:created>
  <dcterms:modified xsi:type="dcterms:W3CDTF">2026-10-07T07:51:24.6270000Z</dcterms:modified>
</coreProperties>
</file>