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g0dnkOBG3/KQtxPCZbv417+LI9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customschemas.google.com/relationships/presentationmetadata" Target="meta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Clr>
                <a:srgbClr val="000000"/>
              </a:buClr>
              <a:buSzPts val="1400"/>
              <a:buFont typeface="Times New Roman"/>
              <a:buNone/>
            </a:pPr>
            <a:fld id="{00000000-1234-1234-1234-123412341234}" type="slidenum">
              <a:rPr b="0" i="0" lang="zh-CN"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 name="Shape 14"/>
        <p:cNvGrpSpPr/>
        <p:nvPr/>
      </p:nvGrpSpPr>
      <p:grpSpPr>
        <a:xfrm>
          <a:off x="0" y="0"/>
          <a:ext cx="0" cy="0"/>
          <a:chOff x="0" y="0"/>
          <a:chExt cx="0" cy="0"/>
        </a:xfrm>
      </p:grpSpPr>
      <p:sp>
        <p:nvSpPr>
          <p:cNvPr id="15" name="Google Shape;1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 name="Google Shape;16;p1: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zh-CN" sz="2000" u="none" strike="noStrike">
                <a:solidFill>
                  <a:srgbClr val="000000"/>
                </a:solidFill>
                <a:latin typeface="Arial"/>
                <a:ea typeface="Arial"/>
                <a:cs typeface="Arial"/>
                <a:sym typeface="Arial"/>
              </a:rPr>
              <a:t>最初に、この論文は分類モデルの論文というより、RF fingerprintingを評価するための大規模データセット論文であると説明する。無線指紋に詳しくない人向けに、背景から順に説明する。</a:t>
            </a:r>
            <a:endParaRPr b="0" sz="2000" u="none" strike="noStrike">
              <a:solidFill>
                <a:srgbClr val="000000"/>
              </a:solidFill>
              <a:latin typeface="Arial"/>
              <a:ea typeface="Arial"/>
              <a:cs typeface="Arial"/>
              <a:sym typeface="Arial"/>
            </a:endParaRPr>
          </a:p>
        </p:txBody>
      </p:sp>
      <p:sp>
        <p:nvSpPr>
          <p:cNvPr id="17" name="Google Shape;17;p1: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zh-CN" sz="1200" u="none" cap="none" strike="noStrike">
                <a:solidFill>
                  <a:schemeClr val="dk1"/>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 name="Google Shape;26;p2: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zh-CN" sz="2000" u="none" strike="noStrike">
                <a:solidFill>
                  <a:srgbClr val="000000"/>
                </a:solidFill>
                <a:latin typeface="Arial"/>
                <a:ea typeface="Arial"/>
                <a:cs typeface="Arial"/>
                <a:sym typeface="Arial"/>
              </a:rPr>
              <a:t>先に技術の全体像を見せてから、細部に入る。聴衆が迷わないように、送信機識別の話であることを早めに明確にする。</a:t>
            </a:r>
            <a:endParaRPr b="0" sz="2000" u="none" strike="noStrike">
              <a:solidFill>
                <a:srgbClr val="000000"/>
              </a:solidFill>
              <a:latin typeface="Arial"/>
              <a:ea typeface="Arial"/>
              <a:cs typeface="Arial"/>
              <a:sym typeface="Arial"/>
            </a:endParaRPr>
          </a:p>
        </p:txBody>
      </p:sp>
      <p:sp>
        <p:nvSpPr>
          <p:cNvPr id="27" name="Google Shape;27;p2: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zh-CN" sz="1200" u="none" cap="none" strike="noStrike">
                <a:solidFill>
                  <a:schemeClr val="dk1"/>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 name="Google Shape;36;p3: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zh-CN" sz="2000" u="none" strike="noStrike">
                <a:solidFill>
                  <a:srgbClr val="000000"/>
                </a:solidFill>
                <a:latin typeface="Arial"/>
                <a:ea typeface="Arial"/>
                <a:cs typeface="Arial"/>
                <a:sym typeface="Arial"/>
              </a:rPr>
              <a:t>MACアドレスやIPアドレスは書き換えられる可能性がある。一方で、送信機の回路ばらつき由来の信号差は、機器ごとに自然に生じる。その微小な差を使うのがRF fingerprintingである。</a:t>
            </a:r>
            <a:endParaRPr b="0" sz="2000" u="none" strike="noStrike">
              <a:solidFill>
                <a:srgbClr val="000000"/>
              </a:solidFill>
              <a:latin typeface="Arial"/>
              <a:ea typeface="Arial"/>
              <a:cs typeface="Arial"/>
              <a:sym typeface="Arial"/>
            </a:endParaRPr>
          </a:p>
        </p:txBody>
      </p:sp>
      <p:sp>
        <p:nvSpPr>
          <p:cNvPr id="37" name="Google Shape;37;p3: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zh-CN" sz="1200" u="none" cap="none" strike="noStrike">
                <a:solidFill>
                  <a:schemeClr val="dk1"/>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4: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zh-CN" sz="2000" u="none" strike="noStrike">
                <a:solidFill>
                  <a:srgbClr val="000000"/>
                </a:solidFill>
                <a:latin typeface="Arial"/>
                <a:ea typeface="Arial"/>
                <a:cs typeface="Arial"/>
                <a:sym typeface="Arial"/>
              </a:rPr>
              <a:t>MACアドレスやIPアドレスは書き換えられる可能性がある。一方で、送信機の回路ばらつき由来の信号差は、機器ごとに自然に生じる。その微小な差を使うのがRF fingerprintingである。</a:t>
            </a:r>
            <a:endParaRPr b="0" sz="2000" u="none" strike="noStrike">
              <a:solidFill>
                <a:srgbClr val="000000"/>
              </a:solidFill>
              <a:latin typeface="Arial"/>
              <a:ea typeface="Arial"/>
              <a:cs typeface="Arial"/>
              <a:sym typeface="Arial"/>
            </a:endParaRPr>
          </a:p>
        </p:txBody>
      </p:sp>
      <p:sp>
        <p:nvSpPr>
          <p:cNvPr id="53" name="Google Shape;53;p4: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zh-CN" sz="1200" u="none" cap="none" strike="noStrike">
                <a:solidFill>
                  <a:schemeClr val="dk1"/>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 name="Google Shape;64;p5: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zh-CN" sz="2000" u="none" strike="noStrike">
                <a:solidFill>
                  <a:srgbClr val="000000"/>
                </a:solidFill>
                <a:latin typeface="Arial"/>
                <a:ea typeface="Arial"/>
                <a:cs typeface="Arial"/>
                <a:sym typeface="Arial"/>
              </a:rPr>
              <a:t>人間の指紋に似ているが、完全に同じではない。人間の指紋は観察対象そのものだが、無線指紋は受信した信号から間接的に推定する。そのため、途中のチャネルや受信機の影響が大きな問題になる。</a:t>
            </a:r>
            <a:endParaRPr b="0" sz="2000" u="none" strike="noStrike">
              <a:solidFill>
                <a:srgbClr val="000000"/>
              </a:solidFill>
              <a:latin typeface="Arial"/>
              <a:ea typeface="Arial"/>
              <a:cs typeface="Arial"/>
              <a:sym typeface="Arial"/>
            </a:endParaRPr>
          </a:p>
        </p:txBody>
      </p:sp>
      <p:sp>
        <p:nvSpPr>
          <p:cNvPr id="65" name="Google Shape;65;p5: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zh-CN" sz="1200" u="none" cap="none" strike="noStrike">
                <a:solidFill>
                  <a:schemeClr val="dk1"/>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6: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zh-CN" sz="2000" u="none" strike="noStrike">
                <a:solidFill>
                  <a:srgbClr val="000000"/>
                </a:solidFill>
                <a:latin typeface="Arial"/>
                <a:ea typeface="Arial"/>
                <a:cs typeface="Arial"/>
                <a:sym typeface="Arial"/>
              </a:rPr>
              <a:t>同じ場所・同じ受信機では高精度でも、条件が変わると性能が落ちる可能性がある。実運用では複数の受信機を使い、長期間にわたって識別する必要がある。そのため、評価用データセット自体が重要になる。</a:t>
            </a:r>
            <a:endParaRPr b="0" sz="2000" u="none" strike="noStrike">
              <a:solidFill>
                <a:srgbClr val="000000"/>
              </a:solidFill>
              <a:latin typeface="Arial"/>
              <a:ea typeface="Arial"/>
              <a:cs typeface="Arial"/>
              <a:sym typeface="Arial"/>
            </a:endParaRPr>
          </a:p>
        </p:txBody>
      </p:sp>
      <p:sp>
        <p:nvSpPr>
          <p:cNvPr id="102" name="Google Shape;102;p6: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zh-CN"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7: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zh-CN" sz="2000" u="none" strike="noStrike">
                <a:solidFill>
                  <a:srgbClr val="000000"/>
                </a:solidFill>
                <a:latin typeface="Arial"/>
                <a:ea typeface="Arial"/>
                <a:cs typeface="Arial"/>
                <a:sym typeface="Arial"/>
              </a:rPr>
              <a:t>Raw IQ信号はそのままだと大きく、扱いにくい。論文では、分類器に入れやすいように識別用信号を作っている。Equalized版は、チャネル影響を減らした場合にどうなるかを見るために重要である。</a:t>
            </a:r>
            <a:endParaRPr b="0" sz="2000" u="none" strike="noStrike">
              <a:solidFill>
                <a:srgbClr val="000000"/>
              </a:solidFill>
              <a:latin typeface="Arial"/>
              <a:ea typeface="Arial"/>
              <a:cs typeface="Arial"/>
              <a:sym typeface="Arial"/>
            </a:endParaRPr>
          </a:p>
        </p:txBody>
      </p:sp>
      <p:sp>
        <p:nvSpPr>
          <p:cNvPr id="130" name="Google Shape;130;p7: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zh-CN"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8: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zh-CN" sz="2000" u="none" strike="noStrike">
                <a:solidFill>
                  <a:srgbClr val="000000"/>
                </a:solidFill>
                <a:latin typeface="Arial"/>
                <a:ea typeface="Arial"/>
                <a:cs typeface="Arial"/>
                <a:sym typeface="Arial"/>
              </a:rPr>
              <a:t>Equalizationは、ざっくり言うと「空間で歪んだ分を戻す」処理である。ただし、実際の信号には送信機、チャネル、受信機の影響が混ざる。そのため、Equalizationだけで問題が完全に解決するわけではない。</a:t>
            </a:r>
            <a:endParaRPr b="0" sz="2000" u="none" strike="noStrike">
              <a:solidFill>
                <a:srgbClr val="000000"/>
              </a:solidFill>
              <a:latin typeface="Arial"/>
              <a:ea typeface="Arial"/>
              <a:cs typeface="Arial"/>
              <a:sym typeface="Arial"/>
            </a:endParaRPr>
          </a:p>
        </p:txBody>
      </p:sp>
      <p:sp>
        <p:nvSpPr>
          <p:cNvPr id="165" name="Google Shape;165;p8: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zh-CN"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9: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zh-CN" sz="2000" u="none" strike="noStrike">
                <a:solidFill>
                  <a:srgbClr val="000000"/>
                </a:solidFill>
                <a:latin typeface="Arial"/>
                <a:ea typeface="Arial"/>
                <a:cs typeface="Arial"/>
                <a:sym typeface="Arial"/>
              </a:rPr>
              <a:t>これはRF fingerprintingの重要な問題である。分類器が送信機固有の特徴ではなく、受信機やチャネルの特徴に依存している可能性がある。実運用では、同じ受信機・同じ日だけで使えるとは限らない。論文では、1台の受信機で学習した場合、同一受信機では99%から、異なる受信機では33%未満へ落ちる例が示されている。</a:t>
            </a:r>
            <a:endParaRPr b="0" sz="2000" u="none" strike="noStrike">
              <a:solidFill>
                <a:srgbClr val="000000"/>
              </a:solidFill>
              <a:latin typeface="Arial"/>
              <a:ea typeface="Arial"/>
              <a:cs typeface="Arial"/>
              <a:sym typeface="Arial"/>
            </a:endParaRPr>
          </a:p>
        </p:txBody>
      </p:sp>
      <p:sp>
        <p:nvSpPr>
          <p:cNvPr id="189" name="Google Shape;189;p9: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zh-CN"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0: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zh-CN" sz="2000" u="none" strike="noStrike">
                <a:solidFill>
                  <a:srgbClr val="000000"/>
                </a:solidFill>
                <a:latin typeface="Arial"/>
                <a:ea typeface="Arial"/>
                <a:cs typeface="Arial"/>
                <a:sym typeface="Arial"/>
              </a:rPr>
              <a:t>これはRF fingerprintingの重要な問題である。分類器が送信機固有の特徴ではなく、受信機やチャネルの特徴に依存している可能性がある。実運用では、同じ受信機・同じ日だけで使えるとは限らない。論文では、1台の受信機で学習した場合、同一受信機では99%から、異なる受信機では33%未満へ落ちる例が示されている。</a:t>
            </a:r>
            <a:endParaRPr b="0" sz="2000" u="none" strike="noStrike">
              <a:solidFill>
                <a:srgbClr val="000000"/>
              </a:solidFill>
              <a:latin typeface="Arial"/>
              <a:ea typeface="Arial"/>
              <a:cs typeface="Arial"/>
              <a:sym typeface="Arial"/>
            </a:endParaRPr>
          </a:p>
        </p:txBody>
      </p:sp>
      <p:sp>
        <p:nvSpPr>
          <p:cNvPr id="202" name="Google Shape;202;p10: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zh-CN"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11: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zh-CN" sz="2000" u="none" strike="noStrike">
                <a:solidFill>
                  <a:srgbClr val="000000"/>
                </a:solidFill>
                <a:latin typeface="Arial"/>
                <a:ea typeface="Arial"/>
                <a:cs typeface="Arial"/>
                <a:sym typeface="Arial"/>
              </a:rPr>
              <a:t>Equalizationは特にデータが少ないときに効果が出やすい。ただし、十分な信号数があり、複数日・複数受信機のデータがある場合、分類器がある程度ばらつきを学習できる。送信機数が増えると、似た特徴を持つ機器同士を区別する必要があり、問題は難しくなる。論文では、ManyTxを使い、150 Txまで評価している。</a:t>
            </a:r>
            <a:endParaRPr b="0" sz="2000" u="none" strike="noStrike">
              <a:solidFill>
                <a:srgbClr val="000000"/>
              </a:solidFill>
              <a:latin typeface="Arial"/>
              <a:ea typeface="Arial"/>
              <a:cs typeface="Arial"/>
              <a:sym typeface="Arial"/>
            </a:endParaRPr>
          </a:p>
        </p:txBody>
      </p:sp>
      <p:sp>
        <p:nvSpPr>
          <p:cNvPr id="215" name="Google Shape;215;p11: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zh-CN"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p12: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zh-CN" sz="2000" u="none" strike="noStrike">
                <a:solidFill>
                  <a:srgbClr val="000000"/>
                </a:solidFill>
                <a:latin typeface="Arial"/>
                <a:ea typeface="Arial"/>
                <a:cs typeface="Arial"/>
                <a:sym typeface="Arial"/>
              </a:rPr>
              <a:t>論文の結果を過度に一般化しない。WiSigで示されたのは、条件が変わるとRF fingerprintingが難しくなるという現実的な問題である。研究としては、ここから「どう頑健にするか」が次の課題になる。</a:t>
            </a:r>
            <a:endParaRPr b="0" sz="2000" u="none" strike="noStrike">
              <a:solidFill>
                <a:srgbClr val="000000"/>
              </a:solidFill>
              <a:latin typeface="Arial"/>
              <a:ea typeface="Arial"/>
              <a:cs typeface="Arial"/>
              <a:sym typeface="Arial"/>
            </a:endParaRPr>
          </a:p>
        </p:txBody>
      </p:sp>
      <p:sp>
        <p:nvSpPr>
          <p:cNvPr id="227" name="Google Shape;227;p12: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zh-CN"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13:notes"/>
          <p:cNvSpPr txBox="1"/>
          <p:nvPr>
            <p:ph idx="1" type="body"/>
          </p:nvPr>
        </p:nvSpPr>
        <p:spPr>
          <a:xfrm>
            <a:off x="685800" y="4400640"/>
            <a:ext cx="5486040" cy="36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zh-CN" sz="2000" u="none" strike="noStrike">
                <a:solidFill>
                  <a:srgbClr val="000000"/>
                </a:solidFill>
                <a:latin typeface="Arial"/>
                <a:ea typeface="Arial"/>
                <a:cs typeface="Arial"/>
                <a:sym typeface="Arial"/>
              </a:rPr>
              <a:t>最後に、この論文から学ぶべき点は「精度が出たか」だけではなく、「どの条件で精度が落ちるか」であるとまとめる。自分の今後の研究では、WiSigを使って受信機・チャネル変化に強い手法を検討できる可能性がある。</a:t>
            </a:r>
            <a:endParaRPr b="0" sz="2000" u="none" strike="noStrike">
              <a:solidFill>
                <a:srgbClr val="000000"/>
              </a:solidFill>
              <a:latin typeface="Arial"/>
              <a:ea typeface="Arial"/>
              <a:cs typeface="Arial"/>
              <a:sym typeface="Arial"/>
            </a:endParaRPr>
          </a:p>
        </p:txBody>
      </p:sp>
      <p:sp>
        <p:nvSpPr>
          <p:cNvPr id="243" name="Google Shape;243;p13:notes"/>
          <p:cNvSpPr txBox="1"/>
          <p:nvPr>
            <p:ph idx="12" type="sldNum"/>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zh-CN"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4:notes"/>
          <p:cNvSpPr/>
          <p:nvPr>
            <p:ph idx="2" type="sldImg"/>
          </p:nvPr>
        </p:nvSpPr>
        <p:spPr>
          <a:xfrm>
            <a:off x="0" y="81280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 name="Google Shape;256;p1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57" name="Google Shape;257;p14:notes"/>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zh-C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0" name="Shape 10"/>
        <p:cNvGrpSpPr/>
        <p:nvPr/>
      </p:nvGrpSpPr>
      <p:grpSpPr>
        <a:xfrm>
          <a:off x="0" y="0"/>
          <a:ext cx="0" cy="0"/>
          <a:chOff x="0" y="0"/>
          <a:chExt cx="0" cy="0"/>
        </a:xfrm>
      </p:grpSpPr>
      <p:sp>
        <p:nvSpPr>
          <p:cNvPr id="11" name="Google Shape;11;p16"/>
          <p:cNvSpPr txBox="1"/>
          <p:nvPr>
            <p:ph type="title"/>
          </p:nvPr>
        </p:nvSpPr>
        <p:spPr>
          <a:xfrm>
            <a:off x="609480" y="273600"/>
            <a:ext cx="10972080" cy="11448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6"/>
          <p:cNvSpPr txBox="1"/>
          <p:nvPr>
            <p:ph idx="1" type="body"/>
          </p:nvPr>
        </p:nvSpPr>
        <p:spPr>
          <a:xfrm>
            <a:off x="609480" y="1604520"/>
            <a:ext cx="10972080" cy="397728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rgbClr val="FFFFFF"/>
        </a:solidFill>
      </p:bgPr>
    </p:bg>
    <p:spTree>
      <p:nvGrpSpPr>
        <p:cNvPr id="13"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 name="Shape 18"/>
        <p:cNvGrpSpPr/>
        <p:nvPr/>
      </p:nvGrpSpPr>
      <p:grpSpPr>
        <a:xfrm>
          <a:off x="0" y="0"/>
          <a:ext cx="0" cy="0"/>
          <a:chOff x="0" y="0"/>
          <a:chExt cx="0" cy="0"/>
        </a:xfrm>
      </p:grpSpPr>
      <p:sp>
        <p:nvSpPr>
          <p:cNvPr id="19" name="Google Shape;19;p1"/>
          <p:cNvSpPr/>
          <p:nvPr/>
        </p:nvSpPr>
        <p:spPr>
          <a:xfrm>
            <a:off x="-1" y="1439629"/>
            <a:ext cx="12192000" cy="2147760"/>
          </a:xfrm>
          <a:prstGeom prst="rect">
            <a:avLst/>
          </a:prstGeom>
          <a:noFill/>
          <a:ln>
            <a:noFill/>
          </a:ln>
        </p:spPr>
        <p:txBody>
          <a:bodyPr anchorCtr="0" anchor="ctr" bIns="350" lIns="350" spcFirstLastPara="1" rIns="350" wrap="square" tIns="350">
            <a:noAutofit/>
          </a:bodyPr>
          <a:lstStyle/>
          <a:p>
            <a:pPr indent="0" lvl="0" marL="0" marR="0" rtl="0" algn="ctr">
              <a:lnSpc>
                <a:spcPct val="100000"/>
              </a:lnSpc>
              <a:spcBef>
                <a:spcPts val="0"/>
              </a:spcBef>
              <a:spcAft>
                <a:spcPts val="0"/>
              </a:spcAft>
              <a:buNone/>
            </a:pPr>
            <a:r>
              <a:rPr b="1" i="0" lang="zh-CN" sz="4000" u="none" cap="none" strike="noStrike">
                <a:solidFill>
                  <a:srgbClr val="111111"/>
                </a:solidFill>
                <a:latin typeface="Arial"/>
                <a:ea typeface="Arial"/>
                <a:cs typeface="Arial"/>
                <a:sym typeface="Arial"/>
              </a:rPr>
              <a:t>WiSig: A Large-Scale WiFi Signal Dataset</a:t>
            </a:r>
            <a:endParaRPr b="0" i="0" sz="4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zh-CN" sz="4000" u="none" cap="none" strike="noStrike">
                <a:solidFill>
                  <a:srgbClr val="111111"/>
                </a:solidFill>
                <a:latin typeface="Arial"/>
                <a:ea typeface="Arial"/>
                <a:cs typeface="Arial"/>
                <a:sym typeface="Arial"/>
              </a:rPr>
              <a:t>for Receiver and Channel Agnostic </a:t>
            </a:r>
            <a:br>
              <a:rPr b="1" i="0" lang="zh-CN" sz="4000" u="none" cap="none" strike="noStrike">
                <a:solidFill>
                  <a:srgbClr val="111111"/>
                </a:solidFill>
                <a:latin typeface="Arial"/>
                <a:ea typeface="Arial"/>
                <a:cs typeface="Arial"/>
                <a:sym typeface="Arial"/>
              </a:rPr>
            </a:br>
            <a:r>
              <a:rPr b="1" i="0" lang="zh-CN" sz="4000" u="none" cap="none" strike="noStrike">
                <a:solidFill>
                  <a:srgbClr val="111111"/>
                </a:solidFill>
                <a:latin typeface="Arial"/>
                <a:ea typeface="Arial"/>
                <a:cs typeface="Arial"/>
                <a:sym typeface="Arial"/>
              </a:rPr>
              <a:t>RF Fingerprinting</a:t>
            </a:r>
            <a:endParaRPr b="0" i="0" sz="4000" u="none" cap="none" strike="noStrike">
              <a:solidFill>
                <a:srgbClr val="000000"/>
              </a:solidFill>
              <a:latin typeface="Arial"/>
              <a:ea typeface="Arial"/>
              <a:cs typeface="Arial"/>
              <a:sym typeface="Arial"/>
            </a:endParaRPr>
          </a:p>
        </p:txBody>
      </p:sp>
      <p:cxnSp>
        <p:nvCxnSpPr>
          <p:cNvPr id="20" name="Google Shape;20;p1"/>
          <p:cNvCxnSpPr/>
          <p:nvPr/>
        </p:nvCxnSpPr>
        <p:spPr>
          <a:xfrm>
            <a:off x="1524000" y="4129495"/>
            <a:ext cx="9144000" cy="360"/>
          </a:xfrm>
          <a:prstGeom prst="straightConnector1">
            <a:avLst/>
          </a:prstGeom>
          <a:noFill/>
          <a:ln cap="flat" cmpd="sng" w="17775">
            <a:solidFill>
              <a:srgbClr val="003B5C"/>
            </a:solidFill>
            <a:prstDash val="solid"/>
            <a:round/>
            <a:headEnd len="sm" w="sm" type="none"/>
            <a:tailEnd len="sm" w="sm" type="none"/>
          </a:ln>
        </p:spPr>
      </p:cxnSp>
      <p:sp>
        <p:nvSpPr>
          <p:cNvPr id="21" name="Google Shape;21;p1"/>
          <p:cNvSpPr/>
          <p:nvPr/>
        </p:nvSpPr>
        <p:spPr>
          <a:xfrm>
            <a:off x="445401" y="4344491"/>
            <a:ext cx="11301197" cy="731499"/>
          </a:xfrm>
          <a:prstGeom prst="rect">
            <a:avLst/>
          </a:prstGeom>
          <a:noFill/>
          <a:ln>
            <a:noFill/>
          </a:ln>
        </p:spPr>
        <p:txBody>
          <a:bodyPr anchorCtr="0" anchor="t" bIns="350" lIns="350" spcFirstLastPara="1" rIns="350" wrap="square" tIns="350">
            <a:noAutofit/>
          </a:bodyPr>
          <a:lstStyle/>
          <a:p>
            <a:pPr indent="0" lvl="0" marL="0" marR="0" rtl="0" algn="ctr">
              <a:lnSpc>
                <a:spcPct val="100000"/>
              </a:lnSpc>
              <a:spcBef>
                <a:spcPts val="0"/>
              </a:spcBef>
              <a:spcAft>
                <a:spcPts val="0"/>
              </a:spcAft>
              <a:buNone/>
            </a:pPr>
            <a:r>
              <a:rPr b="0" i="0" lang="zh-CN" sz="2800" u="none" cap="none" strike="noStrike">
                <a:solidFill>
                  <a:srgbClr val="111111"/>
                </a:solidFill>
                <a:latin typeface="Arial"/>
                <a:ea typeface="Arial"/>
                <a:cs typeface="Arial"/>
                <a:sym typeface="Arial"/>
              </a:rPr>
              <a:t>著者：Samer Hanna, Samurdhi Karunaratne, Danijela Cabric</a:t>
            </a:r>
            <a:endParaRPr b="0" i="0" sz="2800" u="none" cap="none" strike="noStrike">
              <a:solidFill>
                <a:srgbClr val="000000"/>
              </a:solidFill>
              <a:latin typeface="Arial"/>
              <a:ea typeface="Arial"/>
              <a:cs typeface="Arial"/>
              <a:sym typeface="Arial"/>
            </a:endParaRPr>
          </a:p>
        </p:txBody>
      </p:sp>
      <p:sp>
        <p:nvSpPr>
          <p:cNvPr id="22" name="Google Shape;22;p1"/>
          <p:cNvSpPr/>
          <p:nvPr/>
        </p:nvSpPr>
        <p:spPr>
          <a:xfrm>
            <a:off x="1292278" y="4851278"/>
            <a:ext cx="8442960" cy="2147398"/>
          </a:xfrm>
          <a:prstGeom prst="rect">
            <a:avLst/>
          </a:prstGeom>
          <a:noFill/>
          <a:ln>
            <a:noFill/>
          </a:ln>
        </p:spPr>
        <p:txBody>
          <a:bodyPr anchorCtr="0" anchor="ctr" bIns="350" lIns="350" spcFirstLastPara="1" rIns="350" wrap="square" tIns="350">
            <a:noAutofit/>
          </a:bodyPr>
          <a:lstStyle/>
          <a:p>
            <a:pPr indent="0" lvl="0" marL="0" marR="0" rtl="0" algn="ctr">
              <a:lnSpc>
                <a:spcPct val="100000"/>
              </a:lnSpc>
              <a:spcBef>
                <a:spcPts val="0"/>
              </a:spcBef>
              <a:spcAft>
                <a:spcPts val="0"/>
              </a:spcAft>
              <a:buNone/>
            </a:pPr>
            <a:r>
              <a:rPr b="0" i="0" lang="zh-CN" sz="2800" u="none" cap="none" strike="noStrike">
                <a:solidFill>
                  <a:srgbClr val="111111"/>
                </a:solidFill>
                <a:latin typeface="Arial"/>
                <a:ea typeface="Arial"/>
                <a:cs typeface="Arial"/>
                <a:sym typeface="Arial"/>
              </a:rPr>
              <a:t>発表者：畔上昂大</a:t>
            </a:r>
            <a:endParaRPr b="0" i="0" sz="2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zh-CN" sz="2800" u="none" cap="none" strike="noStrike">
                <a:solidFill>
                  <a:srgbClr val="111111"/>
                </a:solidFill>
                <a:latin typeface="Arial"/>
                <a:ea typeface="Arial"/>
                <a:cs typeface="Arial"/>
                <a:sym typeface="Arial"/>
              </a:rPr>
              <a:t>所属：麗澤大学工学部情報システム工学専攻３年</a:t>
            </a:r>
            <a:endParaRPr b="0" i="0" sz="2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zh-CN" sz="2800" u="none" cap="none" strike="noStrike">
                <a:solidFill>
                  <a:srgbClr val="111111"/>
                </a:solidFill>
                <a:latin typeface="Arial"/>
                <a:ea typeface="Arial"/>
                <a:cs typeface="Arial"/>
                <a:sym typeface="Arial"/>
              </a:rPr>
              <a:t>日付：5/9</a:t>
            </a:r>
            <a:endParaRPr b="0" i="0" sz="2800" u="none" cap="none" strike="noStrike">
              <a:solidFill>
                <a:srgbClr val="000000"/>
              </a:solidFill>
              <a:latin typeface="Arial"/>
              <a:ea typeface="Arial"/>
              <a:cs typeface="Arial"/>
              <a:sym typeface="Arial"/>
            </a:endParaRPr>
          </a:p>
        </p:txBody>
      </p:sp>
      <p:sp>
        <p:nvSpPr>
          <p:cNvPr id="23" name="Google Shape;23;p1"/>
          <p:cNvSpPr/>
          <p:nvPr/>
        </p:nvSpPr>
        <p:spPr>
          <a:xfrm>
            <a:off x="11612880" y="6473880"/>
            <a:ext cx="319680" cy="1641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zh-CN" sz="800" u="none" cap="none" strike="noStrike">
                <a:solidFill>
                  <a:srgbClr val="777777"/>
                </a:solidFill>
                <a:latin typeface="Arial"/>
                <a:ea typeface="Arial"/>
                <a:cs typeface="Arial"/>
                <a:sym typeface="Arial"/>
              </a:rPr>
              <a:t>1</a:t>
            </a:r>
            <a:endParaRPr b="0" i="0" sz="8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 name="Shape 28"/>
        <p:cNvGrpSpPr/>
        <p:nvPr/>
      </p:nvGrpSpPr>
      <p:grpSpPr>
        <a:xfrm>
          <a:off x="0" y="0"/>
          <a:ext cx="0" cy="0"/>
          <a:chOff x="0" y="0"/>
          <a:chExt cx="0" cy="0"/>
        </a:xfrm>
      </p:grpSpPr>
      <p:sp>
        <p:nvSpPr>
          <p:cNvPr id="29" name="Google Shape;29;p2"/>
          <p:cNvSpPr/>
          <p:nvPr/>
        </p:nvSpPr>
        <p:spPr>
          <a:xfrm>
            <a:off x="502920" y="228600"/>
            <a:ext cx="11063880" cy="383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zh-CN" sz="4000" u="none" cap="none" strike="noStrike">
                <a:solidFill>
                  <a:srgbClr val="111111"/>
                </a:solidFill>
                <a:latin typeface="Arial"/>
                <a:ea typeface="Arial"/>
                <a:cs typeface="Arial"/>
                <a:sym typeface="Arial"/>
              </a:rPr>
              <a:t>発表の流れ</a:t>
            </a:r>
            <a:endParaRPr b="0" i="0" sz="4000" u="none" cap="none" strike="noStrike">
              <a:solidFill>
                <a:srgbClr val="000000"/>
              </a:solidFill>
              <a:latin typeface="Arial"/>
              <a:ea typeface="Arial"/>
              <a:cs typeface="Arial"/>
              <a:sym typeface="Arial"/>
            </a:endParaRPr>
          </a:p>
        </p:txBody>
      </p:sp>
      <p:cxnSp>
        <p:nvCxnSpPr>
          <p:cNvPr id="30" name="Google Shape;30;p2"/>
          <p:cNvCxnSpPr/>
          <p:nvPr/>
        </p:nvCxnSpPr>
        <p:spPr>
          <a:xfrm>
            <a:off x="502920" y="786240"/>
            <a:ext cx="11155680" cy="360"/>
          </a:xfrm>
          <a:prstGeom prst="straightConnector1">
            <a:avLst/>
          </a:prstGeom>
          <a:noFill/>
          <a:ln cap="flat" cmpd="sng" w="15225">
            <a:solidFill>
              <a:srgbClr val="003B5C"/>
            </a:solidFill>
            <a:prstDash val="solid"/>
            <a:round/>
            <a:headEnd len="sm" w="sm" type="none"/>
            <a:tailEnd len="sm" w="sm" type="none"/>
          </a:ln>
        </p:spPr>
      </p:cxnSp>
      <p:sp>
        <p:nvSpPr>
          <p:cNvPr id="31" name="Google Shape;31;p2"/>
          <p:cNvSpPr/>
          <p:nvPr/>
        </p:nvSpPr>
        <p:spPr>
          <a:xfrm>
            <a:off x="502920" y="1706546"/>
            <a:ext cx="5836186" cy="2861963"/>
          </a:xfrm>
          <a:prstGeom prst="rect">
            <a:avLst/>
          </a:prstGeom>
          <a:noFill/>
          <a:ln>
            <a:noFill/>
          </a:ln>
        </p:spPr>
        <p:txBody>
          <a:bodyPr anchorCtr="0" anchor="ctr" bIns="350" lIns="350" spcFirstLastPara="1" rIns="350" wrap="square" tIns="350">
            <a:normAutofit/>
          </a:bodyPr>
          <a:lstStyle/>
          <a:p>
            <a:pPr indent="-342900" lvl="0" marL="342900" marR="0" rtl="0" algn="l">
              <a:lnSpc>
                <a:spcPct val="100000"/>
              </a:lnSpc>
              <a:spcBef>
                <a:spcPts val="0"/>
              </a:spcBef>
              <a:spcAft>
                <a:spcPts val="0"/>
              </a:spcAft>
              <a:buClr>
                <a:srgbClr val="111111"/>
              </a:buClr>
              <a:buSzPts val="3600"/>
              <a:buFont typeface="Arial"/>
              <a:buAutoNum type="arabicPeriod"/>
            </a:pPr>
            <a:r>
              <a:rPr b="1" i="0" lang="zh-CN" sz="3600" u="none" cap="none" strike="noStrike">
                <a:solidFill>
                  <a:srgbClr val="111111"/>
                </a:solidFill>
                <a:latin typeface="Arial"/>
                <a:ea typeface="Arial"/>
                <a:cs typeface="Arial"/>
                <a:sym typeface="Arial"/>
              </a:rPr>
              <a:t>無線指紋とは何か</a:t>
            </a:r>
            <a:endParaRPr b="1" i="0" sz="36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111111"/>
              </a:buClr>
              <a:buSzPts val="3600"/>
              <a:buFont typeface="Arial"/>
              <a:buAutoNum type="arabicPeriod"/>
            </a:pPr>
            <a:r>
              <a:rPr b="1" i="0" lang="zh-CN" sz="3600" u="none" cap="none" strike="noStrike">
                <a:solidFill>
                  <a:srgbClr val="111111"/>
                </a:solidFill>
                <a:latin typeface="Arial"/>
                <a:ea typeface="Arial"/>
                <a:cs typeface="Arial"/>
                <a:sym typeface="Arial"/>
              </a:rPr>
              <a:t>問題設定</a:t>
            </a:r>
            <a:endParaRPr b="1" i="0" sz="36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111111"/>
              </a:buClr>
              <a:buSzPts val="3600"/>
              <a:buFont typeface="Arial"/>
              <a:buAutoNum type="arabicPeriod"/>
            </a:pPr>
            <a:r>
              <a:rPr b="1" i="0" lang="zh-CN" sz="3600" u="none" cap="none" strike="noStrike">
                <a:solidFill>
                  <a:srgbClr val="111111"/>
                </a:solidFill>
                <a:latin typeface="Arial"/>
                <a:ea typeface="Arial"/>
                <a:cs typeface="Arial"/>
                <a:sym typeface="Arial"/>
              </a:rPr>
              <a:t>既存研究の課題</a:t>
            </a:r>
            <a:endParaRPr b="1" i="0" sz="36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111111"/>
              </a:buClr>
              <a:buSzPts val="3600"/>
              <a:buFont typeface="Arial"/>
              <a:buAutoNum type="arabicPeriod"/>
            </a:pPr>
            <a:r>
              <a:rPr b="1" i="0" lang="zh-CN" sz="3600" u="none" cap="none" strike="noStrike">
                <a:solidFill>
                  <a:srgbClr val="111111"/>
                </a:solidFill>
                <a:latin typeface="Arial"/>
                <a:ea typeface="Arial"/>
                <a:cs typeface="Arial"/>
                <a:sym typeface="Arial"/>
              </a:rPr>
              <a:t>WiSig論文の位置づけ</a:t>
            </a:r>
            <a:endParaRPr b="1" i="0" sz="36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111111"/>
              </a:buClr>
              <a:buSzPts val="3600"/>
              <a:buFont typeface="Arial"/>
              <a:buAutoNum type="arabicPeriod"/>
            </a:pPr>
            <a:r>
              <a:rPr b="1" i="0" lang="zh-CN" sz="3600" u="none" cap="none" strike="noStrike">
                <a:solidFill>
                  <a:srgbClr val="111111"/>
                </a:solidFill>
                <a:latin typeface="Arial"/>
                <a:ea typeface="Arial"/>
                <a:cs typeface="Arial"/>
                <a:sym typeface="Arial"/>
              </a:rPr>
              <a:t>WiSigデータセットの構成</a:t>
            </a:r>
            <a:endParaRPr b="1" i="0" sz="3600" u="none" cap="none" strike="noStrike">
              <a:solidFill>
                <a:srgbClr val="000000"/>
              </a:solidFill>
              <a:latin typeface="Arial"/>
              <a:ea typeface="Arial"/>
              <a:cs typeface="Arial"/>
              <a:sym typeface="Arial"/>
            </a:endParaRPr>
          </a:p>
        </p:txBody>
      </p:sp>
      <p:sp>
        <p:nvSpPr>
          <p:cNvPr id="32" name="Google Shape;32;p2"/>
          <p:cNvSpPr/>
          <p:nvPr/>
        </p:nvSpPr>
        <p:spPr>
          <a:xfrm>
            <a:off x="11612880" y="6473880"/>
            <a:ext cx="319680" cy="1641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zh-CN" sz="800" u="none" cap="none" strike="noStrike">
                <a:solidFill>
                  <a:srgbClr val="777777"/>
                </a:solidFill>
                <a:latin typeface="Arial"/>
                <a:ea typeface="Arial"/>
                <a:cs typeface="Arial"/>
                <a:sym typeface="Arial"/>
              </a:rPr>
              <a:t>2</a:t>
            </a:r>
            <a:endParaRPr b="0" i="0" sz="800" u="none" cap="none" strike="noStrike">
              <a:solidFill>
                <a:srgbClr val="000000"/>
              </a:solidFill>
              <a:latin typeface="Arial"/>
              <a:ea typeface="Arial"/>
              <a:cs typeface="Arial"/>
              <a:sym typeface="Arial"/>
            </a:endParaRPr>
          </a:p>
        </p:txBody>
      </p:sp>
      <p:sp>
        <p:nvSpPr>
          <p:cNvPr id="33" name="Google Shape;33;p2"/>
          <p:cNvSpPr txBox="1"/>
          <p:nvPr/>
        </p:nvSpPr>
        <p:spPr>
          <a:xfrm>
            <a:off x="6492608" y="1706187"/>
            <a:ext cx="7578810" cy="28623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zh-CN" sz="3600" u="none" cap="none" strike="noStrike">
                <a:solidFill>
                  <a:srgbClr val="111111"/>
                </a:solidFill>
                <a:latin typeface="Arial"/>
                <a:ea typeface="Arial"/>
                <a:cs typeface="Arial"/>
                <a:sym typeface="Arial"/>
              </a:rPr>
              <a:t>6.処理パイプライン</a:t>
            </a:r>
            <a:endParaRPr b="1" i="0" sz="3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zh-CN" sz="3600" u="none" cap="none" strike="noStrike">
                <a:solidFill>
                  <a:srgbClr val="111111"/>
                </a:solidFill>
                <a:latin typeface="Arial"/>
                <a:ea typeface="Arial"/>
                <a:cs typeface="Arial"/>
                <a:sym typeface="Arial"/>
              </a:rPr>
              <a:t>7.評価用モデル</a:t>
            </a:r>
            <a:endParaRPr b="1" i="0" sz="3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zh-CN" sz="3600" u="none" cap="none" strike="noStrike">
                <a:solidFill>
                  <a:srgbClr val="111111"/>
                </a:solidFill>
                <a:latin typeface="Arial"/>
                <a:ea typeface="Arial"/>
                <a:cs typeface="Arial"/>
                <a:sym typeface="Arial"/>
              </a:rPr>
              <a:t>8.実験設定</a:t>
            </a:r>
            <a:endParaRPr b="1" i="0" sz="3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zh-CN" sz="3600" u="none" cap="none" strike="noStrike">
                <a:solidFill>
                  <a:srgbClr val="111111"/>
                </a:solidFill>
                <a:latin typeface="Arial"/>
                <a:ea typeface="Arial"/>
                <a:cs typeface="Arial"/>
                <a:sym typeface="Arial"/>
              </a:rPr>
              <a:t>9.結果と考察</a:t>
            </a:r>
            <a:endParaRPr b="1" i="0" sz="3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zh-CN" sz="3600" u="none" cap="none" strike="noStrike">
                <a:solidFill>
                  <a:srgbClr val="111111"/>
                </a:solidFill>
                <a:latin typeface="Arial"/>
                <a:ea typeface="Arial"/>
                <a:cs typeface="Arial"/>
                <a:sym typeface="Arial"/>
              </a:rPr>
              <a:t>10.限界と今後の展望</a:t>
            </a:r>
            <a:endParaRPr b="1" i="0" sz="36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p3"/>
          <p:cNvSpPr/>
          <p:nvPr/>
        </p:nvSpPr>
        <p:spPr>
          <a:xfrm>
            <a:off x="502920" y="228600"/>
            <a:ext cx="11063880" cy="383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zh-CN" sz="4000" u="none" cap="none" strike="noStrike">
                <a:solidFill>
                  <a:srgbClr val="111111"/>
                </a:solidFill>
                <a:latin typeface="Arial"/>
                <a:ea typeface="Arial"/>
                <a:cs typeface="Arial"/>
                <a:sym typeface="Arial"/>
              </a:rPr>
              <a:t>背景：なぜ無線指紋が重要か</a:t>
            </a:r>
            <a:endParaRPr b="0" i="0" sz="4000" u="none" cap="none" strike="noStrike">
              <a:solidFill>
                <a:srgbClr val="000000"/>
              </a:solidFill>
              <a:latin typeface="Arial"/>
              <a:ea typeface="Arial"/>
              <a:cs typeface="Arial"/>
              <a:sym typeface="Arial"/>
            </a:endParaRPr>
          </a:p>
        </p:txBody>
      </p:sp>
      <p:cxnSp>
        <p:nvCxnSpPr>
          <p:cNvPr id="40" name="Google Shape;40;p3"/>
          <p:cNvCxnSpPr/>
          <p:nvPr/>
        </p:nvCxnSpPr>
        <p:spPr>
          <a:xfrm>
            <a:off x="502920" y="786240"/>
            <a:ext cx="11155680" cy="360"/>
          </a:xfrm>
          <a:prstGeom prst="straightConnector1">
            <a:avLst/>
          </a:prstGeom>
          <a:noFill/>
          <a:ln cap="flat" cmpd="sng" w="15225">
            <a:solidFill>
              <a:srgbClr val="003B5C"/>
            </a:solidFill>
            <a:prstDash val="solid"/>
            <a:round/>
            <a:headEnd len="sm" w="sm" type="none"/>
            <a:tailEnd len="sm" w="sm" type="none"/>
          </a:ln>
        </p:spPr>
      </p:cxnSp>
      <p:sp>
        <p:nvSpPr>
          <p:cNvPr id="41" name="Google Shape;41;p3"/>
          <p:cNvSpPr/>
          <p:nvPr/>
        </p:nvSpPr>
        <p:spPr>
          <a:xfrm>
            <a:off x="731520" y="960480"/>
            <a:ext cx="4708800" cy="5230280"/>
          </a:xfrm>
          <a:prstGeom prst="rect">
            <a:avLst/>
          </a:prstGeom>
          <a:noFill/>
          <a:ln>
            <a:noFill/>
          </a:ln>
        </p:spPr>
        <p:txBody>
          <a:bodyPr anchorCtr="0" anchor="ctr" bIns="350" lIns="350" spcFirstLastPara="1" rIns="350" wrap="square" tIns="350">
            <a:noAutofit/>
          </a:bodyPr>
          <a:lstStyle/>
          <a:p>
            <a:pPr indent="0" lvl="0" marL="0" marR="0" rtl="0" algn="l">
              <a:lnSpc>
                <a:spcPct val="100000"/>
              </a:lnSpc>
              <a:spcBef>
                <a:spcPts val="0"/>
              </a:spcBef>
              <a:spcAft>
                <a:spcPts val="0"/>
              </a:spcAft>
              <a:buNone/>
            </a:pPr>
            <a:r>
              <a:rPr b="0" i="0" lang="zh-CN" sz="2800" u="none" cap="none" strike="noStrike">
                <a:solidFill>
                  <a:srgbClr val="000000"/>
                </a:solidFill>
                <a:latin typeface="Arial"/>
                <a:ea typeface="Arial"/>
                <a:cs typeface="Arial"/>
                <a:sym typeface="Arial"/>
              </a:rPr>
              <a:t>現在では一つのルータに対して複数の通信機器が接続するとき、ID/Passwordを使用する。</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CN" sz="2800" u="none" cap="none" strike="noStrike">
                <a:solidFill>
                  <a:srgbClr val="000000"/>
                </a:solidFill>
                <a:latin typeface="Arial"/>
                <a:ea typeface="Arial"/>
                <a:cs typeface="Arial"/>
                <a:sym typeface="Arial"/>
              </a:rPr>
              <a:t>これに対しFPを使用することでより低レイヤで区別することができる。これにより、受信機側で接続端末が正当なものであることを確認する新たな手段を得ることができる</a:t>
            </a:r>
            <a:endParaRPr b="0" i="0" sz="2800" u="none" cap="none" strike="noStrike">
              <a:solidFill>
                <a:srgbClr val="000000"/>
              </a:solidFill>
              <a:latin typeface="Arial"/>
              <a:ea typeface="Arial"/>
              <a:cs typeface="Arial"/>
              <a:sym typeface="Arial"/>
            </a:endParaRPr>
          </a:p>
        </p:txBody>
      </p:sp>
      <p:sp>
        <p:nvSpPr>
          <p:cNvPr id="42" name="Google Shape;42;p3"/>
          <p:cNvSpPr/>
          <p:nvPr/>
        </p:nvSpPr>
        <p:spPr>
          <a:xfrm>
            <a:off x="5760720" y="1508760"/>
            <a:ext cx="1599840" cy="776880"/>
          </a:xfrm>
          <a:prstGeom prst="rect">
            <a:avLst/>
          </a:prstGeom>
          <a:solidFill>
            <a:srgbClr val="EAF6EF"/>
          </a:solidFill>
          <a:ln cap="flat" cmpd="sng" w="12700">
            <a:solidFill>
              <a:srgbClr val="00A651"/>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i="0" lang="zh-CN" sz="1450" u="none" cap="none" strike="noStrike">
                <a:solidFill>
                  <a:srgbClr val="111111"/>
                </a:solidFill>
                <a:latin typeface="Arial"/>
                <a:ea typeface="Arial"/>
                <a:cs typeface="Arial"/>
                <a:sym typeface="Arial"/>
              </a:rPr>
              <a:t>正規IoT機器</a:t>
            </a:r>
            <a:endParaRPr b="0" i="0" sz="14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zh-CN" sz="1450" u="none" cap="none" strike="noStrike">
                <a:solidFill>
                  <a:srgbClr val="111111"/>
                </a:solidFill>
                <a:latin typeface="Arial"/>
                <a:ea typeface="Arial"/>
                <a:cs typeface="Arial"/>
                <a:sym typeface="Arial"/>
              </a:rPr>
              <a:t>ID: A</a:t>
            </a:r>
            <a:endParaRPr b="0" i="0" sz="1450" u="none" cap="none" strike="noStrike">
              <a:solidFill>
                <a:srgbClr val="000000"/>
              </a:solidFill>
              <a:latin typeface="Arial"/>
              <a:ea typeface="Arial"/>
              <a:cs typeface="Arial"/>
              <a:sym typeface="Arial"/>
            </a:endParaRPr>
          </a:p>
        </p:txBody>
      </p:sp>
      <p:sp>
        <p:nvSpPr>
          <p:cNvPr id="43" name="Google Shape;43;p3"/>
          <p:cNvSpPr/>
          <p:nvPr/>
        </p:nvSpPr>
        <p:spPr>
          <a:xfrm>
            <a:off x="5760720" y="4069080"/>
            <a:ext cx="1599840" cy="776880"/>
          </a:xfrm>
          <a:prstGeom prst="rect">
            <a:avLst/>
          </a:prstGeom>
          <a:solidFill>
            <a:srgbClr val="FCEEEE"/>
          </a:solidFill>
          <a:ln cap="flat" cmpd="sng" w="12700">
            <a:solidFill>
              <a:srgbClr val="C00000"/>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i="0" lang="zh-CN" sz="1450" u="none" cap="none" strike="noStrike">
                <a:solidFill>
                  <a:srgbClr val="C00000"/>
                </a:solidFill>
                <a:latin typeface="Arial"/>
                <a:ea typeface="Arial"/>
                <a:cs typeface="Arial"/>
                <a:sym typeface="Arial"/>
              </a:rPr>
              <a:t>攻撃者</a:t>
            </a:r>
            <a:endParaRPr b="0" i="0" sz="14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zh-CN" sz="1450" u="none" cap="none" strike="noStrike">
                <a:solidFill>
                  <a:srgbClr val="C00000"/>
                </a:solidFill>
                <a:latin typeface="Arial"/>
                <a:ea typeface="Arial"/>
                <a:cs typeface="Arial"/>
                <a:sym typeface="Arial"/>
              </a:rPr>
              <a:t>ID: Aに偽装</a:t>
            </a:r>
            <a:endParaRPr b="0" i="0" sz="1450" u="none" cap="none" strike="noStrike">
              <a:solidFill>
                <a:srgbClr val="000000"/>
              </a:solidFill>
              <a:latin typeface="Arial"/>
              <a:ea typeface="Arial"/>
              <a:cs typeface="Arial"/>
              <a:sym typeface="Arial"/>
            </a:endParaRPr>
          </a:p>
        </p:txBody>
      </p:sp>
      <p:sp>
        <p:nvSpPr>
          <p:cNvPr id="44" name="Google Shape;44;p3"/>
          <p:cNvSpPr/>
          <p:nvPr/>
        </p:nvSpPr>
        <p:spPr>
          <a:xfrm>
            <a:off x="9555480" y="2788920"/>
            <a:ext cx="1371240" cy="685440"/>
          </a:xfrm>
          <a:prstGeom prst="rect">
            <a:avLst/>
          </a:prstGeom>
          <a:solidFill>
            <a:srgbClr val="FFFFFF"/>
          </a:solidFill>
          <a:ln cap="flat" cmpd="sng" w="12700">
            <a:solidFill>
              <a:srgbClr val="111111"/>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i="0" lang="zh-CN" sz="1450" u="none" cap="none" strike="noStrike">
                <a:solidFill>
                  <a:srgbClr val="111111"/>
                </a:solidFill>
                <a:latin typeface="Arial"/>
                <a:ea typeface="Arial"/>
                <a:cs typeface="Arial"/>
                <a:sym typeface="Arial"/>
              </a:rPr>
              <a:t>受信機</a:t>
            </a:r>
            <a:endParaRPr b="0" i="0" sz="1450" u="none" cap="none" strike="noStrike">
              <a:solidFill>
                <a:srgbClr val="000000"/>
              </a:solidFill>
              <a:latin typeface="Arial"/>
              <a:ea typeface="Arial"/>
              <a:cs typeface="Arial"/>
              <a:sym typeface="Arial"/>
            </a:endParaRPr>
          </a:p>
        </p:txBody>
      </p:sp>
      <p:cxnSp>
        <p:nvCxnSpPr>
          <p:cNvPr id="45" name="Google Shape;45;p3"/>
          <p:cNvCxnSpPr/>
          <p:nvPr/>
        </p:nvCxnSpPr>
        <p:spPr>
          <a:xfrm>
            <a:off x="7360920" y="1901880"/>
            <a:ext cx="2130480" cy="1069920"/>
          </a:xfrm>
          <a:prstGeom prst="straightConnector1">
            <a:avLst/>
          </a:prstGeom>
          <a:noFill/>
          <a:ln cap="flat" cmpd="sng" w="15225">
            <a:solidFill>
              <a:srgbClr val="00A651"/>
            </a:solidFill>
            <a:prstDash val="solid"/>
            <a:round/>
            <a:headEnd len="sm" w="sm" type="none"/>
            <a:tailEnd len="med" w="med" type="triangle"/>
          </a:ln>
        </p:spPr>
      </p:cxnSp>
      <p:cxnSp>
        <p:nvCxnSpPr>
          <p:cNvPr id="46" name="Google Shape;46;p3"/>
          <p:cNvCxnSpPr/>
          <p:nvPr/>
        </p:nvCxnSpPr>
        <p:spPr>
          <a:xfrm flipH="1" rot="10800000">
            <a:off x="7360920" y="3246120"/>
            <a:ext cx="2130480" cy="1216080"/>
          </a:xfrm>
          <a:prstGeom prst="straightConnector1">
            <a:avLst/>
          </a:prstGeom>
          <a:noFill/>
          <a:ln cap="flat" cmpd="sng" w="15225">
            <a:solidFill>
              <a:srgbClr val="C00000"/>
            </a:solidFill>
            <a:prstDash val="solid"/>
            <a:round/>
            <a:headEnd len="sm" w="sm" type="none"/>
            <a:tailEnd len="med" w="med" type="triangle"/>
          </a:ln>
        </p:spPr>
      </p:cxnSp>
      <p:sp>
        <p:nvSpPr>
          <p:cNvPr id="47" name="Google Shape;47;p3"/>
          <p:cNvSpPr/>
          <p:nvPr/>
        </p:nvSpPr>
        <p:spPr>
          <a:xfrm>
            <a:off x="7452360" y="1325880"/>
            <a:ext cx="1919880" cy="273960"/>
          </a:xfrm>
          <a:prstGeom prst="rect">
            <a:avLst/>
          </a:prstGeom>
          <a:noFill/>
          <a:ln>
            <a:noFill/>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0" i="0" lang="zh-CN" sz="1250" u="none" cap="none" strike="noStrike">
                <a:solidFill>
                  <a:srgbClr val="C00000"/>
                </a:solidFill>
                <a:latin typeface="Arial"/>
                <a:ea typeface="Arial"/>
                <a:cs typeface="Arial"/>
                <a:sym typeface="Arial"/>
              </a:rPr>
              <a:t>IDだけでは区別が難しい</a:t>
            </a:r>
            <a:endParaRPr b="0" i="0" sz="1250" u="none" cap="none" strike="noStrike">
              <a:solidFill>
                <a:srgbClr val="000000"/>
              </a:solidFill>
              <a:latin typeface="Arial"/>
              <a:ea typeface="Arial"/>
              <a:cs typeface="Arial"/>
              <a:sym typeface="Arial"/>
            </a:endParaRPr>
          </a:p>
        </p:txBody>
      </p:sp>
      <p:sp>
        <p:nvSpPr>
          <p:cNvPr id="48" name="Google Shape;48;p3"/>
          <p:cNvSpPr/>
          <p:nvPr/>
        </p:nvSpPr>
        <p:spPr>
          <a:xfrm>
            <a:off x="8001000" y="5074920"/>
            <a:ext cx="2194200" cy="502560"/>
          </a:xfrm>
          <a:prstGeom prst="rect">
            <a:avLst/>
          </a:prstGeom>
          <a:solidFill>
            <a:srgbClr val="FFFFFF"/>
          </a:solidFill>
          <a:ln cap="flat" cmpd="sng" w="12700">
            <a:solidFill>
              <a:srgbClr val="003B5C"/>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i="0" lang="zh-CN" sz="1300" u="none" cap="none" strike="noStrike">
                <a:solidFill>
                  <a:srgbClr val="003B5C"/>
                </a:solidFill>
                <a:latin typeface="Arial"/>
                <a:ea typeface="Arial"/>
                <a:cs typeface="Arial"/>
                <a:sym typeface="Arial"/>
              </a:rPr>
              <a:t>信号特徴で識別</a:t>
            </a:r>
            <a:endParaRPr b="0" i="0" sz="1300" u="none" cap="none" strike="noStrike">
              <a:solidFill>
                <a:srgbClr val="000000"/>
              </a:solidFill>
              <a:latin typeface="Arial"/>
              <a:ea typeface="Arial"/>
              <a:cs typeface="Arial"/>
              <a:sym typeface="Arial"/>
            </a:endParaRPr>
          </a:p>
        </p:txBody>
      </p:sp>
      <p:sp>
        <p:nvSpPr>
          <p:cNvPr id="49" name="Google Shape;49;p3"/>
          <p:cNvSpPr/>
          <p:nvPr/>
        </p:nvSpPr>
        <p:spPr>
          <a:xfrm>
            <a:off x="11612880" y="6473880"/>
            <a:ext cx="319680" cy="1641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zh-CN" sz="800" u="none" cap="none" strike="noStrike">
                <a:solidFill>
                  <a:srgbClr val="777777"/>
                </a:solidFill>
                <a:latin typeface="Arial"/>
                <a:ea typeface="Arial"/>
                <a:cs typeface="Arial"/>
                <a:sym typeface="Arial"/>
              </a:rPr>
              <a:t>3</a:t>
            </a:r>
            <a:endParaRPr b="0" i="0" sz="8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4"/>
          <p:cNvSpPr/>
          <p:nvPr/>
        </p:nvSpPr>
        <p:spPr>
          <a:xfrm>
            <a:off x="502920" y="228600"/>
            <a:ext cx="11063880" cy="383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zh-CN" sz="4000" u="none" cap="none" strike="noStrike">
                <a:solidFill>
                  <a:srgbClr val="111111"/>
                </a:solidFill>
                <a:latin typeface="Arial"/>
                <a:ea typeface="Arial"/>
                <a:cs typeface="Arial"/>
                <a:sym typeface="Arial"/>
              </a:rPr>
              <a:t>背景：なぜ無線指紋が重要か</a:t>
            </a:r>
            <a:endParaRPr b="0" i="0" sz="4000" u="none" cap="none" strike="noStrike">
              <a:solidFill>
                <a:srgbClr val="000000"/>
              </a:solidFill>
              <a:latin typeface="Arial"/>
              <a:ea typeface="Arial"/>
              <a:cs typeface="Arial"/>
              <a:sym typeface="Arial"/>
            </a:endParaRPr>
          </a:p>
        </p:txBody>
      </p:sp>
      <p:cxnSp>
        <p:nvCxnSpPr>
          <p:cNvPr id="56" name="Google Shape;56;p4"/>
          <p:cNvCxnSpPr/>
          <p:nvPr/>
        </p:nvCxnSpPr>
        <p:spPr>
          <a:xfrm>
            <a:off x="502920" y="786240"/>
            <a:ext cx="11155680" cy="360"/>
          </a:xfrm>
          <a:prstGeom prst="straightConnector1">
            <a:avLst/>
          </a:prstGeom>
          <a:noFill/>
          <a:ln cap="flat" cmpd="sng" w="15225">
            <a:solidFill>
              <a:srgbClr val="003B5C"/>
            </a:solidFill>
            <a:prstDash val="solid"/>
            <a:round/>
            <a:headEnd len="sm" w="sm" type="none"/>
            <a:tailEnd len="sm" w="sm" type="none"/>
          </a:ln>
        </p:spPr>
      </p:cxnSp>
      <p:sp>
        <p:nvSpPr>
          <p:cNvPr id="57" name="Google Shape;57;p4"/>
          <p:cNvSpPr/>
          <p:nvPr/>
        </p:nvSpPr>
        <p:spPr>
          <a:xfrm>
            <a:off x="731520" y="960480"/>
            <a:ext cx="4708800" cy="5230280"/>
          </a:xfrm>
          <a:prstGeom prst="rect">
            <a:avLst/>
          </a:prstGeom>
          <a:noFill/>
          <a:ln>
            <a:noFill/>
          </a:ln>
        </p:spPr>
        <p:txBody>
          <a:bodyPr anchorCtr="0" anchor="ctr" bIns="350" lIns="350" spcFirstLastPara="1" rIns="350" wrap="square" tIns="350">
            <a:noAutofit/>
          </a:bodyPr>
          <a:lstStyle/>
          <a:p>
            <a:pPr indent="0" lvl="0" marL="0" marR="0" rtl="0" algn="l">
              <a:lnSpc>
                <a:spcPct val="100000"/>
              </a:lnSpc>
              <a:spcBef>
                <a:spcPts val="0"/>
              </a:spcBef>
              <a:spcAft>
                <a:spcPts val="0"/>
              </a:spcAft>
              <a:buNone/>
            </a:pPr>
            <a:r>
              <a:rPr b="0" i="0" lang="zh-CN" sz="2800" u="none" cap="none" strike="noStrike">
                <a:solidFill>
                  <a:srgbClr val="000000"/>
                </a:solidFill>
                <a:latin typeface="Arial"/>
                <a:ea typeface="Arial"/>
                <a:cs typeface="Arial"/>
                <a:sym typeface="Arial"/>
              </a:rPr>
              <a:t>現在では一つのルータに対して複数の通信機器が接続するとき、ID/Passwordを使用する。</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CN" sz="2800" u="none" cap="none" strike="noStrike">
                <a:solidFill>
                  <a:srgbClr val="000000"/>
                </a:solidFill>
                <a:latin typeface="Arial"/>
                <a:ea typeface="Arial"/>
                <a:cs typeface="Arial"/>
                <a:sym typeface="Arial"/>
              </a:rPr>
              <a:t>これに対しFPを使用することでより低レイヤで区別することができる。これにより、受信機側で接続端末が正当なものであることを確認する新たな手段を得ることができる</a:t>
            </a:r>
            <a:endParaRPr b="0" i="0" sz="2800" u="none" cap="none" strike="noStrike">
              <a:solidFill>
                <a:srgbClr val="000000"/>
              </a:solidFill>
              <a:latin typeface="Arial"/>
              <a:ea typeface="Arial"/>
              <a:cs typeface="Arial"/>
              <a:sym typeface="Arial"/>
            </a:endParaRPr>
          </a:p>
        </p:txBody>
      </p:sp>
      <p:sp>
        <p:nvSpPr>
          <p:cNvPr id="58" name="Google Shape;58;p4"/>
          <p:cNvSpPr/>
          <p:nvPr/>
        </p:nvSpPr>
        <p:spPr>
          <a:xfrm>
            <a:off x="11612880" y="6473880"/>
            <a:ext cx="319680" cy="1641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zh-CN" sz="800" u="none" cap="none" strike="noStrike">
                <a:solidFill>
                  <a:srgbClr val="777777"/>
                </a:solidFill>
                <a:latin typeface="Arial"/>
                <a:ea typeface="Arial"/>
                <a:cs typeface="Arial"/>
                <a:sym typeface="Arial"/>
              </a:rPr>
              <a:t>3</a:t>
            </a:r>
            <a:endParaRPr b="0" i="0" sz="800" u="none" cap="none" strike="noStrike">
              <a:solidFill>
                <a:srgbClr val="000000"/>
              </a:solidFill>
              <a:latin typeface="Arial"/>
              <a:ea typeface="Arial"/>
              <a:cs typeface="Arial"/>
              <a:sym typeface="Arial"/>
            </a:endParaRPr>
          </a:p>
        </p:txBody>
      </p:sp>
      <p:pic>
        <p:nvPicPr>
          <p:cNvPr id="59" name="Google Shape;59;p4"/>
          <p:cNvPicPr preferRelativeResize="0"/>
          <p:nvPr/>
        </p:nvPicPr>
        <p:blipFill rotWithShape="1">
          <a:blip r:embed="rId3">
            <a:alphaModFix/>
          </a:blip>
          <a:srcRect b="0" l="0" r="0" t="46615"/>
          <a:stretch/>
        </p:blipFill>
        <p:spPr>
          <a:xfrm>
            <a:off x="6557905" y="4261530"/>
            <a:ext cx="4210050" cy="1810230"/>
          </a:xfrm>
          <a:prstGeom prst="rect">
            <a:avLst/>
          </a:prstGeom>
          <a:noFill/>
          <a:ln>
            <a:noFill/>
          </a:ln>
        </p:spPr>
      </p:pic>
      <p:pic>
        <p:nvPicPr>
          <p:cNvPr descr="最適なID・パスワード管理とは？｜エフコムのIT-Tips!" id="60" name="Google Shape;60;p4"/>
          <p:cNvPicPr preferRelativeResize="0"/>
          <p:nvPr/>
        </p:nvPicPr>
        <p:blipFill rotWithShape="1">
          <a:blip r:embed="rId4">
            <a:alphaModFix/>
          </a:blip>
          <a:srcRect b="0" l="0" r="0" t="0"/>
          <a:stretch/>
        </p:blipFill>
        <p:spPr>
          <a:xfrm>
            <a:off x="7252886" y="1091932"/>
            <a:ext cx="2533650" cy="1809750"/>
          </a:xfrm>
          <a:prstGeom prst="rect">
            <a:avLst/>
          </a:prstGeom>
          <a:noFill/>
          <a:ln>
            <a:noFill/>
          </a:ln>
        </p:spPr>
      </p:pic>
      <p:sp>
        <p:nvSpPr>
          <p:cNvPr id="61" name="Google Shape;61;p4"/>
          <p:cNvSpPr/>
          <p:nvPr/>
        </p:nvSpPr>
        <p:spPr>
          <a:xfrm>
            <a:off x="7194014" y="3161841"/>
            <a:ext cx="2754217" cy="922209"/>
          </a:xfrm>
          <a:prstGeom prst="downArrow">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 name="Shape 66"/>
        <p:cNvGrpSpPr/>
        <p:nvPr/>
      </p:nvGrpSpPr>
      <p:grpSpPr>
        <a:xfrm>
          <a:off x="0" y="0"/>
          <a:ext cx="0" cy="0"/>
          <a:chOff x="0" y="0"/>
          <a:chExt cx="0" cy="0"/>
        </a:xfrm>
      </p:grpSpPr>
      <p:sp>
        <p:nvSpPr>
          <p:cNvPr id="67" name="Google Shape;67;p5"/>
          <p:cNvSpPr/>
          <p:nvPr/>
        </p:nvSpPr>
        <p:spPr>
          <a:xfrm>
            <a:off x="502920" y="228600"/>
            <a:ext cx="11063880" cy="383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zh-CN" sz="2600" u="none" cap="none" strike="noStrike">
                <a:solidFill>
                  <a:srgbClr val="111111"/>
                </a:solidFill>
                <a:latin typeface="Arial"/>
                <a:ea typeface="Arial"/>
                <a:cs typeface="Arial"/>
                <a:sym typeface="Arial"/>
              </a:rPr>
              <a:t>無線指紋とは何か、どのように取得するのか</a:t>
            </a:r>
            <a:endParaRPr b="0" i="0" sz="2600" u="none" cap="none" strike="noStrike">
              <a:solidFill>
                <a:srgbClr val="000000"/>
              </a:solidFill>
              <a:latin typeface="Arial"/>
              <a:ea typeface="Arial"/>
              <a:cs typeface="Arial"/>
              <a:sym typeface="Arial"/>
            </a:endParaRPr>
          </a:p>
        </p:txBody>
      </p:sp>
      <p:cxnSp>
        <p:nvCxnSpPr>
          <p:cNvPr id="68" name="Google Shape;68;p5"/>
          <p:cNvCxnSpPr/>
          <p:nvPr/>
        </p:nvCxnSpPr>
        <p:spPr>
          <a:xfrm>
            <a:off x="502920" y="786240"/>
            <a:ext cx="11155680" cy="360"/>
          </a:xfrm>
          <a:prstGeom prst="straightConnector1">
            <a:avLst/>
          </a:prstGeom>
          <a:noFill/>
          <a:ln cap="flat" cmpd="sng" w="15225">
            <a:solidFill>
              <a:srgbClr val="003B5C"/>
            </a:solidFill>
            <a:prstDash val="solid"/>
            <a:round/>
            <a:headEnd len="sm" w="sm" type="none"/>
            <a:tailEnd len="sm" w="sm" type="none"/>
          </a:ln>
        </p:spPr>
      </p:cxnSp>
      <p:sp>
        <p:nvSpPr>
          <p:cNvPr id="69" name="Google Shape;69;p5"/>
          <p:cNvSpPr/>
          <p:nvPr/>
        </p:nvSpPr>
        <p:spPr>
          <a:xfrm>
            <a:off x="731520" y="1042920"/>
            <a:ext cx="4891680" cy="4095394"/>
          </a:xfrm>
          <a:prstGeom prst="rect">
            <a:avLst/>
          </a:prstGeom>
          <a:noFill/>
          <a:ln>
            <a:noFill/>
          </a:ln>
        </p:spPr>
        <p:txBody>
          <a:bodyPr anchorCtr="0" anchor="ctr" bIns="350" lIns="350" spcFirstLastPara="1" rIns="350" wrap="square" tIns="350">
            <a:noAutofit/>
          </a:bodyPr>
          <a:lstStyle/>
          <a:p>
            <a:pPr indent="0" lvl="0" marL="0" marR="0" rtl="0" algn="l">
              <a:lnSpc>
                <a:spcPct val="100000"/>
              </a:lnSpc>
              <a:spcBef>
                <a:spcPts val="0"/>
              </a:spcBef>
              <a:spcAft>
                <a:spcPts val="0"/>
              </a:spcAft>
              <a:buNone/>
            </a:pPr>
            <a:r>
              <a:rPr b="1" i="0" lang="zh-CN" sz="2400" u="none" cap="none" strike="noStrike">
                <a:solidFill>
                  <a:srgbClr val="111111"/>
                </a:solidFill>
                <a:latin typeface="Arial"/>
                <a:ea typeface="Arial"/>
                <a:cs typeface="Arial"/>
                <a:sym typeface="Arial"/>
              </a:rPr>
              <a:t>無線指紋</a:t>
            </a:r>
            <a:r>
              <a:rPr b="0" i="0" lang="zh-CN" sz="2400" u="none" cap="none" strike="noStrike">
                <a:solidFill>
                  <a:srgbClr val="111111"/>
                </a:solidFill>
                <a:latin typeface="Arial"/>
                <a:ea typeface="Arial"/>
                <a:cs typeface="Arial"/>
                <a:sym typeface="Arial"/>
              </a:rPr>
              <a:t>：送信機ごとに生じる信号のわずかな違い</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CN" sz="2400" u="none" cap="none" strike="noStrike">
                <a:solidFill>
                  <a:srgbClr val="111111"/>
                </a:solidFill>
                <a:latin typeface="Arial"/>
                <a:ea typeface="Arial"/>
                <a:cs typeface="Arial"/>
                <a:sym typeface="Arial"/>
              </a:rPr>
              <a:t>を使って送信機を識別する技術・識別子</a:t>
            </a:r>
            <a:endParaRPr b="0" i="0" sz="2400" u="none" cap="none" strike="noStrike">
              <a:solidFill>
                <a:srgbClr val="111111"/>
              </a:solidFill>
              <a:latin typeface="Arial"/>
              <a:ea typeface="Arial"/>
              <a:cs typeface="Arial"/>
              <a:sym typeface="Arial"/>
            </a:endParaRPr>
          </a:p>
          <a:p>
            <a:pPr indent="0" lvl="0" marL="0" marR="0" rtl="0" algn="l">
              <a:spcBef>
                <a:spcPts val="0"/>
              </a:spcBef>
              <a:spcAft>
                <a:spcPts val="0"/>
              </a:spcAft>
              <a:buNone/>
            </a:pPr>
            <a:r>
              <a:rPr b="1" i="0" lang="zh-CN" sz="2400" u="none" cap="none" strike="noStrike">
                <a:solidFill>
                  <a:srgbClr val="111111"/>
                </a:solidFill>
                <a:latin typeface="Arial"/>
                <a:ea typeface="Arial"/>
                <a:cs typeface="Arial"/>
                <a:sym typeface="Arial"/>
              </a:rPr>
              <a:t>入力</a:t>
            </a:r>
            <a:r>
              <a:rPr b="0" i="0" lang="zh-CN" sz="2400" u="none" cap="none" strike="noStrike">
                <a:solidFill>
                  <a:srgbClr val="111111"/>
                </a:solidFill>
                <a:latin typeface="Arial"/>
                <a:ea typeface="Arial"/>
                <a:cs typeface="Arial"/>
                <a:sym typeface="Arial"/>
              </a:rPr>
              <a:t>：受信したWiFi信号のIQサンプル</a:t>
            </a:r>
            <a:endParaRPr sz="2400">
              <a:solidFill>
                <a:srgbClr val="000000"/>
              </a:solidFill>
              <a:latin typeface="Arial"/>
              <a:ea typeface="Arial"/>
              <a:cs typeface="Arial"/>
              <a:sym typeface="Arial"/>
            </a:endParaRPr>
          </a:p>
          <a:p>
            <a:pPr indent="0" lvl="0" marL="0" marR="0" rtl="0" algn="l">
              <a:spcBef>
                <a:spcPts val="0"/>
              </a:spcBef>
              <a:spcAft>
                <a:spcPts val="0"/>
              </a:spcAft>
              <a:buNone/>
            </a:pPr>
            <a:r>
              <a:rPr b="1" lang="zh-CN" sz="2400">
                <a:solidFill>
                  <a:srgbClr val="111111"/>
                </a:solidFill>
                <a:latin typeface="Arial"/>
                <a:ea typeface="Arial"/>
                <a:cs typeface="Arial"/>
                <a:sym typeface="Arial"/>
              </a:rPr>
              <a:t>出力</a:t>
            </a:r>
            <a:r>
              <a:rPr lang="zh-CN" sz="2400">
                <a:solidFill>
                  <a:srgbClr val="111111"/>
                </a:solidFill>
                <a:latin typeface="Arial"/>
                <a:ea typeface="Arial"/>
                <a:cs typeface="Arial"/>
                <a:sym typeface="Arial"/>
              </a:rPr>
              <a:t>：どの送信機から出た信号か</a:t>
            </a:r>
            <a:endParaRPr sz="2400">
              <a:solidFill>
                <a:srgbClr val="111111"/>
              </a:solidFill>
              <a:latin typeface="Arial"/>
              <a:ea typeface="Arial"/>
              <a:cs typeface="Arial"/>
              <a:sym typeface="Arial"/>
            </a:endParaRPr>
          </a:p>
          <a:p>
            <a:pPr indent="0" lvl="0" marL="0" marR="0" rtl="0" algn="l">
              <a:spcBef>
                <a:spcPts val="0"/>
              </a:spcBef>
              <a:spcAft>
                <a:spcPts val="0"/>
              </a:spcAft>
              <a:buNone/>
            </a:pPr>
            <a:r>
              <a:t/>
            </a:r>
            <a:endParaRPr sz="2400">
              <a:solidFill>
                <a:srgbClr val="111111"/>
              </a:solidFill>
              <a:latin typeface="Arial"/>
              <a:ea typeface="Arial"/>
              <a:cs typeface="Arial"/>
              <a:sym typeface="Arial"/>
            </a:endParaRPr>
          </a:p>
          <a:p>
            <a:pPr indent="0" lvl="0" marL="0" marR="0" rtl="0" algn="l">
              <a:spcBef>
                <a:spcPts val="0"/>
              </a:spcBef>
              <a:spcAft>
                <a:spcPts val="0"/>
              </a:spcAft>
              <a:buNone/>
            </a:pPr>
            <a:r>
              <a:rPr lang="zh-CN" sz="2400">
                <a:solidFill>
                  <a:srgbClr val="111111"/>
                </a:solidFill>
                <a:latin typeface="Arial"/>
                <a:ea typeface="Arial"/>
                <a:cs typeface="Arial"/>
                <a:sym typeface="Arial"/>
              </a:rPr>
              <a:t>この時、</a:t>
            </a:r>
            <a:r>
              <a:rPr b="1" lang="zh-CN" sz="2400">
                <a:solidFill>
                  <a:srgbClr val="FF0000"/>
                </a:solidFill>
                <a:latin typeface="Arial"/>
                <a:ea typeface="Arial"/>
                <a:cs typeface="Arial"/>
                <a:sym typeface="Arial"/>
              </a:rPr>
              <a:t>Rxの癖やチャネルの影響が強く出てしまい、Txの癖を正確に取得することが難しい</a:t>
            </a:r>
            <a:endParaRPr b="1" sz="2400">
              <a:solidFill>
                <a:srgbClr val="FF0000"/>
              </a:solidFill>
              <a:latin typeface="Arial"/>
              <a:ea typeface="Arial"/>
              <a:cs typeface="Arial"/>
              <a:sym typeface="Arial"/>
            </a:endParaRPr>
          </a:p>
        </p:txBody>
      </p:sp>
      <p:sp>
        <p:nvSpPr>
          <p:cNvPr id="70" name="Google Shape;70;p5"/>
          <p:cNvSpPr/>
          <p:nvPr/>
        </p:nvSpPr>
        <p:spPr>
          <a:xfrm>
            <a:off x="6568802" y="1383713"/>
            <a:ext cx="914040" cy="411120"/>
          </a:xfrm>
          <a:prstGeom prst="rect">
            <a:avLst/>
          </a:prstGeom>
          <a:solidFill>
            <a:srgbClr val="FFFFFF"/>
          </a:solidFill>
          <a:ln cap="flat" cmpd="sng" w="12700">
            <a:solidFill>
              <a:srgbClr val="111111"/>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250" u="none" strike="noStrike">
                <a:solidFill>
                  <a:srgbClr val="111111"/>
                </a:solidFill>
                <a:latin typeface="Arial"/>
                <a:ea typeface="Arial"/>
                <a:cs typeface="Arial"/>
                <a:sym typeface="Arial"/>
              </a:rPr>
              <a:t>Tx A</a:t>
            </a:r>
            <a:endParaRPr b="0" sz="1250" u="none" strike="noStrike">
              <a:solidFill>
                <a:srgbClr val="000000"/>
              </a:solidFill>
              <a:latin typeface="Arial"/>
              <a:ea typeface="Arial"/>
              <a:cs typeface="Arial"/>
              <a:sym typeface="Arial"/>
            </a:endParaRPr>
          </a:p>
        </p:txBody>
      </p:sp>
      <p:sp>
        <p:nvSpPr>
          <p:cNvPr id="71" name="Google Shape;71;p5"/>
          <p:cNvSpPr/>
          <p:nvPr/>
        </p:nvSpPr>
        <p:spPr>
          <a:xfrm>
            <a:off x="7894682" y="1292273"/>
            <a:ext cx="1325520" cy="594000"/>
          </a:xfrm>
          <a:prstGeom prst="rect">
            <a:avLst/>
          </a:prstGeom>
          <a:solidFill>
            <a:srgbClr val="EEF4F8"/>
          </a:solidFill>
          <a:ln cap="flat" cmpd="sng" w="12700">
            <a:solidFill>
              <a:srgbClr val="003B5C"/>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0" lang="zh-CN" sz="1200" u="none" strike="noStrike">
                <a:solidFill>
                  <a:srgbClr val="111111"/>
                </a:solidFill>
                <a:latin typeface="Arial"/>
                <a:ea typeface="Arial"/>
                <a:cs typeface="Arial"/>
                <a:sym typeface="Arial"/>
              </a:rPr>
              <a:t>波形A</a:t>
            </a:r>
            <a:endParaRPr b="0" sz="12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zh-CN" sz="1200" u="none" strike="noStrike">
                <a:solidFill>
                  <a:srgbClr val="111111"/>
                </a:solidFill>
                <a:latin typeface="Arial"/>
                <a:ea typeface="Arial"/>
                <a:cs typeface="Arial"/>
                <a:sym typeface="Arial"/>
              </a:rPr>
              <a:t>少し鋭い</a:t>
            </a:r>
            <a:endParaRPr b="0" sz="1200" u="none" strike="noStrike">
              <a:solidFill>
                <a:srgbClr val="000000"/>
              </a:solidFill>
              <a:latin typeface="Arial"/>
              <a:ea typeface="Arial"/>
              <a:cs typeface="Arial"/>
              <a:sym typeface="Arial"/>
            </a:endParaRPr>
          </a:p>
        </p:txBody>
      </p:sp>
      <p:cxnSp>
        <p:nvCxnSpPr>
          <p:cNvPr id="72" name="Google Shape;72;p5"/>
          <p:cNvCxnSpPr/>
          <p:nvPr/>
        </p:nvCxnSpPr>
        <p:spPr>
          <a:xfrm>
            <a:off x="7483202" y="1584593"/>
            <a:ext cx="338040" cy="360"/>
          </a:xfrm>
          <a:prstGeom prst="straightConnector1">
            <a:avLst/>
          </a:prstGeom>
          <a:noFill/>
          <a:ln cap="flat" cmpd="sng" w="15225">
            <a:solidFill>
              <a:srgbClr val="003B5C"/>
            </a:solidFill>
            <a:prstDash val="solid"/>
            <a:round/>
            <a:headEnd len="sm" w="sm" type="none"/>
            <a:tailEnd len="med" w="med" type="triangle"/>
          </a:ln>
        </p:spPr>
      </p:cxnSp>
      <p:cxnSp>
        <p:nvCxnSpPr>
          <p:cNvPr id="73" name="Google Shape;73;p5"/>
          <p:cNvCxnSpPr/>
          <p:nvPr/>
        </p:nvCxnSpPr>
        <p:spPr>
          <a:xfrm>
            <a:off x="9220562" y="1584593"/>
            <a:ext cx="1124640" cy="1125000"/>
          </a:xfrm>
          <a:prstGeom prst="straightConnector1">
            <a:avLst/>
          </a:prstGeom>
          <a:noFill/>
          <a:ln cap="flat" cmpd="sng" w="15225">
            <a:solidFill>
              <a:srgbClr val="003B5C"/>
            </a:solidFill>
            <a:prstDash val="solid"/>
            <a:round/>
            <a:headEnd len="sm" w="sm" type="none"/>
            <a:tailEnd len="med" w="med" type="triangle"/>
          </a:ln>
        </p:spPr>
      </p:cxnSp>
      <p:sp>
        <p:nvSpPr>
          <p:cNvPr id="74" name="Google Shape;74;p5"/>
          <p:cNvSpPr/>
          <p:nvPr/>
        </p:nvSpPr>
        <p:spPr>
          <a:xfrm>
            <a:off x="6568802" y="2526713"/>
            <a:ext cx="914040" cy="411120"/>
          </a:xfrm>
          <a:prstGeom prst="rect">
            <a:avLst/>
          </a:prstGeom>
          <a:solidFill>
            <a:srgbClr val="FFFFFF"/>
          </a:solidFill>
          <a:ln cap="flat" cmpd="sng" w="12700">
            <a:solidFill>
              <a:srgbClr val="111111"/>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250" u="none" strike="noStrike">
                <a:solidFill>
                  <a:srgbClr val="111111"/>
                </a:solidFill>
                <a:latin typeface="Arial"/>
                <a:ea typeface="Arial"/>
                <a:cs typeface="Arial"/>
                <a:sym typeface="Arial"/>
              </a:rPr>
              <a:t>Tx B</a:t>
            </a:r>
            <a:endParaRPr b="0" sz="1250" u="none" strike="noStrike">
              <a:solidFill>
                <a:srgbClr val="000000"/>
              </a:solidFill>
              <a:latin typeface="Arial"/>
              <a:ea typeface="Arial"/>
              <a:cs typeface="Arial"/>
              <a:sym typeface="Arial"/>
            </a:endParaRPr>
          </a:p>
        </p:txBody>
      </p:sp>
      <p:sp>
        <p:nvSpPr>
          <p:cNvPr id="75" name="Google Shape;75;p5"/>
          <p:cNvSpPr/>
          <p:nvPr/>
        </p:nvSpPr>
        <p:spPr>
          <a:xfrm>
            <a:off x="7894682" y="2435273"/>
            <a:ext cx="1325520" cy="594000"/>
          </a:xfrm>
          <a:prstGeom prst="rect">
            <a:avLst/>
          </a:prstGeom>
          <a:solidFill>
            <a:srgbClr val="EEF4F8"/>
          </a:solidFill>
          <a:ln cap="flat" cmpd="sng" w="12700">
            <a:solidFill>
              <a:srgbClr val="003B5C"/>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0" lang="zh-CN" sz="1200" u="none" strike="noStrike">
                <a:solidFill>
                  <a:srgbClr val="111111"/>
                </a:solidFill>
                <a:latin typeface="Arial"/>
                <a:ea typeface="Arial"/>
                <a:cs typeface="Arial"/>
                <a:sym typeface="Arial"/>
              </a:rPr>
              <a:t>波形B</a:t>
            </a:r>
            <a:endParaRPr b="0" sz="12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zh-CN" sz="1200" u="none" strike="noStrike">
                <a:solidFill>
                  <a:srgbClr val="111111"/>
                </a:solidFill>
                <a:latin typeface="Arial"/>
                <a:ea typeface="Arial"/>
                <a:cs typeface="Arial"/>
                <a:sym typeface="Arial"/>
              </a:rPr>
              <a:t>少し丸い</a:t>
            </a:r>
            <a:endParaRPr b="0" sz="1200" u="none" strike="noStrike">
              <a:solidFill>
                <a:srgbClr val="000000"/>
              </a:solidFill>
              <a:latin typeface="Arial"/>
              <a:ea typeface="Arial"/>
              <a:cs typeface="Arial"/>
              <a:sym typeface="Arial"/>
            </a:endParaRPr>
          </a:p>
        </p:txBody>
      </p:sp>
      <p:cxnSp>
        <p:nvCxnSpPr>
          <p:cNvPr id="76" name="Google Shape;76;p5"/>
          <p:cNvCxnSpPr/>
          <p:nvPr/>
        </p:nvCxnSpPr>
        <p:spPr>
          <a:xfrm>
            <a:off x="7483202" y="2727593"/>
            <a:ext cx="338040" cy="360"/>
          </a:xfrm>
          <a:prstGeom prst="straightConnector1">
            <a:avLst/>
          </a:prstGeom>
          <a:noFill/>
          <a:ln cap="flat" cmpd="sng" w="15225">
            <a:solidFill>
              <a:srgbClr val="003B5C"/>
            </a:solidFill>
            <a:prstDash val="solid"/>
            <a:round/>
            <a:headEnd len="sm" w="sm" type="none"/>
            <a:tailEnd len="med" w="med" type="triangle"/>
          </a:ln>
        </p:spPr>
      </p:cxnSp>
      <p:cxnSp>
        <p:nvCxnSpPr>
          <p:cNvPr id="77" name="Google Shape;77;p5"/>
          <p:cNvCxnSpPr/>
          <p:nvPr/>
        </p:nvCxnSpPr>
        <p:spPr>
          <a:xfrm flipH="1" rot="10800000">
            <a:off x="9220562" y="2709593"/>
            <a:ext cx="1124640" cy="18000"/>
          </a:xfrm>
          <a:prstGeom prst="straightConnector1">
            <a:avLst/>
          </a:prstGeom>
          <a:noFill/>
          <a:ln cap="flat" cmpd="sng" w="15225">
            <a:solidFill>
              <a:srgbClr val="003B5C"/>
            </a:solidFill>
            <a:prstDash val="solid"/>
            <a:round/>
            <a:headEnd len="sm" w="sm" type="none"/>
            <a:tailEnd len="med" w="med" type="triangle"/>
          </a:ln>
        </p:spPr>
      </p:cxnSp>
      <p:sp>
        <p:nvSpPr>
          <p:cNvPr id="78" name="Google Shape;78;p5"/>
          <p:cNvSpPr/>
          <p:nvPr/>
        </p:nvSpPr>
        <p:spPr>
          <a:xfrm>
            <a:off x="6568802" y="3669713"/>
            <a:ext cx="914040" cy="411120"/>
          </a:xfrm>
          <a:prstGeom prst="rect">
            <a:avLst/>
          </a:prstGeom>
          <a:solidFill>
            <a:srgbClr val="FFFFFF"/>
          </a:solidFill>
          <a:ln cap="flat" cmpd="sng" w="12700">
            <a:solidFill>
              <a:srgbClr val="111111"/>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250" u="none" strike="noStrike">
                <a:solidFill>
                  <a:srgbClr val="111111"/>
                </a:solidFill>
                <a:latin typeface="Arial"/>
                <a:ea typeface="Arial"/>
                <a:cs typeface="Arial"/>
                <a:sym typeface="Arial"/>
              </a:rPr>
              <a:t>Tx C</a:t>
            </a:r>
            <a:endParaRPr b="0" sz="1250" u="none" strike="noStrike">
              <a:solidFill>
                <a:srgbClr val="000000"/>
              </a:solidFill>
              <a:latin typeface="Arial"/>
              <a:ea typeface="Arial"/>
              <a:cs typeface="Arial"/>
              <a:sym typeface="Arial"/>
            </a:endParaRPr>
          </a:p>
        </p:txBody>
      </p:sp>
      <p:sp>
        <p:nvSpPr>
          <p:cNvPr id="79" name="Google Shape;79;p5"/>
          <p:cNvSpPr/>
          <p:nvPr/>
        </p:nvSpPr>
        <p:spPr>
          <a:xfrm>
            <a:off x="7894682" y="3578273"/>
            <a:ext cx="1325520" cy="594000"/>
          </a:xfrm>
          <a:prstGeom prst="rect">
            <a:avLst/>
          </a:prstGeom>
          <a:solidFill>
            <a:srgbClr val="EEF4F8"/>
          </a:solidFill>
          <a:ln cap="flat" cmpd="sng" w="12700">
            <a:solidFill>
              <a:srgbClr val="003B5C"/>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0" lang="zh-CN" sz="1200" u="none" strike="noStrike">
                <a:solidFill>
                  <a:srgbClr val="111111"/>
                </a:solidFill>
                <a:latin typeface="Arial"/>
                <a:ea typeface="Arial"/>
                <a:cs typeface="Arial"/>
                <a:sym typeface="Arial"/>
              </a:rPr>
              <a:t>波形C</a:t>
            </a:r>
            <a:endParaRPr b="0" sz="12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zh-CN" sz="1200" u="none" strike="noStrike">
                <a:solidFill>
                  <a:srgbClr val="111111"/>
                </a:solidFill>
                <a:latin typeface="Arial"/>
                <a:ea typeface="Arial"/>
                <a:cs typeface="Arial"/>
                <a:sym typeface="Arial"/>
              </a:rPr>
              <a:t>少し遅れる</a:t>
            </a:r>
            <a:endParaRPr b="0" sz="1200" u="none" strike="noStrike">
              <a:solidFill>
                <a:srgbClr val="000000"/>
              </a:solidFill>
              <a:latin typeface="Arial"/>
              <a:ea typeface="Arial"/>
              <a:cs typeface="Arial"/>
              <a:sym typeface="Arial"/>
            </a:endParaRPr>
          </a:p>
        </p:txBody>
      </p:sp>
      <p:cxnSp>
        <p:nvCxnSpPr>
          <p:cNvPr id="80" name="Google Shape;80;p5"/>
          <p:cNvCxnSpPr/>
          <p:nvPr/>
        </p:nvCxnSpPr>
        <p:spPr>
          <a:xfrm>
            <a:off x="7483202" y="3870593"/>
            <a:ext cx="338040" cy="360"/>
          </a:xfrm>
          <a:prstGeom prst="straightConnector1">
            <a:avLst/>
          </a:prstGeom>
          <a:noFill/>
          <a:ln cap="flat" cmpd="sng" w="15225">
            <a:solidFill>
              <a:srgbClr val="003B5C"/>
            </a:solidFill>
            <a:prstDash val="solid"/>
            <a:round/>
            <a:headEnd len="sm" w="sm" type="none"/>
            <a:tailEnd len="med" w="med" type="triangle"/>
          </a:ln>
        </p:spPr>
      </p:cxnSp>
      <p:cxnSp>
        <p:nvCxnSpPr>
          <p:cNvPr id="81" name="Google Shape;81;p5"/>
          <p:cNvCxnSpPr/>
          <p:nvPr/>
        </p:nvCxnSpPr>
        <p:spPr>
          <a:xfrm flipH="1" rot="10800000">
            <a:off x="9220562" y="2709593"/>
            <a:ext cx="1124640" cy="1161000"/>
          </a:xfrm>
          <a:prstGeom prst="straightConnector1">
            <a:avLst/>
          </a:prstGeom>
          <a:noFill/>
          <a:ln cap="flat" cmpd="sng" w="15225">
            <a:solidFill>
              <a:srgbClr val="003B5C"/>
            </a:solidFill>
            <a:prstDash val="solid"/>
            <a:round/>
            <a:headEnd len="sm" w="sm" type="none"/>
            <a:tailEnd len="med" w="med" type="triangle"/>
          </a:ln>
        </p:spPr>
      </p:cxnSp>
      <p:sp>
        <p:nvSpPr>
          <p:cNvPr id="82" name="Google Shape;82;p5"/>
          <p:cNvSpPr/>
          <p:nvPr/>
        </p:nvSpPr>
        <p:spPr>
          <a:xfrm>
            <a:off x="10381922" y="2325473"/>
            <a:ext cx="1416960" cy="685440"/>
          </a:xfrm>
          <a:prstGeom prst="rect">
            <a:avLst/>
          </a:prstGeom>
          <a:solidFill>
            <a:srgbClr val="FFFFFF"/>
          </a:solidFill>
          <a:ln cap="flat" cmpd="sng" w="12700">
            <a:solidFill>
              <a:srgbClr val="111111"/>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450" u="none" strike="noStrike">
                <a:solidFill>
                  <a:srgbClr val="111111"/>
                </a:solidFill>
                <a:latin typeface="Arial"/>
                <a:ea typeface="Arial"/>
                <a:cs typeface="Arial"/>
                <a:sym typeface="Arial"/>
              </a:rPr>
              <a:t>同じ受信機</a:t>
            </a:r>
            <a:endParaRPr b="0" sz="1450" u="none" strike="noStrike">
              <a:solidFill>
                <a:srgbClr val="000000"/>
              </a:solidFill>
              <a:latin typeface="Arial"/>
              <a:ea typeface="Arial"/>
              <a:cs typeface="Arial"/>
              <a:sym typeface="Arial"/>
            </a:endParaRPr>
          </a:p>
        </p:txBody>
      </p:sp>
      <p:sp>
        <p:nvSpPr>
          <p:cNvPr id="83" name="Google Shape;83;p5"/>
          <p:cNvSpPr/>
          <p:nvPr/>
        </p:nvSpPr>
        <p:spPr>
          <a:xfrm>
            <a:off x="7913042" y="4446953"/>
            <a:ext cx="1508400" cy="273960"/>
          </a:xfrm>
          <a:prstGeom prst="rect">
            <a:avLst/>
          </a:prstGeom>
          <a:noFill/>
          <a:ln>
            <a:noFill/>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0" lang="zh-CN" sz="1250" u="none" strike="noStrike">
                <a:solidFill>
                  <a:srgbClr val="00A651"/>
                </a:solidFill>
                <a:latin typeface="Arial"/>
                <a:ea typeface="Arial"/>
                <a:cs typeface="Arial"/>
                <a:sym typeface="Arial"/>
              </a:rPr>
              <a:t>送信機固有の差</a:t>
            </a:r>
            <a:endParaRPr b="0" sz="1250" u="none" strike="noStrike">
              <a:solidFill>
                <a:srgbClr val="000000"/>
              </a:solidFill>
              <a:latin typeface="Arial"/>
              <a:ea typeface="Arial"/>
              <a:cs typeface="Arial"/>
              <a:sym typeface="Arial"/>
            </a:endParaRPr>
          </a:p>
        </p:txBody>
      </p:sp>
      <p:sp>
        <p:nvSpPr>
          <p:cNvPr id="84" name="Google Shape;84;p5"/>
          <p:cNvSpPr/>
          <p:nvPr/>
        </p:nvSpPr>
        <p:spPr>
          <a:xfrm>
            <a:off x="10043522" y="4446953"/>
            <a:ext cx="1645560" cy="273960"/>
          </a:xfrm>
          <a:prstGeom prst="rect">
            <a:avLst/>
          </a:prstGeom>
          <a:noFill/>
          <a:ln>
            <a:noFill/>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0" lang="zh-CN" sz="1250" u="none" strike="noStrike">
                <a:solidFill>
                  <a:srgbClr val="C00000"/>
                </a:solidFill>
                <a:latin typeface="Arial"/>
                <a:ea typeface="Arial"/>
                <a:cs typeface="Arial"/>
                <a:sym typeface="Arial"/>
              </a:rPr>
              <a:t>＋ 環境の影響</a:t>
            </a:r>
            <a:endParaRPr b="0" sz="1250" u="none" strike="noStrike">
              <a:solidFill>
                <a:srgbClr val="000000"/>
              </a:solidFill>
              <a:latin typeface="Arial"/>
              <a:ea typeface="Arial"/>
              <a:cs typeface="Arial"/>
              <a:sym typeface="Arial"/>
            </a:endParaRPr>
          </a:p>
        </p:txBody>
      </p:sp>
      <p:sp>
        <p:nvSpPr>
          <p:cNvPr id="85" name="Google Shape;85;p5"/>
          <p:cNvSpPr/>
          <p:nvPr/>
        </p:nvSpPr>
        <p:spPr>
          <a:xfrm>
            <a:off x="868680" y="7589160"/>
            <a:ext cx="10698120" cy="438480"/>
          </a:xfrm>
          <a:prstGeom prst="rect">
            <a:avLst/>
          </a:prstGeom>
          <a:solidFill>
            <a:srgbClr val="FFFFFF"/>
          </a:solidFill>
          <a:ln cap="flat" cmpd="sng" w="12700">
            <a:solidFill>
              <a:srgbClr val="D9D9D9"/>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350" u="none" strike="noStrike">
                <a:solidFill>
                  <a:srgbClr val="111111"/>
                </a:solidFill>
                <a:latin typeface="Arial"/>
                <a:ea typeface="Arial"/>
                <a:cs typeface="Arial"/>
                <a:sym typeface="Arial"/>
              </a:rPr>
              <a:t>人間の指紋と違い、無線指紋は「受信された信号」から間接的に読む</a:t>
            </a:r>
            <a:endParaRPr b="0" sz="1350" u="none" strike="noStrike">
              <a:solidFill>
                <a:srgbClr val="000000"/>
              </a:solidFill>
              <a:latin typeface="Arial"/>
              <a:ea typeface="Arial"/>
              <a:cs typeface="Arial"/>
              <a:sym typeface="Arial"/>
            </a:endParaRPr>
          </a:p>
        </p:txBody>
      </p:sp>
      <p:sp>
        <p:nvSpPr>
          <p:cNvPr id="86" name="Google Shape;86;p5"/>
          <p:cNvSpPr/>
          <p:nvPr/>
        </p:nvSpPr>
        <p:spPr>
          <a:xfrm>
            <a:off x="11612880" y="6473880"/>
            <a:ext cx="319680" cy="1641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lang="zh-CN" sz="800" u="none" strike="noStrike">
                <a:solidFill>
                  <a:srgbClr val="777777"/>
                </a:solidFill>
                <a:latin typeface="Arial"/>
                <a:ea typeface="Arial"/>
                <a:cs typeface="Arial"/>
                <a:sym typeface="Arial"/>
              </a:rPr>
              <a:t>4</a:t>
            </a:r>
            <a:endParaRPr b="0" sz="800" u="none" strike="noStrike">
              <a:solidFill>
                <a:srgbClr val="000000"/>
              </a:solidFill>
              <a:latin typeface="Arial"/>
              <a:ea typeface="Arial"/>
              <a:cs typeface="Arial"/>
              <a:sym typeface="Arial"/>
            </a:endParaRPr>
          </a:p>
        </p:txBody>
      </p:sp>
      <p:sp>
        <p:nvSpPr>
          <p:cNvPr id="87" name="Google Shape;87;p5"/>
          <p:cNvSpPr/>
          <p:nvPr/>
        </p:nvSpPr>
        <p:spPr>
          <a:xfrm>
            <a:off x="607580" y="5396435"/>
            <a:ext cx="914040" cy="566640"/>
          </a:xfrm>
          <a:prstGeom prst="rect">
            <a:avLst/>
          </a:prstGeom>
          <a:solidFill>
            <a:srgbClr val="FFFFFF"/>
          </a:solidFill>
          <a:ln cap="flat" cmpd="sng" w="12700">
            <a:solidFill>
              <a:srgbClr val="111111"/>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220" u="none" strike="noStrike">
                <a:solidFill>
                  <a:srgbClr val="111111"/>
                </a:solidFill>
                <a:latin typeface="Arial"/>
                <a:ea typeface="Arial"/>
                <a:cs typeface="Arial"/>
                <a:sym typeface="Arial"/>
              </a:rPr>
              <a:t>Tx</a:t>
            </a:r>
            <a:endParaRPr b="0" sz="1220" u="none" strike="noStrike">
              <a:solidFill>
                <a:srgbClr val="000000"/>
              </a:solidFill>
              <a:latin typeface="Arial"/>
              <a:ea typeface="Arial"/>
              <a:cs typeface="Arial"/>
              <a:sym typeface="Arial"/>
            </a:endParaRPr>
          </a:p>
        </p:txBody>
      </p:sp>
      <p:sp>
        <p:nvSpPr>
          <p:cNvPr id="88" name="Google Shape;88;p5"/>
          <p:cNvSpPr/>
          <p:nvPr/>
        </p:nvSpPr>
        <p:spPr>
          <a:xfrm>
            <a:off x="1704860" y="5396435"/>
            <a:ext cx="1042200" cy="566640"/>
          </a:xfrm>
          <a:prstGeom prst="rect">
            <a:avLst/>
          </a:prstGeom>
          <a:solidFill>
            <a:srgbClr val="FCEEEE"/>
          </a:solidFill>
          <a:ln cap="flat" cmpd="sng" w="12700">
            <a:solidFill>
              <a:srgbClr val="C00000"/>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220" u="none" strike="noStrike">
                <a:solidFill>
                  <a:srgbClr val="C00000"/>
                </a:solidFill>
                <a:latin typeface="Arial"/>
                <a:ea typeface="Arial"/>
                <a:cs typeface="Arial"/>
                <a:sym typeface="Arial"/>
              </a:rPr>
              <a:t>Channel</a:t>
            </a:r>
            <a:endParaRPr b="0" sz="1220" u="none" strike="noStrike">
              <a:solidFill>
                <a:srgbClr val="000000"/>
              </a:solidFill>
              <a:latin typeface="Arial"/>
              <a:ea typeface="Arial"/>
              <a:cs typeface="Arial"/>
              <a:sym typeface="Arial"/>
            </a:endParaRPr>
          </a:p>
        </p:txBody>
      </p:sp>
      <p:sp>
        <p:nvSpPr>
          <p:cNvPr id="89" name="Google Shape;89;p5"/>
          <p:cNvSpPr/>
          <p:nvPr/>
        </p:nvSpPr>
        <p:spPr>
          <a:xfrm>
            <a:off x="3076460" y="5396435"/>
            <a:ext cx="987120" cy="566640"/>
          </a:xfrm>
          <a:prstGeom prst="rect">
            <a:avLst/>
          </a:prstGeom>
          <a:solidFill>
            <a:srgbClr val="FCEEEE"/>
          </a:solidFill>
          <a:ln cap="flat" cmpd="sng" w="12700">
            <a:solidFill>
              <a:srgbClr val="C00000"/>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220" u="none" strike="noStrike">
                <a:solidFill>
                  <a:srgbClr val="C00000"/>
                </a:solidFill>
                <a:latin typeface="Arial"/>
                <a:ea typeface="Arial"/>
                <a:cs typeface="Arial"/>
                <a:sym typeface="Arial"/>
              </a:rPr>
              <a:t>Rx</a:t>
            </a:r>
            <a:endParaRPr b="0" sz="1220" u="none" strike="noStrike">
              <a:solidFill>
                <a:srgbClr val="000000"/>
              </a:solidFill>
              <a:latin typeface="Arial"/>
              <a:ea typeface="Arial"/>
              <a:cs typeface="Arial"/>
              <a:sym typeface="Arial"/>
            </a:endParaRPr>
          </a:p>
        </p:txBody>
      </p:sp>
      <p:sp>
        <p:nvSpPr>
          <p:cNvPr id="90" name="Google Shape;90;p5"/>
          <p:cNvSpPr/>
          <p:nvPr/>
        </p:nvSpPr>
        <p:spPr>
          <a:xfrm>
            <a:off x="4329260" y="5396435"/>
            <a:ext cx="987120" cy="566640"/>
          </a:xfrm>
          <a:prstGeom prst="rect">
            <a:avLst/>
          </a:prstGeom>
          <a:solidFill>
            <a:srgbClr val="FFFFFF"/>
          </a:solidFill>
          <a:ln cap="flat" cmpd="sng" w="12700">
            <a:solidFill>
              <a:srgbClr val="111111"/>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220" u="none" strike="noStrike">
                <a:solidFill>
                  <a:srgbClr val="111111"/>
                </a:solidFill>
                <a:latin typeface="Arial"/>
                <a:ea typeface="Arial"/>
                <a:cs typeface="Arial"/>
                <a:sym typeface="Arial"/>
              </a:rPr>
              <a:t>IQ Samples</a:t>
            </a:r>
            <a:endParaRPr b="0" sz="1220" u="none" strike="noStrike">
              <a:solidFill>
                <a:srgbClr val="000000"/>
              </a:solidFill>
              <a:latin typeface="Arial"/>
              <a:ea typeface="Arial"/>
              <a:cs typeface="Arial"/>
              <a:sym typeface="Arial"/>
            </a:endParaRPr>
          </a:p>
        </p:txBody>
      </p:sp>
      <p:sp>
        <p:nvSpPr>
          <p:cNvPr id="91" name="Google Shape;91;p5"/>
          <p:cNvSpPr/>
          <p:nvPr/>
        </p:nvSpPr>
        <p:spPr>
          <a:xfrm>
            <a:off x="5591060" y="5396435"/>
            <a:ext cx="987120" cy="566640"/>
          </a:xfrm>
          <a:prstGeom prst="rect">
            <a:avLst/>
          </a:prstGeom>
          <a:solidFill>
            <a:srgbClr val="FFFFFF"/>
          </a:solidFill>
          <a:ln cap="flat" cmpd="sng" w="12700">
            <a:solidFill>
              <a:srgbClr val="111111"/>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220" u="none" strike="noStrike">
                <a:solidFill>
                  <a:srgbClr val="111111"/>
                </a:solidFill>
                <a:latin typeface="Arial"/>
                <a:ea typeface="Arial"/>
                <a:cs typeface="Arial"/>
                <a:sym typeface="Arial"/>
              </a:rPr>
              <a:t>Classifier</a:t>
            </a:r>
            <a:endParaRPr b="0" sz="1220" u="none" strike="noStrike">
              <a:solidFill>
                <a:srgbClr val="000000"/>
              </a:solidFill>
              <a:latin typeface="Arial"/>
              <a:ea typeface="Arial"/>
              <a:cs typeface="Arial"/>
              <a:sym typeface="Arial"/>
            </a:endParaRPr>
          </a:p>
        </p:txBody>
      </p:sp>
      <p:cxnSp>
        <p:nvCxnSpPr>
          <p:cNvPr id="92" name="Google Shape;92;p5"/>
          <p:cNvCxnSpPr/>
          <p:nvPr/>
        </p:nvCxnSpPr>
        <p:spPr>
          <a:xfrm>
            <a:off x="1567700" y="5679755"/>
            <a:ext cx="63720" cy="360"/>
          </a:xfrm>
          <a:prstGeom prst="straightConnector1">
            <a:avLst/>
          </a:prstGeom>
          <a:noFill/>
          <a:ln cap="flat" cmpd="sng" w="15225">
            <a:solidFill>
              <a:srgbClr val="003B5C"/>
            </a:solidFill>
            <a:prstDash val="solid"/>
            <a:round/>
            <a:headEnd len="sm" w="sm" type="none"/>
            <a:tailEnd len="med" w="med" type="triangle"/>
          </a:ln>
        </p:spPr>
      </p:cxnSp>
      <p:cxnSp>
        <p:nvCxnSpPr>
          <p:cNvPr id="93" name="Google Shape;93;p5"/>
          <p:cNvCxnSpPr/>
          <p:nvPr/>
        </p:nvCxnSpPr>
        <p:spPr>
          <a:xfrm>
            <a:off x="2792780" y="5679755"/>
            <a:ext cx="210240" cy="360"/>
          </a:xfrm>
          <a:prstGeom prst="straightConnector1">
            <a:avLst/>
          </a:prstGeom>
          <a:noFill/>
          <a:ln cap="flat" cmpd="sng" w="15225">
            <a:solidFill>
              <a:srgbClr val="003B5C"/>
            </a:solidFill>
            <a:prstDash val="solid"/>
            <a:round/>
            <a:headEnd len="sm" w="sm" type="none"/>
            <a:tailEnd len="med" w="med" type="triangle"/>
          </a:ln>
        </p:spPr>
      </p:cxnSp>
      <p:cxnSp>
        <p:nvCxnSpPr>
          <p:cNvPr id="94" name="Google Shape;94;p5"/>
          <p:cNvCxnSpPr/>
          <p:nvPr/>
        </p:nvCxnSpPr>
        <p:spPr>
          <a:xfrm>
            <a:off x="4109660" y="5679755"/>
            <a:ext cx="146160" cy="360"/>
          </a:xfrm>
          <a:prstGeom prst="straightConnector1">
            <a:avLst/>
          </a:prstGeom>
          <a:noFill/>
          <a:ln cap="flat" cmpd="sng" w="15225">
            <a:solidFill>
              <a:srgbClr val="003B5C"/>
            </a:solidFill>
            <a:prstDash val="solid"/>
            <a:round/>
            <a:headEnd len="sm" w="sm" type="none"/>
            <a:tailEnd len="med" w="med" type="triangle"/>
          </a:ln>
        </p:spPr>
      </p:cxnSp>
      <p:cxnSp>
        <p:nvCxnSpPr>
          <p:cNvPr id="95" name="Google Shape;95;p5"/>
          <p:cNvCxnSpPr/>
          <p:nvPr/>
        </p:nvCxnSpPr>
        <p:spPr>
          <a:xfrm>
            <a:off x="5362460" y="5679755"/>
            <a:ext cx="155160" cy="360"/>
          </a:xfrm>
          <a:prstGeom prst="straightConnector1">
            <a:avLst/>
          </a:prstGeom>
          <a:noFill/>
          <a:ln cap="flat" cmpd="sng" w="15225">
            <a:solidFill>
              <a:srgbClr val="003B5C"/>
            </a:solidFill>
            <a:prstDash val="solid"/>
            <a:round/>
            <a:headEnd len="sm" w="sm" type="none"/>
            <a:tailEnd len="med" w="med" type="triangle"/>
          </a:ln>
        </p:spPr>
      </p:cxnSp>
      <p:cxnSp>
        <p:nvCxnSpPr>
          <p:cNvPr id="96" name="Google Shape;96;p5"/>
          <p:cNvCxnSpPr/>
          <p:nvPr/>
        </p:nvCxnSpPr>
        <p:spPr>
          <a:xfrm>
            <a:off x="6614900" y="5679755"/>
            <a:ext cx="302040" cy="360"/>
          </a:xfrm>
          <a:prstGeom prst="straightConnector1">
            <a:avLst/>
          </a:prstGeom>
          <a:noFill/>
          <a:ln cap="flat" cmpd="sng" w="15225">
            <a:solidFill>
              <a:srgbClr val="003B5C"/>
            </a:solidFill>
            <a:prstDash val="solid"/>
            <a:round/>
            <a:headEnd len="sm" w="sm" type="none"/>
            <a:tailEnd len="med" w="med" type="triangle"/>
          </a:ln>
        </p:spPr>
      </p:cxnSp>
      <p:sp>
        <p:nvSpPr>
          <p:cNvPr id="97" name="Google Shape;97;p5"/>
          <p:cNvSpPr/>
          <p:nvPr/>
        </p:nvSpPr>
        <p:spPr>
          <a:xfrm>
            <a:off x="7018200" y="5623560"/>
            <a:ext cx="594000" cy="255600"/>
          </a:xfrm>
          <a:prstGeom prst="rect">
            <a:avLst/>
          </a:prstGeom>
          <a:noFill/>
          <a:ln>
            <a:noFill/>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0" lang="zh-CN" sz="1100" u="none" strike="noStrike">
                <a:solidFill>
                  <a:srgbClr val="111111"/>
                </a:solidFill>
                <a:latin typeface="Arial"/>
                <a:ea typeface="Arial"/>
                <a:cs typeface="Arial"/>
                <a:sym typeface="Arial"/>
              </a:rPr>
              <a:t>Tx ID</a:t>
            </a:r>
            <a:endParaRPr b="0" sz="1100" u="none" strike="noStrike">
              <a:solidFill>
                <a:srgbClr val="000000"/>
              </a:solidFill>
              <a:latin typeface="Arial"/>
              <a:ea typeface="Arial"/>
              <a:cs typeface="Arial"/>
              <a:sym typeface="Arial"/>
            </a:endParaRPr>
          </a:p>
        </p:txBody>
      </p:sp>
      <p:sp>
        <p:nvSpPr>
          <p:cNvPr id="98" name="Google Shape;98;p5"/>
          <p:cNvSpPr/>
          <p:nvPr/>
        </p:nvSpPr>
        <p:spPr>
          <a:xfrm>
            <a:off x="1750580" y="6219395"/>
            <a:ext cx="2486880" cy="292320"/>
          </a:xfrm>
          <a:prstGeom prst="rect">
            <a:avLst/>
          </a:prstGeom>
          <a:noFill/>
          <a:ln>
            <a:noFill/>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0" lang="zh-CN" sz="1250" u="none" strike="noStrike">
                <a:solidFill>
                  <a:srgbClr val="C00000"/>
                </a:solidFill>
                <a:latin typeface="Arial"/>
                <a:ea typeface="Arial"/>
                <a:cs typeface="Arial"/>
                <a:sym typeface="Arial"/>
              </a:rPr>
              <a:t>識別を難しくする要因</a:t>
            </a:r>
            <a:endParaRPr b="0" sz="1250" u="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 name="Shape 103"/>
        <p:cNvGrpSpPr/>
        <p:nvPr/>
      </p:nvGrpSpPr>
      <p:grpSpPr>
        <a:xfrm>
          <a:off x="0" y="0"/>
          <a:ext cx="0" cy="0"/>
          <a:chOff x="0" y="0"/>
          <a:chExt cx="0" cy="0"/>
        </a:xfrm>
      </p:grpSpPr>
      <p:sp>
        <p:nvSpPr>
          <p:cNvPr id="104" name="Google Shape;104;p6"/>
          <p:cNvSpPr/>
          <p:nvPr/>
        </p:nvSpPr>
        <p:spPr>
          <a:xfrm>
            <a:off x="502920" y="228600"/>
            <a:ext cx="11063880" cy="383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zh-CN" sz="2600" u="none" strike="noStrike">
                <a:solidFill>
                  <a:srgbClr val="111111"/>
                </a:solidFill>
                <a:latin typeface="Arial"/>
                <a:ea typeface="Arial"/>
                <a:cs typeface="Arial"/>
                <a:sym typeface="Arial"/>
              </a:rPr>
              <a:t>既存研究の課題と本研究の位置づけ</a:t>
            </a:r>
            <a:endParaRPr b="0" sz="2600" u="none" strike="noStrike">
              <a:solidFill>
                <a:srgbClr val="000000"/>
              </a:solidFill>
              <a:latin typeface="Arial"/>
              <a:ea typeface="Arial"/>
              <a:cs typeface="Arial"/>
              <a:sym typeface="Arial"/>
            </a:endParaRPr>
          </a:p>
        </p:txBody>
      </p:sp>
      <p:cxnSp>
        <p:nvCxnSpPr>
          <p:cNvPr id="105" name="Google Shape;105;p6"/>
          <p:cNvCxnSpPr/>
          <p:nvPr/>
        </p:nvCxnSpPr>
        <p:spPr>
          <a:xfrm>
            <a:off x="502920" y="786240"/>
            <a:ext cx="11155680" cy="360"/>
          </a:xfrm>
          <a:prstGeom prst="straightConnector1">
            <a:avLst/>
          </a:prstGeom>
          <a:noFill/>
          <a:ln cap="flat" cmpd="sng" w="15225">
            <a:solidFill>
              <a:srgbClr val="003B5C"/>
            </a:solidFill>
            <a:prstDash val="solid"/>
            <a:round/>
            <a:headEnd len="sm" w="sm" type="none"/>
            <a:tailEnd len="sm" w="sm" type="none"/>
          </a:ln>
        </p:spPr>
      </p:cxnSp>
      <p:sp>
        <p:nvSpPr>
          <p:cNvPr id="106" name="Google Shape;106;p6"/>
          <p:cNvSpPr/>
          <p:nvPr/>
        </p:nvSpPr>
        <p:spPr>
          <a:xfrm>
            <a:off x="703427" y="-3767220"/>
            <a:ext cx="2188800" cy="676440"/>
          </a:xfrm>
          <a:prstGeom prst="rect">
            <a:avLst/>
          </a:prstGeom>
          <a:solidFill>
            <a:srgbClr val="F3F5F7"/>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1" lang="zh-CN" sz="1350" u="none" strike="noStrike">
                <a:solidFill>
                  <a:srgbClr val="111111"/>
                </a:solidFill>
                <a:latin typeface="Arial"/>
                <a:ea typeface="Arial"/>
                <a:cs typeface="Arial"/>
                <a:sym typeface="Arial"/>
              </a:rPr>
              <a:t>観点</a:t>
            </a:r>
            <a:endParaRPr b="0" sz="1350" u="none" strike="noStrike">
              <a:solidFill>
                <a:srgbClr val="000000"/>
              </a:solidFill>
              <a:latin typeface="Arial"/>
              <a:ea typeface="Arial"/>
              <a:cs typeface="Arial"/>
              <a:sym typeface="Arial"/>
            </a:endParaRPr>
          </a:p>
        </p:txBody>
      </p:sp>
      <p:sp>
        <p:nvSpPr>
          <p:cNvPr id="107" name="Google Shape;107;p6"/>
          <p:cNvSpPr/>
          <p:nvPr/>
        </p:nvSpPr>
        <p:spPr>
          <a:xfrm>
            <a:off x="2892587" y="-3767220"/>
            <a:ext cx="3960720" cy="676440"/>
          </a:xfrm>
          <a:prstGeom prst="rect">
            <a:avLst/>
          </a:prstGeom>
          <a:solidFill>
            <a:srgbClr val="F3F5F7"/>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1" lang="zh-CN" sz="1350" u="none" strike="noStrike">
                <a:solidFill>
                  <a:srgbClr val="111111"/>
                </a:solidFill>
                <a:latin typeface="Arial"/>
                <a:ea typeface="Arial"/>
                <a:cs typeface="Arial"/>
                <a:sym typeface="Arial"/>
              </a:rPr>
              <a:t>既存研究で多い条件</a:t>
            </a:r>
            <a:endParaRPr b="0" sz="1350" u="none" strike="noStrike">
              <a:solidFill>
                <a:srgbClr val="000000"/>
              </a:solidFill>
              <a:latin typeface="Arial"/>
              <a:ea typeface="Arial"/>
              <a:cs typeface="Arial"/>
              <a:sym typeface="Arial"/>
            </a:endParaRPr>
          </a:p>
        </p:txBody>
      </p:sp>
      <p:sp>
        <p:nvSpPr>
          <p:cNvPr id="108" name="Google Shape;108;p6"/>
          <p:cNvSpPr/>
          <p:nvPr/>
        </p:nvSpPr>
        <p:spPr>
          <a:xfrm>
            <a:off x="6853667" y="-3767220"/>
            <a:ext cx="4273560" cy="676440"/>
          </a:xfrm>
          <a:prstGeom prst="rect">
            <a:avLst/>
          </a:prstGeom>
          <a:solidFill>
            <a:srgbClr val="F3F5F7"/>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1" lang="zh-CN" sz="1350" u="none" strike="noStrike">
                <a:solidFill>
                  <a:srgbClr val="111111"/>
                </a:solidFill>
                <a:latin typeface="Arial"/>
                <a:ea typeface="Arial"/>
                <a:cs typeface="Arial"/>
                <a:sym typeface="Arial"/>
              </a:rPr>
              <a:t>課題</a:t>
            </a:r>
            <a:endParaRPr b="0" sz="1350" u="none" strike="noStrike">
              <a:solidFill>
                <a:srgbClr val="000000"/>
              </a:solidFill>
              <a:latin typeface="Arial"/>
              <a:ea typeface="Arial"/>
              <a:cs typeface="Arial"/>
              <a:sym typeface="Arial"/>
            </a:endParaRPr>
          </a:p>
        </p:txBody>
      </p:sp>
      <p:sp>
        <p:nvSpPr>
          <p:cNvPr id="109" name="Google Shape;109;p6"/>
          <p:cNvSpPr/>
          <p:nvPr/>
        </p:nvSpPr>
        <p:spPr>
          <a:xfrm>
            <a:off x="703427" y="-3090420"/>
            <a:ext cx="2188800" cy="676440"/>
          </a:xfrm>
          <a:prstGeom prst="rect">
            <a:avLst/>
          </a:prstGeom>
          <a:solidFill>
            <a:srgbClr val="FFFFFF"/>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0" lang="zh-CN" sz="1270" u="none" strike="noStrike">
                <a:solidFill>
                  <a:srgbClr val="111111"/>
                </a:solidFill>
                <a:latin typeface="Arial"/>
                <a:ea typeface="Arial"/>
                <a:cs typeface="Arial"/>
                <a:sym typeface="Arial"/>
              </a:rPr>
              <a:t>送信機数</a:t>
            </a:r>
            <a:endParaRPr b="0" sz="1270" u="none" strike="noStrike">
              <a:solidFill>
                <a:srgbClr val="000000"/>
              </a:solidFill>
              <a:latin typeface="Arial"/>
              <a:ea typeface="Arial"/>
              <a:cs typeface="Arial"/>
              <a:sym typeface="Arial"/>
            </a:endParaRPr>
          </a:p>
        </p:txBody>
      </p:sp>
      <p:sp>
        <p:nvSpPr>
          <p:cNvPr id="110" name="Google Shape;110;p6"/>
          <p:cNvSpPr/>
          <p:nvPr/>
        </p:nvSpPr>
        <p:spPr>
          <a:xfrm>
            <a:off x="2892587" y="-3090420"/>
            <a:ext cx="3960720" cy="676440"/>
          </a:xfrm>
          <a:prstGeom prst="rect">
            <a:avLst/>
          </a:prstGeom>
          <a:solidFill>
            <a:srgbClr val="FFFFFF"/>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0" lang="zh-CN" sz="1270" u="none" strike="noStrike">
                <a:solidFill>
                  <a:srgbClr val="111111"/>
                </a:solidFill>
                <a:latin typeface="Arial"/>
                <a:ea typeface="Arial"/>
                <a:cs typeface="Arial"/>
                <a:sym typeface="Arial"/>
              </a:rPr>
              <a:t>少数の機器</a:t>
            </a:r>
            <a:endParaRPr b="0" sz="1270" u="none" strike="noStrike">
              <a:solidFill>
                <a:srgbClr val="000000"/>
              </a:solidFill>
              <a:latin typeface="Arial"/>
              <a:ea typeface="Arial"/>
              <a:cs typeface="Arial"/>
              <a:sym typeface="Arial"/>
            </a:endParaRPr>
          </a:p>
        </p:txBody>
      </p:sp>
      <p:sp>
        <p:nvSpPr>
          <p:cNvPr id="111" name="Google Shape;111;p6"/>
          <p:cNvSpPr/>
          <p:nvPr/>
        </p:nvSpPr>
        <p:spPr>
          <a:xfrm>
            <a:off x="6853667" y="-3090420"/>
            <a:ext cx="4273560" cy="676440"/>
          </a:xfrm>
          <a:prstGeom prst="rect">
            <a:avLst/>
          </a:prstGeom>
          <a:solidFill>
            <a:srgbClr val="FCEEEE"/>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1" lang="zh-CN" sz="1270" u="none" strike="noStrike">
                <a:solidFill>
                  <a:srgbClr val="C00000"/>
                </a:solidFill>
                <a:latin typeface="Arial"/>
                <a:ea typeface="Arial"/>
                <a:cs typeface="Arial"/>
                <a:sym typeface="Arial"/>
              </a:rPr>
              <a:t>大規模環境での評価が難しい</a:t>
            </a:r>
            <a:endParaRPr b="0" sz="1270" u="none" strike="noStrike">
              <a:solidFill>
                <a:srgbClr val="000000"/>
              </a:solidFill>
              <a:latin typeface="Arial"/>
              <a:ea typeface="Arial"/>
              <a:cs typeface="Arial"/>
              <a:sym typeface="Arial"/>
            </a:endParaRPr>
          </a:p>
        </p:txBody>
      </p:sp>
      <p:sp>
        <p:nvSpPr>
          <p:cNvPr id="112" name="Google Shape;112;p6"/>
          <p:cNvSpPr/>
          <p:nvPr/>
        </p:nvSpPr>
        <p:spPr>
          <a:xfrm>
            <a:off x="703427" y="-2413980"/>
            <a:ext cx="2188800" cy="676440"/>
          </a:xfrm>
          <a:prstGeom prst="rect">
            <a:avLst/>
          </a:prstGeom>
          <a:solidFill>
            <a:srgbClr val="FFFFFF"/>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0" lang="zh-CN" sz="1270" u="none" strike="noStrike">
                <a:solidFill>
                  <a:srgbClr val="111111"/>
                </a:solidFill>
                <a:latin typeface="Arial"/>
                <a:ea typeface="Arial"/>
                <a:cs typeface="Arial"/>
                <a:sym typeface="Arial"/>
              </a:rPr>
              <a:t>受信機数</a:t>
            </a:r>
            <a:endParaRPr b="0" sz="1270" u="none" strike="noStrike">
              <a:solidFill>
                <a:srgbClr val="000000"/>
              </a:solidFill>
              <a:latin typeface="Arial"/>
              <a:ea typeface="Arial"/>
              <a:cs typeface="Arial"/>
              <a:sym typeface="Arial"/>
            </a:endParaRPr>
          </a:p>
        </p:txBody>
      </p:sp>
      <p:sp>
        <p:nvSpPr>
          <p:cNvPr id="113" name="Google Shape;113;p6"/>
          <p:cNvSpPr/>
          <p:nvPr/>
        </p:nvSpPr>
        <p:spPr>
          <a:xfrm>
            <a:off x="2892587" y="-2413980"/>
            <a:ext cx="3960720" cy="676440"/>
          </a:xfrm>
          <a:prstGeom prst="rect">
            <a:avLst/>
          </a:prstGeom>
          <a:solidFill>
            <a:srgbClr val="FFFFFF"/>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0" lang="zh-CN" sz="1270" u="none" strike="noStrike">
                <a:solidFill>
                  <a:srgbClr val="111111"/>
                </a:solidFill>
                <a:latin typeface="Arial"/>
                <a:ea typeface="Arial"/>
                <a:cs typeface="Arial"/>
                <a:sym typeface="Arial"/>
              </a:rPr>
              <a:t>1台または少数</a:t>
            </a:r>
            <a:endParaRPr b="0" sz="1270" u="none" strike="noStrike">
              <a:solidFill>
                <a:srgbClr val="000000"/>
              </a:solidFill>
              <a:latin typeface="Arial"/>
              <a:ea typeface="Arial"/>
              <a:cs typeface="Arial"/>
              <a:sym typeface="Arial"/>
            </a:endParaRPr>
          </a:p>
        </p:txBody>
      </p:sp>
      <p:sp>
        <p:nvSpPr>
          <p:cNvPr id="114" name="Google Shape;114;p6"/>
          <p:cNvSpPr/>
          <p:nvPr/>
        </p:nvSpPr>
        <p:spPr>
          <a:xfrm>
            <a:off x="6853667" y="-2413980"/>
            <a:ext cx="4273560" cy="676440"/>
          </a:xfrm>
          <a:prstGeom prst="rect">
            <a:avLst/>
          </a:prstGeom>
          <a:solidFill>
            <a:srgbClr val="FCEEEE"/>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1" lang="zh-CN" sz="1270" u="none" strike="noStrike">
                <a:solidFill>
                  <a:srgbClr val="C00000"/>
                </a:solidFill>
                <a:latin typeface="Arial"/>
                <a:ea typeface="Arial"/>
                <a:cs typeface="Arial"/>
                <a:sym typeface="Arial"/>
              </a:rPr>
              <a:t>受信機が変わる影響を評価しにくい</a:t>
            </a:r>
            <a:endParaRPr b="0" sz="1270" u="none" strike="noStrike">
              <a:solidFill>
                <a:srgbClr val="000000"/>
              </a:solidFill>
              <a:latin typeface="Arial"/>
              <a:ea typeface="Arial"/>
              <a:cs typeface="Arial"/>
              <a:sym typeface="Arial"/>
            </a:endParaRPr>
          </a:p>
        </p:txBody>
      </p:sp>
      <p:sp>
        <p:nvSpPr>
          <p:cNvPr id="115" name="Google Shape;115;p6"/>
          <p:cNvSpPr/>
          <p:nvPr/>
        </p:nvSpPr>
        <p:spPr>
          <a:xfrm>
            <a:off x="703427" y="-1737180"/>
            <a:ext cx="2188800" cy="676440"/>
          </a:xfrm>
          <a:prstGeom prst="rect">
            <a:avLst/>
          </a:prstGeom>
          <a:solidFill>
            <a:srgbClr val="FFFFFF"/>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0" lang="zh-CN" sz="1270" u="none" strike="noStrike">
                <a:solidFill>
                  <a:srgbClr val="111111"/>
                </a:solidFill>
                <a:latin typeface="Arial"/>
                <a:ea typeface="Arial"/>
                <a:cs typeface="Arial"/>
                <a:sym typeface="Arial"/>
              </a:rPr>
              <a:t>日付・環境</a:t>
            </a:r>
            <a:endParaRPr b="0" sz="1270" u="none" strike="noStrike">
              <a:solidFill>
                <a:srgbClr val="000000"/>
              </a:solidFill>
              <a:latin typeface="Arial"/>
              <a:ea typeface="Arial"/>
              <a:cs typeface="Arial"/>
              <a:sym typeface="Arial"/>
            </a:endParaRPr>
          </a:p>
        </p:txBody>
      </p:sp>
      <p:sp>
        <p:nvSpPr>
          <p:cNvPr id="116" name="Google Shape;116;p6"/>
          <p:cNvSpPr/>
          <p:nvPr/>
        </p:nvSpPr>
        <p:spPr>
          <a:xfrm>
            <a:off x="2892587" y="-1737180"/>
            <a:ext cx="3960720" cy="676440"/>
          </a:xfrm>
          <a:prstGeom prst="rect">
            <a:avLst/>
          </a:prstGeom>
          <a:solidFill>
            <a:srgbClr val="FFFFFF"/>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0" lang="zh-CN" sz="1270" u="none" strike="noStrike">
                <a:solidFill>
                  <a:srgbClr val="111111"/>
                </a:solidFill>
                <a:latin typeface="Arial"/>
                <a:ea typeface="Arial"/>
                <a:cs typeface="Arial"/>
                <a:sym typeface="Arial"/>
              </a:rPr>
              <a:t>限られた期間</a:t>
            </a:r>
            <a:endParaRPr b="0" sz="1270" u="none" strike="noStrike">
              <a:solidFill>
                <a:srgbClr val="000000"/>
              </a:solidFill>
              <a:latin typeface="Arial"/>
              <a:ea typeface="Arial"/>
              <a:cs typeface="Arial"/>
              <a:sym typeface="Arial"/>
            </a:endParaRPr>
          </a:p>
        </p:txBody>
      </p:sp>
      <p:sp>
        <p:nvSpPr>
          <p:cNvPr id="117" name="Google Shape;117;p6"/>
          <p:cNvSpPr/>
          <p:nvPr/>
        </p:nvSpPr>
        <p:spPr>
          <a:xfrm>
            <a:off x="6853667" y="-1737180"/>
            <a:ext cx="4273560" cy="676440"/>
          </a:xfrm>
          <a:prstGeom prst="rect">
            <a:avLst/>
          </a:prstGeom>
          <a:solidFill>
            <a:srgbClr val="FCEEEE"/>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1" lang="zh-CN" sz="1270" u="none" strike="noStrike">
                <a:solidFill>
                  <a:srgbClr val="C00000"/>
                </a:solidFill>
                <a:latin typeface="Arial"/>
                <a:ea typeface="Arial"/>
                <a:cs typeface="Arial"/>
                <a:sym typeface="Arial"/>
              </a:rPr>
              <a:t>チャネル変化への頑健性が不明</a:t>
            </a:r>
            <a:endParaRPr b="0" sz="1270" u="none" strike="noStrike">
              <a:solidFill>
                <a:srgbClr val="000000"/>
              </a:solidFill>
              <a:latin typeface="Arial"/>
              <a:ea typeface="Arial"/>
              <a:cs typeface="Arial"/>
              <a:sym typeface="Arial"/>
            </a:endParaRPr>
          </a:p>
        </p:txBody>
      </p:sp>
      <p:sp>
        <p:nvSpPr>
          <p:cNvPr id="118" name="Google Shape;118;p6"/>
          <p:cNvSpPr/>
          <p:nvPr/>
        </p:nvSpPr>
        <p:spPr>
          <a:xfrm>
            <a:off x="703427" y="-1060740"/>
            <a:ext cx="2188800" cy="676440"/>
          </a:xfrm>
          <a:prstGeom prst="rect">
            <a:avLst/>
          </a:prstGeom>
          <a:solidFill>
            <a:srgbClr val="FFFFFF"/>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0" lang="zh-CN" sz="1270" u="none" strike="noStrike">
                <a:solidFill>
                  <a:srgbClr val="111111"/>
                </a:solidFill>
                <a:latin typeface="Arial"/>
                <a:ea typeface="Arial"/>
                <a:cs typeface="Arial"/>
                <a:sym typeface="Arial"/>
              </a:rPr>
              <a:t>データ公開</a:t>
            </a:r>
            <a:endParaRPr b="0" sz="1270" u="none" strike="noStrike">
              <a:solidFill>
                <a:srgbClr val="000000"/>
              </a:solidFill>
              <a:latin typeface="Arial"/>
              <a:ea typeface="Arial"/>
              <a:cs typeface="Arial"/>
              <a:sym typeface="Arial"/>
            </a:endParaRPr>
          </a:p>
        </p:txBody>
      </p:sp>
      <p:sp>
        <p:nvSpPr>
          <p:cNvPr id="119" name="Google Shape;119;p6"/>
          <p:cNvSpPr/>
          <p:nvPr/>
        </p:nvSpPr>
        <p:spPr>
          <a:xfrm>
            <a:off x="2892587" y="-1060740"/>
            <a:ext cx="3960720" cy="676440"/>
          </a:xfrm>
          <a:prstGeom prst="rect">
            <a:avLst/>
          </a:prstGeom>
          <a:solidFill>
            <a:srgbClr val="FFFFFF"/>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0" lang="zh-CN" sz="1270" u="none" strike="noStrike">
                <a:solidFill>
                  <a:srgbClr val="111111"/>
                </a:solidFill>
                <a:latin typeface="Arial"/>
                <a:ea typeface="Arial"/>
                <a:cs typeface="Arial"/>
                <a:sym typeface="Arial"/>
              </a:rPr>
              <a:t>非公開の場合がある</a:t>
            </a:r>
            <a:endParaRPr b="0" sz="1270" u="none" strike="noStrike">
              <a:solidFill>
                <a:srgbClr val="000000"/>
              </a:solidFill>
              <a:latin typeface="Arial"/>
              <a:ea typeface="Arial"/>
              <a:cs typeface="Arial"/>
              <a:sym typeface="Arial"/>
            </a:endParaRPr>
          </a:p>
        </p:txBody>
      </p:sp>
      <p:sp>
        <p:nvSpPr>
          <p:cNvPr id="120" name="Google Shape;120;p6"/>
          <p:cNvSpPr/>
          <p:nvPr/>
        </p:nvSpPr>
        <p:spPr>
          <a:xfrm>
            <a:off x="6853667" y="-1060740"/>
            <a:ext cx="4273560" cy="676440"/>
          </a:xfrm>
          <a:prstGeom prst="rect">
            <a:avLst/>
          </a:prstGeom>
          <a:solidFill>
            <a:srgbClr val="FCEEEE"/>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1" lang="zh-CN" sz="1270" u="none" strike="noStrike">
                <a:solidFill>
                  <a:srgbClr val="C00000"/>
                </a:solidFill>
                <a:latin typeface="Arial"/>
                <a:ea typeface="Arial"/>
                <a:cs typeface="Arial"/>
                <a:sym typeface="Arial"/>
              </a:rPr>
              <a:t>再現・比較が難しい</a:t>
            </a:r>
            <a:endParaRPr b="0" sz="1270" u="none" strike="noStrike">
              <a:solidFill>
                <a:srgbClr val="000000"/>
              </a:solidFill>
              <a:latin typeface="Arial"/>
              <a:ea typeface="Arial"/>
              <a:cs typeface="Arial"/>
              <a:sym typeface="Arial"/>
            </a:endParaRPr>
          </a:p>
        </p:txBody>
      </p:sp>
      <p:sp>
        <p:nvSpPr>
          <p:cNvPr id="121" name="Google Shape;121;p6"/>
          <p:cNvSpPr/>
          <p:nvPr/>
        </p:nvSpPr>
        <p:spPr>
          <a:xfrm>
            <a:off x="1097280" y="5414999"/>
            <a:ext cx="9875160" cy="658080"/>
          </a:xfrm>
          <a:prstGeom prst="rect">
            <a:avLst/>
          </a:prstGeom>
          <a:solidFill>
            <a:srgbClr val="FFFFFF"/>
          </a:solidFill>
          <a:ln cap="flat" cmpd="sng" w="12700">
            <a:solidFill>
              <a:srgbClr val="003B5C"/>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spcBef>
                <a:spcPts val="0"/>
              </a:spcBef>
              <a:spcAft>
                <a:spcPts val="0"/>
              </a:spcAft>
              <a:buNone/>
            </a:pPr>
            <a:r>
              <a:rPr b="1" lang="zh-CN" sz="2800">
                <a:solidFill>
                  <a:schemeClr val="dk1"/>
                </a:solidFill>
                <a:latin typeface="Arial"/>
                <a:ea typeface="Arial"/>
                <a:cs typeface="Arial"/>
                <a:sym typeface="Arial"/>
              </a:rPr>
              <a:t>新モデルの提案よりも、評価基盤の提供が中心</a:t>
            </a:r>
            <a:endParaRPr sz="2800">
              <a:solidFill>
                <a:schemeClr val="dk1"/>
              </a:solidFill>
              <a:latin typeface="Arial"/>
              <a:ea typeface="Arial"/>
              <a:cs typeface="Arial"/>
              <a:sym typeface="Arial"/>
            </a:endParaRPr>
          </a:p>
        </p:txBody>
      </p:sp>
      <p:sp>
        <p:nvSpPr>
          <p:cNvPr id="122" name="Google Shape;122;p6"/>
          <p:cNvSpPr/>
          <p:nvPr/>
        </p:nvSpPr>
        <p:spPr>
          <a:xfrm>
            <a:off x="502920" y="6510600"/>
            <a:ext cx="9326520" cy="1641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zh-CN" sz="750" u="none" strike="noStrike">
                <a:solidFill>
                  <a:srgbClr val="666666"/>
                </a:solidFill>
                <a:latin typeface="Arial"/>
                <a:ea typeface="Arial"/>
                <a:cs typeface="Arial"/>
                <a:sym typeface="Arial"/>
              </a:rPr>
              <a:t>既存研究の整理は、WiSig論文のTable 1および関連研究記述に基づく。</a:t>
            </a:r>
            <a:endParaRPr b="0" sz="750" u="none" strike="noStrike">
              <a:solidFill>
                <a:srgbClr val="000000"/>
              </a:solidFill>
              <a:latin typeface="Arial"/>
              <a:ea typeface="Arial"/>
              <a:cs typeface="Arial"/>
              <a:sym typeface="Arial"/>
            </a:endParaRPr>
          </a:p>
        </p:txBody>
      </p:sp>
      <p:sp>
        <p:nvSpPr>
          <p:cNvPr id="123" name="Google Shape;123;p6"/>
          <p:cNvSpPr/>
          <p:nvPr/>
        </p:nvSpPr>
        <p:spPr>
          <a:xfrm>
            <a:off x="11612880" y="6473880"/>
            <a:ext cx="319680" cy="1641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lang="zh-CN" sz="800" u="none" strike="noStrike">
                <a:solidFill>
                  <a:srgbClr val="777777"/>
                </a:solidFill>
                <a:latin typeface="Arial"/>
                <a:ea typeface="Arial"/>
                <a:cs typeface="Arial"/>
                <a:sym typeface="Arial"/>
              </a:rPr>
              <a:t>6</a:t>
            </a:r>
            <a:endParaRPr b="0" sz="800" u="none" strike="noStrike">
              <a:solidFill>
                <a:srgbClr val="000000"/>
              </a:solidFill>
              <a:latin typeface="Arial"/>
              <a:ea typeface="Arial"/>
              <a:cs typeface="Arial"/>
              <a:sym typeface="Arial"/>
            </a:endParaRPr>
          </a:p>
        </p:txBody>
      </p:sp>
      <p:sp>
        <p:nvSpPr>
          <p:cNvPr id="124" name="Google Shape;124;p6"/>
          <p:cNvSpPr/>
          <p:nvPr/>
        </p:nvSpPr>
        <p:spPr>
          <a:xfrm>
            <a:off x="731520" y="968940"/>
            <a:ext cx="5364480" cy="4297320"/>
          </a:xfrm>
          <a:prstGeom prst="rect">
            <a:avLst/>
          </a:prstGeom>
          <a:noFill/>
          <a:ln>
            <a:noFill/>
          </a:ln>
        </p:spPr>
        <p:txBody>
          <a:bodyPr anchorCtr="0" anchor="ctr" bIns="350" lIns="350" spcFirstLastPara="1" rIns="350" wrap="square" tIns="350">
            <a:normAutofit/>
          </a:bodyPr>
          <a:lstStyle/>
          <a:p>
            <a:pPr indent="0" lvl="0" marL="0" marR="0" rtl="0" algn="l">
              <a:lnSpc>
                <a:spcPct val="100000"/>
              </a:lnSpc>
              <a:spcBef>
                <a:spcPts val="0"/>
              </a:spcBef>
              <a:spcAft>
                <a:spcPts val="0"/>
              </a:spcAft>
              <a:buNone/>
            </a:pPr>
            <a:r>
              <a:rPr b="1" lang="zh-CN" sz="2400" u="none" strike="noStrike">
                <a:solidFill>
                  <a:srgbClr val="FF0000"/>
                </a:solidFill>
                <a:latin typeface="Arial"/>
                <a:ea typeface="Arial"/>
                <a:cs typeface="Arial"/>
                <a:sym typeface="Arial"/>
              </a:rPr>
              <a:t>既存の研究の限界</a:t>
            </a:r>
            <a:endParaRPr b="1" sz="2400" u="none" strike="noStrike">
              <a:solidFill>
                <a:srgbClr val="FF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lang="zh-CN" sz="2400">
                <a:solidFill>
                  <a:schemeClr val="dk1"/>
                </a:solidFill>
                <a:latin typeface="Arial"/>
                <a:ea typeface="Arial"/>
                <a:cs typeface="Arial"/>
                <a:sym typeface="Arial"/>
              </a:rPr>
              <a:t>一台~数台のRx</a:t>
            </a:r>
            <a:endParaRPr/>
          </a:p>
          <a:p>
            <a:pPr indent="-342900" lvl="0" marL="342900" marR="0" rtl="0" algn="l">
              <a:lnSpc>
                <a:spcPct val="100000"/>
              </a:lnSpc>
              <a:spcBef>
                <a:spcPts val="0"/>
              </a:spcBef>
              <a:spcAft>
                <a:spcPts val="0"/>
              </a:spcAft>
              <a:buClr>
                <a:schemeClr val="dk1"/>
              </a:buClr>
              <a:buSzPts val="2400"/>
              <a:buFont typeface="Arial"/>
              <a:buChar char="•"/>
            </a:pPr>
            <a:r>
              <a:rPr lang="zh-CN" sz="2400">
                <a:solidFill>
                  <a:schemeClr val="dk1"/>
                </a:solidFill>
                <a:latin typeface="Arial"/>
                <a:ea typeface="Arial"/>
                <a:cs typeface="Arial"/>
                <a:sym typeface="Arial"/>
              </a:rPr>
              <a:t>限られた期間</a:t>
            </a:r>
            <a:endParaRPr sz="2400">
              <a:solidFill>
                <a:schemeClr val="dk1"/>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lang="zh-CN" sz="2400">
                <a:solidFill>
                  <a:schemeClr val="dk1"/>
                </a:solidFill>
                <a:latin typeface="Arial"/>
                <a:ea typeface="Arial"/>
                <a:cs typeface="Arial"/>
                <a:sym typeface="Arial"/>
              </a:rPr>
              <a:t>非公開</a:t>
            </a:r>
            <a:endParaRPr sz="2400">
              <a:solidFill>
                <a:schemeClr val="dk1"/>
              </a:solidFill>
              <a:latin typeface="Arial"/>
              <a:ea typeface="Arial"/>
              <a:cs typeface="Arial"/>
              <a:sym typeface="Arial"/>
            </a:endParaRPr>
          </a:p>
          <a:p>
            <a:pPr indent="-190500" lvl="0" marL="342900" marR="0" rtl="0" algn="l">
              <a:lnSpc>
                <a:spcPct val="100000"/>
              </a:lnSpc>
              <a:spcBef>
                <a:spcPts val="0"/>
              </a:spcBef>
              <a:spcAft>
                <a:spcPts val="0"/>
              </a:spcAft>
              <a:buClr>
                <a:schemeClr val="dk1"/>
              </a:buClr>
              <a:buSzPts val="2400"/>
              <a:buFont typeface="Arial"/>
              <a:buNone/>
            </a:pPr>
            <a:r>
              <a:t/>
            </a:r>
            <a:endParaRPr b="1" sz="2400" u="none" strike="noStrike">
              <a:solidFill>
                <a:schemeClr val="accent6"/>
              </a:solidFill>
              <a:latin typeface="Arial"/>
              <a:ea typeface="Arial"/>
              <a:cs typeface="Arial"/>
              <a:sym typeface="Arial"/>
            </a:endParaRPr>
          </a:p>
          <a:p>
            <a:pPr indent="0" lvl="0" marL="0" marR="0" rtl="0" algn="l">
              <a:lnSpc>
                <a:spcPct val="100000"/>
              </a:lnSpc>
              <a:spcBef>
                <a:spcPts val="0"/>
              </a:spcBef>
              <a:spcAft>
                <a:spcPts val="0"/>
              </a:spcAft>
              <a:buNone/>
            </a:pPr>
            <a:r>
              <a:rPr b="1" lang="zh-CN" sz="2400" u="none" strike="noStrike">
                <a:solidFill>
                  <a:schemeClr val="accent6"/>
                </a:solidFill>
                <a:latin typeface="Arial"/>
                <a:ea typeface="Arial"/>
                <a:cs typeface="Arial"/>
                <a:sym typeface="Arial"/>
              </a:rPr>
              <a:t>本研究の新規性</a:t>
            </a:r>
            <a:endParaRPr sz="2400">
              <a:solidFill>
                <a:srgbClr val="111111"/>
              </a:solidFill>
              <a:latin typeface="Arial"/>
              <a:ea typeface="Arial"/>
              <a:cs typeface="Arial"/>
              <a:sym typeface="Arial"/>
            </a:endParaRPr>
          </a:p>
          <a:p>
            <a:pPr indent="-342900" lvl="0" marL="342900" marR="0" rtl="0" algn="l">
              <a:lnSpc>
                <a:spcPct val="100000"/>
              </a:lnSpc>
              <a:spcBef>
                <a:spcPts val="0"/>
              </a:spcBef>
              <a:spcAft>
                <a:spcPts val="0"/>
              </a:spcAft>
              <a:buClr>
                <a:srgbClr val="111111"/>
              </a:buClr>
              <a:buSzPts val="2400"/>
              <a:buFont typeface="Arial"/>
              <a:buChar char="•"/>
            </a:pPr>
            <a:r>
              <a:rPr b="1" lang="zh-CN" sz="2400" u="none" strike="noStrike">
                <a:solidFill>
                  <a:srgbClr val="111111"/>
                </a:solidFill>
                <a:latin typeface="Arial"/>
                <a:ea typeface="Arial"/>
                <a:cs typeface="Arial"/>
                <a:sym typeface="Arial"/>
              </a:rPr>
              <a:t>174台</a:t>
            </a:r>
            <a:r>
              <a:rPr b="0" lang="zh-CN" sz="2400" u="none" strike="noStrike">
                <a:solidFill>
                  <a:srgbClr val="111111"/>
                </a:solidFill>
                <a:latin typeface="Arial"/>
                <a:ea typeface="Arial"/>
                <a:cs typeface="Arial"/>
                <a:sym typeface="Arial"/>
              </a:rPr>
              <a:t>のWiFi送信機</a:t>
            </a:r>
            <a:endParaRPr b="0" sz="2400" u="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111111"/>
              </a:buClr>
              <a:buSzPts val="2400"/>
              <a:buFont typeface="Arial"/>
              <a:buChar char="•"/>
            </a:pPr>
            <a:r>
              <a:rPr b="1" lang="zh-CN" sz="2400" u="none" strike="noStrike">
                <a:solidFill>
                  <a:srgbClr val="111111"/>
                </a:solidFill>
                <a:latin typeface="Arial"/>
                <a:ea typeface="Arial"/>
                <a:cs typeface="Arial"/>
                <a:sym typeface="Arial"/>
              </a:rPr>
              <a:t>41台</a:t>
            </a:r>
            <a:r>
              <a:rPr b="0" lang="zh-CN" sz="2400" u="none" strike="noStrike">
                <a:solidFill>
                  <a:srgbClr val="111111"/>
                </a:solidFill>
                <a:latin typeface="Arial"/>
                <a:ea typeface="Arial"/>
                <a:cs typeface="Arial"/>
                <a:sym typeface="Arial"/>
              </a:rPr>
              <a:t>のUSRP受信機</a:t>
            </a:r>
            <a:endParaRPr b="0" sz="2400" u="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111111"/>
              </a:buClr>
              <a:buSzPts val="2400"/>
              <a:buFont typeface="Arial"/>
              <a:buChar char="•"/>
            </a:pPr>
            <a:r>
              <a:rPr b="0" lang="zh-CN" sz="2400" u="none" strike="noStrike">
                <a:solidFill>
                  <a:srgbClr val="111111"/>
                </a:solidFill>
                <a:latin typeface="Arial"/>
                <a:ea typeface="Arial"/>
                <a:cs typeface="Arial"/>
                <a:sym typeface="Arial"/>
              </a:rPr>
              <a:t>約</a:t>
            </a:r>
            <a:r>
              <a:rPr b="1" lang="zh-CN" sz="2400" u="none" strike="noStrike">
                <a:solidFill>
                  <a:srgbClr val="111111"/>
                </a:solidFill>
                <a:latin typeface="Arial"/>
                <a:ea typeface="Arial"/>
                <a:cs typeface="Arial"/>
                <a:sym typeface="Arial"/>
              </a:rPr>
              <a:t>1000万</a:t>
            </a:r>
            <a:r>
              <a:rPr b="0" lang="zh-CN" sz="2400" u="none" strike="noStrike">
                <a:solidFill>
                  <a:srgbClr val="111111"/>
                </a:solidFill>
                <a:latin typeface="Arial"/>
                <a:ea typeface="Arial"/>
                <a:cs typeface="Arial"/>
                <a:sym typeface="Arial"/>
              </a:rPr>
              <a:t>WiFiパケット</a:t>
            </a:r>
            <a:endParaRPr b="0" sz="2400" u="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111111"/>
              </a:buClr>
              <a:buSzPts val="2400"/>
              <a:buFont typeface="Arial"/>
              <a:buChar char="•"/>
            </a:pPr>
            <a:r>
              <a:rPr b="0" lang="zh-CN" sz="2400" u="none" strike="noStrike">
                <a:solidFill>
                  <a:srgbClr val="111111"/>
                </a:solidFill>
                <a:latin typeface="Arial"/>
                <a:ea typeface="Arial"/>
                <a:cs typeface="Arial"/>
                <a:sym typeface="Arial"/>
              </a:rPr>
              <a:t>4回のキャプチャを</a:t>
            </a:r>
            <a:r>
              <a:rPr b="1" lang="zh-CN" sz="2400" u="none" strike="noStrike">
                <a:solidFill>
                  <a:srgbClr val="111111"/>
                </a:solidFill>
                <a:latin typeface="Arial"/>
                <a:ea typeface="Arial"/>
                <a:cs typeface="Arial"/>
                <a:sym typeface="Arial"/>
              </a:rPr>
              <a:t>約1か月</a:t>
            </a:r>
            <a:r>
              <a:rPr b="0" lang="zh-CN" sz="2400" u="none" strike="noStrike">
                <a:solidFill>
                  <a:srgbClr val="111111"/>
                </a:solidFill>
                <a:latin typeface="Arial"/>
                <a:ea typeface="Arial"/>
                <a:cs typeface="Arial"/>
                <a:sym typeface="Arial"/>
              </a:rPr>
              <a:t>で実施</a:t>
            </a:r>
            <a:endParaRPr b="0" sz="2400" u="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111111"/>
              </a:buClr>
              <a:buSzPts val="2400"/>
              <a:buFont typeface="Arial"/>
              <a:buChar char="•"/>
            </a:pPr>
            <a:r>
              <a:rPr b="1" lang="zh-CN" sz="2400" u="none" strike="noStrike">
                <a:solidFill>
                  <a:srgbClr val="111111"/>
                </a:solidFill>
                <a:latin typeface="Arial"/>
                <a:ea typeface="Arial"/>
                <a:cs typeface="Arial"/>
                <a:sym typeface="Arial"/>
              </a:rPr>
              <a:t>Raw data </a:t>
            </a:r>
            <a:r>
              <a:rPr b="0" lang="zh-CN" sz="2400" u="none" strike="noStrike">
                <a:solidFill>
                  <a:srgbClr val="111111"/>
                </a:solidFill>
                <a:latin typeface="Arial"/>
                <a:ea typeface="Arial"/>
                <a:cs typeface="Arial"/>
                <a:sym typeface="Arial"/>
              </a:rPr>
              <a:t>と</a:t>
            </a:r>
            <a:r>
              <a:rPr b="1" lang="zh-CN" sz="2400" u="none" strike="noStrike">
                <a:solidFill>
                  <a:srgbClr val="111111"/>
                </a:solidFill>
                <a:latin typeface="Arial"/>
                <a:ea typeface="Arial"/>
                <a:cs typeface="Arial"/>
                <a:sym typeface="Arial"/>
              </a:rPr>
              <a:t>処理済みデータ</a:t>
            </a:r>
            <a:r>
              <a:rPr b="0" lang="zh-CN" sz="2400" u="none" strike="noStrike">
                <a:solidFill>
                  <a:srgbClr val="111111"/>
                </a:solidFill>
                <a:latin typeface="Arial"/>
                <a:ea typeface="Arial"/>
                <a:cs typeface="Arial"/>
                <a:sym typeface="Arial"/>
              </a:rPr>
              <a:t>を提供</a:t>
            </a:r>
            <a:endParaRPr b="0" sz="2400" u="none" strike="noStrike">
              <a:solidFill>
                <a:srgbClr val="000000"/>
              </a:solidFill>
              <a:latin typeface="Arial"/>
              <a:ea typeface="Arial"/>
              <a:cs typeface="Arial"/>
              <a:sym typeface="Arial"/>
            </a:endParaRPr>
          </a:p>
        </p:txBody>
      </p:sp>
      <p:pic>
        <p:nvPicPr>
          <p:cNvPr id="125" name="Google Shape;125;p6"/>
          <p:cNvPicPr preferRelativeResize="0"/>
          <p:nvPr/>
        </p:nvPicPr>
        <p:blipFill rotWithShape="1">
          <a:blip r:embed="rId3">
            <a:alphaModFix/>
          </a:blip>
          <a:srcRect b="3874" l="4356" r="0" t="0"/>
          <a:stretch/>
        </p:blipFill>
        <p:spPr>
          <a:xfrm>
            <a:off x="5490249" y="957870"/>
            <a:ext cx="5727860" cy="3190259"/>
          </a:xfrm>
          <a:prstGeom prst="rect">
            <a:avLst/>
          </a:prstGeom>
          <a:noFill/>
          <a:ln>
            <a:noFill/>
          </a:ln>
        </p:spPr>
      </p:pic>
      <p:sp>
        <p:nvSpPr>
          <p:cNvPr id="126" name="Google Shape;126;p6"/>
          <p:cNvSpPr txBox="1"/>
          <p:nvPr/>
        </p:nvSpPr>
        <p:spPr>
          <a:xfrm>
            <a:off x="6117123" y="4319399"/>
            <a:ext cx="609783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zh-CN" sz="1800">
                <a:solidFill>
                  <a:schemeClr val="dk1"/>
                </a:solidFill>
                <a:latin typeface="Arial"/>
                <a:ea typeface="Arial"/>
                <a:cs typeface="Arial"/>
                <a:sym typeface="Arial"/>
              </a:rPr>
              <a:t>データ先リンク：</a:t>
            </a:r>
            <a:br>
              <a:rPr lang="zh-CN" sz="1800">
                <a:solidFill>
                  <a:schemeClr val="dk1"/>
                </a:solidFill>
                <a:latin typeface="Arial"/>
                <a:ea typeface="Arial"/>
                <a:cs typeface="Arial"/>
                <a:sym typeface="Arial"/>
              </a:rPr>
            </a:br>
            <a:r>
              <a:rPr lang="zh-CN" sz="1800">
                <a:solidFill>
                  <a:schemeClr val="dk1"/>
                </a:solidFill>
                <a:latin typeface="Arial"/>
                <a:ea typeface="Arial"/>
                <a:cs typeface="Arial"/>
                <a:sym typeface="Arial"/>
              </a:rPr>
              <a:t>https://cores.ee.ucla.edu/downloads/datasets/wisig/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 name="Shape 131"/>
        <p:cNvGrpSpPr/>
        <p:nvPr/>
      </p:nvGrpSpPr>
      <p:grpSpPr>
        <a:xfrm>
          <a:off x="0" y="0"/>
          <a:ext cx="0" cy="0"/>
          <a:chOff x="0" y="0"/>
          <a:chExt cx="0" cy="0"/>
        </a:xfrm>
      </p:grpSpPr>
      <p:sp>
        <p:nvSpPr>
          <p:cNvPr id="132" name="Google Shape;132;p7"/>
          <p:cNvSpPr/>
          <p:nvPr/>
        </p:nvSpPr>
        <p:spPr>
          <a:xfrm>
            <a:off x="502920" y="228600"/>
            <a:ext cx="11063880" cy="383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zh-CN" sz="2600" u="none" strike="noStrike">
                <a:solidFill>
                  <a:srgbClr val="111111"/>
                </a:solidFill>
                <a:latin typeface="Arial"/>
                <a:ea typeface="Arial"/>
                <a:cs typeface="Arial"/>
                <a:sym typeface="Arial"/>
              </a:rPr>
              <a:t>データ取得と処理パイプライン</a:t>
            </a:r>
            <a:endParaRPr b="0" sz="2600" u="none" strike="noStrike">
              <a:solidFill>
                <a:srgbClr val="000000"/>
              </a:solidFill>
              <a:latin typeface="Arial"/>
              <a:ea typeface="Arial"/>
              <a:cs typeface="Arial"/>
              <a:sym typeface="Arial"/>
            </a:endParaRPr>
          </a:p>
        </p:txBody>
      </p:sp>
      <p:cxnSp>
        <p:nvCxnSpPr>
          <p:cNvPr id="133" name="Google Shape;133;p7"/>
          <p:cNvCxnSpPr/>
          <p:nvPr/>
        </p:nvCxnSpPr>
        <p:spPr>
          <a:xfrm>
            <a:off x="502920" y="786240"/>
            <a:ext cx="11155680" cy="360"/>
          </a:xfrm>
          <a:prstGeom prst="straightConnector1">
            <a:avLst/>
          </a:prstGeom>
          <a:noFill/>
          <a:ln cap="flat" cmpd="sng" w="15225">
            <a:solidFill>
              <a:srgbClr val="003B5C"/>
            </a:solidFill>
            <a:prstDash val="solid"/>
            <a:round/>
            <a:headEnd len="sm" w="sm" type="none"/>
            <a:tailEnd len="sm" w="sm" type="none"/>
          </a:ln>
        </p:spPr>
      </p:cxnSp>
      <p:sp>
        <p:nvSpPr>
          <p:cNvPr id="134" name="Google Shape;134;p7"/>
          <p:cNvSpPr/>
          <p:nvPr/>
        </p:nvSpPr>
        <p:spPr>
          <a:xfrm>
            <a:off x="613080" y="1143000"/>
            <a:ext cx="822600" cy="621360"/>
          </a:xfrm>
          <a:prstGeom prst="rect">
            <a:avLst/>
          </a:prstGeom>
          <a:solidFill>
            <a:srgbClr val="FFFFFF"/>
          </a:solidFill>
          <a:ln cap="flat" cmpd="sng" w="12700">
            <a:solidFill>
              <a:srgbClr val="111111"/>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230" u="none" strike="noStrike">
                <a:solidFill>
                  <a:srgbClr val="111111"/>
                </a:solidFill>
                <a:latin typeface="Arial"/>
                <a:ea typeface="Arial"/>
                <a:cs typeface="Arial"/>
                <a:sym typeface="Arial"/>
              </a:rPr>
              <a:t>WiFi Tx</a:t>
            </a:r>
            <a:endParaRPr b="0" sz="1230" u="none" strike="noStrike">
              <a:solidFill>
                <a:srgbClr val="000000"/>
              </a:solidFill>
              <a:latin typeface="Arial"/>
              <a:ea typeface="Arial"/>
              <a:cs typeface="Arial"/>
              <a:sym typeface="Arial"/>
            </a:endParaRPr>
          </a:p>
        </p:txBody>
      </p:sp>
      <p:sp>
        <p:nvSpPr>
          <p:cNvPr id="135" name="Google Shape;135;p7"/>
          <p:cNvSpPr/>
          <p:nvPr/>
        </p:nvSpPr>
        <p:spPr>
          <a:xfrm>
            <a:off x="1893240" y="1143000"/>
            <a:ext cx="868320" cy="621360"/>
          </a:xfrm>
          <a:prstGeom prst="rect">
            <a:avLst/>
          </a:prstGeom>
          <a:solidFill>
            <a:srgbClr val="FFFFFF"/>
          </a:solidFill>
          <a:ln cap="flat" cmpd="sng" w="12700">
            <a:solidFill>
              <a:srgbClr val="111111"/>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230" u="none" strike="noStrike">
                <a:solidFill>
                  <a:srgbClr val="111111"/>
                </a:solidFill>
                <a:latin typeface="Arial"/>
                <a:ea typeface="Arial"/>
                <a:cs typeface="Arial"/>
                <a:sym typeface="Arial"/>
              </a:rPr>
              <a:t>USRP Rx</a:t>
            </a:r>
            <a:endParaRPr b="0" sz="1230" u="none" strike="noStrike">
              <a:solidFill>
                <a:srgbClr val="000000"/>
              </a:solidFill>
              <a:latin typeface="Arial"/>
              <a:ea typeface="Arial"/>
              <a:cs typeface="Arial"/>
              <a:sym typeface="Arial"/>
            </a:endParaRPr>
          </a:p>
        </p:txBody>
      </p:sp>
      <p:sp>
        <p:nvSpPr>
          <p:cNvPr id="136" name="Google Shape;136;p7"/>
          <p:cNvSpPr/>
          <p:nvPr/>
        </p:nvSpPr>
        <p:spPr>
          <a:xfrm>
            <a:off x="3200760" y="1143000"/>
            <a:ext cx="868320" cy="621360"/>
          </a:xfrm>
          <a:prstGeom prst="rect">
            <a:avLst/>
          </a:prstGeom>
          <a:solidFill>
            <a:srgbClr val="FFFFFF"/>
          </a:solidFill>
          <a:ln cap="flat" cmpd="sng" w="12700">
            <a:solidFill>
              <a:srgbClr val="111111"/>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230" u="none" strike="noStrike">
                <a:solidFill>
                  <a:srgbClr val="111111"/>
                </a:solidFill>
                <a:latin typeface="Arial"/>
                <a:ea typeface="Arial"/>
                <a:cs typeface="Arial"/>
                <a:sym typeface="Arial"/>
              </a:rPr>
              <a:t>Raw IQ</a:t>
            </a:r>
            <a:endParaRPr b="0" sz="1230" u="none" strike="noStrike">
              <a:solidFill>
                <a:srgbClr val="000000"/>
              </a:solidFill>
              <a:latin typeface="Arial"/>
              <a:ea typeface="Arial"/>
              <a:cs typeface="Arial"/>
              <a:sym typeface="Arial"/>
            </a:endParaRPr>
          </a:p>
        </p:txBody>
      </p:sp>
      <p:sp>
        <p:nvSpPr>
          <p:cNvPr id="137" name="Google Shape;137;p7"/>
          <p:cNvSpPr/>
          <p:nvPr/>
        </p:nvSpPr>
        <p:spPr>
          <a:xfrm>
            <a:off x="4480920" y="1143000"/>
            <a:ext cx="1051200" cy="621360"/>
          </a:xfrm>
          <a:prstGeom prst="rect">
            <a:avLst/>
          </a:prstGeom>
          <a:solidFill>
            <a:srgbClr val="FFFFFF"/>
          </a:solidFill>
          <a:ln cap="flat" cmpd="sng" w="12700">
            <a:solidFill>
              <a:srgbClr val="111111"/>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230" u="none" strike="noStrike">
                <a:solidFill>
                  <a:srgbClr val="111111"/>
                </a:solidFill>
                <a:latin typeface="Arial"/>
                <a:ea typeface="Arial"/>
                <a:cs typeface="Arial"/>
                <a:sym typeface="Arial"/>
              </a:rPr>
              <a:t>Packet</a:t>
            </a:r>
            <a:endParaRPr b="0" sz="123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zh-CN" sz="1230" u="none" strike="noStrike">
                <a:solidFill>
                  <a:srgbClr val="111111"/>
                </a:solidFill>
                <a:latin typeface="Arial"/>
                <a:ea typeface="Arial"/>
                <a:cs typeface="Arial"/>
                <a:sym typeface="Arial"/>
              </a:rPr>
              <a:t>Detection</a:t>
            </a:r>
            <a:endParaRPr b="0" sz="1230" u="none" strike="noStrike">
              <a:solidFill>
                <a:srgbClr val="000000"/>
              </a:solidFill>
              <a:latin typeface="Arial"/>
              <a:ea typeface="Arial"/>
              <a:cs typeface="Arial"/>
              <a:sym typeface="Arial"/>
            </a:endParaRPr>
          </a:p>
        </p:txBody>
      </p:sp>
      <p:sp>
        <p:nvSpPr>
          <p:cNvPr id="138" name="Google Shape;138;p7"/>
          <p:cNvSpPr/>
          <p:nvPr/>
        </p:nvSpPr>
        <p:spPr>
          <a:xfrm>
            <a:off x="6008040" y="1143000"/>
            <a:ext cx="914040" cy="621360"/>
          </a:xfrm>
          <a:prstGeom prst="rect">
            <a:avLst/>
          </a:prstGeom>
          <a:solidFill>
            <a:srgbClr val="FFFFFF"/>
          </a:solidFill>
          <a:ln cap="flat" cmpd="sng" w="12700">
            <a:solidFill>
              <a:srgbClr val="111111"/>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230" u="none" strike="noStrike">
                <a:solidFill>
                  <a:srgbClr val="111111"/>
                </a:solidFill>
                <a:latin typeface="Arial"/>
                <a:ea typeface="Arial"/>
                <a:cs typeface="Arial"/>
                <a:sym typeface="Arial"/>
              </a:rPr>
              <a:t>Id Signal</a:t>
            </a:r>
            <a:endParaRPr b="0" sz="1230" u="none" strike="noStrike">
              <a:solidFill>
                <a:srgbClr val="000000"/>
              </a:solidFill>
              <a:latin typeface="Arial"/>
              <a:ea typeface="Arial"/>
              <a:cs typeface="Arial"/>
              <a:sym typeface="Arial"/>
            </a:endParaRPr>
          </a:p>
        </p:txBody>
      </p:sp>
      <p:sp>
        <p:nvSpPr>
          <p:cNvPr id="139" name="Google Shape;139;p7"/>
          <p:cNvSpPr/>
          <p:nvPr/>
        </p:nvSpPr>
        <p:spPr>
          <a:xfrm>
            <a:off x="8294040" y="1143000"/>
            <a:ext cx="914040" cy="621360"/>
          </a:xfrm>
          <a:prstGeom prst="rect">
            <a:avLst/>
          </a:prstGeom>
          <a:solidFill>
            <a:srgbClr val="EAF6EF"/>
          </a:solidFill>
          <a:ln cap="flat" cmpd="sng" w="12700">
            <a:solidFill>
              <a:srgbClr val="00A651"/>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230" u="none" strike="noStrike">
                <a:solidFill>
                  <a:srgbClr val="111111"/>
                </a:solidFill>
                <a:latin typeface="Arial"/>
                <a:ea typeface="Arial"/>
                <a:cs typeface="Arial"/>
                <a:sym typeface="Arial"/>
              </a:rPr>
              <a:t>Dataset</a:t>
            </a:r>
            <a:endParaRPr b="0" sz="1230" u="none" strike="noStrike">
              <a:solidFill>
                <a:srgbClr val="000000"/>
              </a:solidFill>
              <a:latin typeface="Arial"/>
              <a:ea typeface="Arial"/>
              <a:cs typeface="Arial"/>
              <a:sym typeface="Arial"/>
            </a:endParaRPr>
          </a:p>
        </p:txBody>
      </p:sp>
      <p:sp>
        <p:nvSpPr>
          <p:cNvPr id="140" name="Google Shape;140;p7"/>
          <p:cNvSpPr/>
          <p:nvPr/>
        </p:nvSpPr>
        <p:spPr>
          <a:xfrm>
            <a:off x="9665640" y="1143000"/>
            <a:ext cx="959760" cy="621360"/>
          </a:xfrm>
          <a:prstGeom prst="rect">
            <a:avLst/>
          </a:prstGeom>
          <a:solidFill>
            <a:srgbClr val="FFFFFF"/>
          </a:solidFill>
          <a:ln cap="flat" cmpd="sng" w="12700">
            <a:solidFill>
              <a:srgbClr val="111111"/>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230" u="none" strike="noStrike">
                <a:solidFill>
                  <a:srgbClr val="111111"/>
                </a:solidFill>
                <a:latin typeface="Arial"/>
                <a:ea typeface="Arial"/>
                <a:cs typeface="Arial"/>
                <a:sym typeface="Arial"/>
              </a:rPr>
              <a:t>Classifier</a:t>
            </a:r>
            <a:endParaRPr b="0" sz="1230" u="none" strike="noStrike">
              <a:solidFill>
                <a:srgbClr val="000000"/>
              </a:solidFill>
              <a:latin typeface="Arial"/>
              <a:ea typeface="Arial"/>
              <a:cs typeface="Arial"/>
              <a:sym typeface="Arial"/>
            </a:endParaRPr>
          </a:p>
        </p:txBody>
      </p:sp>
      <p:sp>
        <p:nvSpPr>
          <p:cNvPr id="141" name="Google Shape;141;p7"/>
          <p:cNvSpPr/>
          <p:nvPr/>
        </p:nvSpPr>
        <p:spPr>
          <a:xfrm>
            <a:off x="10973160" y="1143000"/>
            <a:ext cx="639720" cy="621360"/>
          </a:xfrm>
          <a:prstGeom prst="rect">
            <a:avLst/>
          </a:prstGeom>
          <a:solidFill>
            <a:srgbClr val="FFFFFF"/>
          </a:solidFill>
          <a:ln cap="flat" cmpd="sng" w="12700">
            <a:solidFill>
              <a:srgbClr val="111111"/>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230" u="none" strike="noStrike">
                <a:solidFill>
                  <a:srgbClr val="111111"/>
                </a:solidFill>
                <a:latin typeface="Arial"/>
                <a:ea typeface="Arial"/>
                <a:cs typeface="Arial"/>
                <a:sym typeface="Arial"/>
              </a:rPr>
              <a:t>Tx ID</a:t>
            </a:r>
            <a:endParaRPr b="0" sz="1230" u="none" strike="noStrike">
              <a:solidFill>
                <a:srgbClr val="000000"/>
              </a:solidFill>
              <a:latin typeface="Arial"/>
              <a:ea typeface="Arial"/>
              <a:cs typeface="Arial"/>
              <a:sym typeface="Arial"/>
            </a:endParaRPr>
          </a:p>
        </p:txBody>
      </p:sp>
      <p:cxnSp>
        <p:nvCxnSpPr>
          <p:cNvPr id="142" name="Google Shape;142;p7"/>
          <p:cNvCxnSpPr/>
          <p:nvPr/>
        </p:nvCxnSpPr>
        <p:spPr>
          <a:xfrm>
            <a:off x="1481760" y="1453680"/>
            <a:ext cx="356400" cy="360"/>
          </a:xfrm>
          <a:prstGeom prst="straightConnector1">
            <a:avLst/>
          </a:prstGeom>
          <a:noFill/>
          <a:ln cap="flat" cmpd="sng" w="15225">
            <a:solidFill>
              <a:srgbClr val="003B5C"/>
            </a:solidFill>
            <a:prstDash val="solid"/>
            <a:round/>
            <a:headEnd len="sm" w="sm" type="none"/>
            <a:tailEnd len="med" w="med" type="triangle"/>
          </a:ln>
        </p:spPr>
      </p:cxnSp>
      <p:cxnSp>
        <p:nvCxnSpPr>
          <p:cNvPr id="143" name="Google Shape;143;p7"/>
          <p:cNvCxnSpPr/>
          <p:nvPr/>
        </p:nvCxnSpPr>
        <p:spPr>
          <a:xfrm>
            <a:off x="2807640" y="1453680"/>
            <a:ext cx="338040" cy="360"/>
          </a:xfrm>
          <a:prstGeom prst="straightConnector1">
            <a:avLst/>
          </a:prstGeom>
          <a:noFill/>
          <a:ln cap="flat" cmpd="sng" w="15225">
            <a:solidFill>
              <a:srgbClr val="003B5C"/>
            </a:solidFill>
            <a:prstDash val="solid"/>
            <a:round/>
            <a:headEnd len="sm" w="sm" type="none"/>
            <a:tailEnd len="med" w="med" type="triangle"/>
          </a:ln>
        </p:spPr>
      </p:cxnSp>
      <p:cxnSp>
        <p:nvCxnSpPr>
          <p:cNvPr id="144" name="Google Shape;144;p7"/>
          <p:cNvCxnSpPr/>
          <p:nvPr/>
        </p:nvCxnSpPr>
        <p:spPr>
          <a:xfrm>
            <a:off x="4115160" y="1453680"/>
            <a:ext cx="310680" cy="360"/>
          </a:xfrm>
          <a:prstGeom prst="straightConnector1">
            <a:avLst/>
          </a:prstGeom>
          <a:noFill/>
          <a:ln cap="flat" cmpd="sng" w="15225">
            <a:solidFill>
              <a:srgbClr val="003B5C"/>
            </a:solidFill>
            <a:prstDash val="solid"/>
            <a:round/>
            <a:headEnd len="sm" w="sm" type="none"/>
            <a:tailEnd len="med" w="med" type="triangle"/>
          </a:ln>
        </p:spPr>
      </p:cxnSp>
      <p:cxnSp>
        <p:nvCxnSpPr>
          <p:cNvPr id="145" name="Google Shape;145;p7"/>
          <p:cNvCxnSpPr/>
          <p:nvPr/>
        </p:nvCxnSpPr>
        <p:spPr>
          <a:xfrm>
            <a:off x="5578200" y="1453680"/>
            <a:ext cx="374760" cy="360"/>
          </a:xfrm>
          <a:prstGeom prst="straightConnector1">
            <a:avLst/>
          </a:prstGeom>
          <a:noFill/>
          <a:ln cap="flat" cmpd="sng" w="15225">
            <a:solidFill>
              <a:srgbClr val="003B5C"/>
            </a:solidFill>
            <a:prstDash val="solid"/>
            <a:round/>
            <a:headEnd len="sm" w="sm" type="none"/>
            <a:tailEnd len="med" w="med" type="triangle"/>
          </a:ln>
        </p:spPr>
      </p:cxnSp>
      <p:cxnSp>
        <p:nvCxnSpPr>
          <p:cNvPr id="146" name="Google Shape;146;p7"/>
          <p:cNvCxnSpPr/>
          <p:nvPr/>
        </p:nvCxnSpPr>
        <p:spPr>
          <a:xfrm>
            <a:off x="6968160" y="1453680"/>
            <a:ext cx="1270800" cy="360"/>
          </a:xfrm>
          <a:prstGeom prst="straightConnector1">
            <a:avLst/>
          </a:prstGeom>
          <a:noFill/>
          <a:ln cap="flat" cmpd="sng" w="15225">
            <a:solidFill>
              <a:srgbClr val="003B5C"/>
            </a:solidFill>
            <a:prstDash val="solid"/>
            <a:round/>
            <a:headEnd len="sm" w="sm" type="none"/>
            <a:tailEnd len="med" w="med" type="triangle"/>
          </a:ln>
        </p:spPr>
      </p:cxnSp>
      <p:cxnSp>
        <p:nvCxnSpPr>
          <p:cNvPr id="147" name="Google Shape;147;p7"/>
          <p:cNvCxnSpPr/>
          <p:nvPr/>
        </p:nvCxnSpPr>
        <p:spPr>
          <a:xfrm>
            <a:off x="9254160" y="1453680"/>
            <a:ext cx="356400" cy="360"/>
          </a:xfrm>
          <a:prstGeom prst="straightConnector1">
            <a:avLst/>
          </a:prstGeom>
          <a:noFill/>
          <a:ln cap="flat" cmpd="sng" w="15225">
            <a:solidFill>
              <a:srgbClr val="003B5C"/>
            </a:solidFill>
            <a:prstDash val="solid"/>
            <a:round/>
            <a:headEnd len="sm" w="sm" type="none"/>
            <a:tailEnd len="med" w="med" type="triangle"/>
          </a:ln>
        </p:spPr>
      </p:cxnSp>
      <p:cxnSp>
        <p:nvCxnSpPr>
          <p:cNvPr id="148" name="Google Shape;148;p7"/>
          <p:cNvCxnSpPr/>
          <p:nvPr/>
        </p:nvCxnSpPr>
        <p:spPr>
          <a:xfrm>
            <a:off x="10671480" y="1453680"/>
            <a:ext cx="246600" cy="360"/>
          </a:xfrm>
          <a:prstGeom prst="straightConnector1">
            <a:avLst/>
          </a:prstGeom>
          <a:noFill/>
          <a:ln cap="flat" cmpd="sng" w="15225">
            <a:solidFill>
              <a:srgbClr val="003B5C"/>
            </a:solidFill>
            <a:prstDash val="solid"/>
            <a:round/>
            <a:headEnd len="sm" w="sm" type="none"/>
            <a:tailEnd len="med" w="med" type="triangle"/>
          </a:ln>
        </p:spPr>
      </p:cxnSp>
      <p:sp>
        <p:nvSpPr>
          <p:cNvPr id="149" name="Google Shape;149;p7"/>
          <p:cNvSpPr/>
          <p:nvPr/>
        </p:nvSpPr>
        <p:spPr>
          <a:xfrm>
            <a:off x="6236640" y="2423160"/>
            <a:ext cx="1599840" cy="685440"/>
          </a:xfrm>
          <a:prstGeom prst="rect">
            <a:avLst/>
          </a:prstGeom>
          <a:solidFill>
            <a:srgbClr val="FFFFFF"/>
          </a:solidFill>
          <a:ln cap="flat" cmpd="sng" w="12700">
            <a:solidFill>
              <a:srgbClr val="111111"/>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0" lang="zh-CN" sz="1200" u="none" strike="noStrike">
                <a:solidFill>
                  <a:srgbClr val="111111"/>
                </a:solidFill>
                <a:latin typeface="Arial"/>
                <a:ea typeface="Arial"/>
                <a:cs typeface="Arial"/>
                <a:sym typeface="Arial"/>
              </a:rPr>
              <a:t>Non-equalized</a:t>
            </a:r>
            <a:endParaRPr b="0" sz="12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zh-CN" sz="1200" u="none" strike="noStrike">
                <a:solidFill>
                  <a:srgbClr val="111111"/>
                </a:solidFill>
                <a:latin typeface="Arial"/>
                <a:ea typeface="Arial"/>
                <a:cs typeface="Arial"/>
                <a:sym typeface="Arial"/>
              </a:rPr>
              <a:t>受信信号から抽出</a:t>
            </a:r>
            <a:endParaRPr b="0" sz="1200" u="none" strike="noStrike">
              <a:solidFill>
                <a:srgbClr val="000000"/>
              </a:solidFill>
              <a:latin typeface="Arial"/>
              <a:ea typeface="Arial"/>
              <a:cs typeface="Arial"/>
              <a:sym typeface="Arial"/>
            </a:endParaRPr>
          </a:p>
        </p:txBody>
      </p:sp>
      <p:sp>
        <p:nvSpPr>
          <p:cNvPr id="150" name="Google Shape;150;p7"/>
          <p:cNvSpPr/>
          <p:nvPr/>
        </p:nvSpPr>
        <p:spPr>
          <a:xfrm>
            <a:off x="8229600" y="2409723"/>
            <a:ext cx="1599840" cy="621360"/>
          </a:xfrm>
          <a:prstGeom prst="rect">
            <a:avLst/>
          </a:prstGeom>
          <a:solidFill>
            <a:srgbClr val="EAF6EF"/>
          </a:solidFill>
          <a:ln cap="flat" cmpd="sng" w="12700">
            <a:solidFill>
              <a:srgbClr val="00A651"/>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200" u="none" strike="noStrike">
                <a:solidFill>
                  <a:srgbClr val="00A651"/>
                </a:solidFill>
                <a:latin typeface="Arial"/>
                <a:ea typeface="Arial"/>
                <a:cs typeface="Arial"/>
                <a:sym typeface="Arial"/>
              </a:rPr>
              <a:t>Equalized</a:t>
            </a:r>
            <a:endParaRPr b="0" sz="12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zh-CN" sz="1200" u="none" strike="noStrike">
                <a:solidFill>
                  <a:srgbClr val="00A651"/>
                </a:solidFill>
                <a:latin typeface="Arial"/>
                <a:ea typeface="Arial"/>
                <a:cs typeface="Arial"/>
                <a:sym typeface="Arial"/>
              </a:rPr>
              <a:t>チャネル補正後</a:t>
            </a:r>
            <a:endParaRPr b="0" sz="1200" u="none" strike="noStrike">
              <a:solidFill>
                <a:srgbClr val="000000"/>
              </a:solidFill>
              <a:latin typeface="Arial"/>
              <a:ea typeface="Arial"/>
              <a:cs typeface="Arial"/>
              <a:sym typeface="Arial"/>
            </a:endParaRPr>
          </a:p>
        </p:txBody>
      </p:sp>
      <p:cxnSp>
        <p:nvCxnSpPr>
          <p:cNvPr id="151" name="Google Shape;151;p7"/>
          <p:cNvCxnSpPr/>
          <p:nvPr/>
        </p:nvCxnSpPr>
        <p:spPr>
          <a:xfrm>
            <a:off x="6465240" y="1755360"/>
            <a:ext cx="228600" cy="603720"/>
          </a:xfrm>
          <a:prstGeom prst="straightConnector1">
            <a:avLst/>
          </a:prstGeom>
          <a:noFill/>
          <a:ln cap="flat" cmpd="sng" w="15225">
            <a:solidFill>
              <a:srgbClr val="003B5C"/>
            </a:solidFill>
            <a:prstDash val="solid"/>
            <a:round/>
            <a:headEnd len="sm" w="sm" type="none"/>
            <a:tailEnd len="med" w="med" type="triangle"/>
          </a:ln>
        </p:spPr>
      </p:cxnSp>
      <p:cxnSp>
        <p:nvCxnSpPr>
          <p:cNvPr id="152" name="Google Shape;152;p7"/>
          <p:cNvCxnSpPr/>
          <p:nvPr/>
        </p:nvCxnSpPr>
        <p:spPr>
          <a:xfrm>
            <a:off x="6843953" y="1773540"/>
            <a:ext cx="1450087" cy="594000"/>
          </a:xfrm>
          <a:prstGeom prst="straightConnector1">
            <a:avLst/>
          </a:prstGeom>
          <a:noFill/>
          <a:ln cap="flat" cmpd="sng" w="15225">
            <a:solidFill>
              <a:srgbClr val="003B5C"/>
            </a:solidFill>
            <a:prstDash val="solid"/>
            <a:round/>
            <a:headEnd len="sm" w="sm" type="none"/>
            <a:tailEnd len="med" w="med" type="triangle"/>
          </a:ln>
        </p:spPr>
      </p:cxnSp>
      <p:sp>
        <p:nvSpPr>
          <p:cNvPr id="153" name="Google Shape;153;p7"/>
          <p:cNvSpPr/>
          <p:nvPr/>
        </p:nvSpPr>
        <p:spPr>
          <a:xfrm>
            <a:off x="822960" y="5440680"/>
            <a:ext cx="10698120" cy="594000"/>
          </a:xfrm>
          <a:prstGeom prst="rect">
            <a:avLst/>
          </a:prstGeom>
          <a:noFill/>
          <a:ln>
            <a:noFill/>
          </a:ln>
        </p:spPr>
        <p:txBody>
          <a:bodyPr anchorCtr="0" anchor="t" bIns="350" lIns="350" spcFirstLastPara="1" rIns="350" wrap="square" tIns="350">
            <a:normAutofit/>
          </a:bodyPr>
          <a:lstStyle/>
          <a:p>
            <a:pPr indent="0" lvl="0" marL="0" marR="0" rtl="0" algn="ctr">
              <a:lnSpc>
                <a:spcPct val="100000"/>
              </a:lnSpc>
              <a:spcBef>
                <a:spcPts val="0"/>
              </a:spcBef>
              <a:spcAft>
                <a:spcPts val="0"/>
              </a:spcAft>
              <a:buNone/>
            </a:pPr>
            <a:r>
              <a:rPr b="1" lang="zh-CN" sz="1450" u="none" strike="noStrike">
                <a:solidFill>
                  <a:srgbClr val="003B5C"/>
                </a:solidFill>
                <a:latin typeface="Arial"/>
                <a:ea typeface="Arial"/>
                <a:cs typeface="Arial"/>
                <a:sym typeface="Arial"/>
              </a:rPr>
              <a:t>Raw IQ信号を取得し、パケット検出後に識別用信号へ加工する。</a:t>
            </a:r>
            <a:endParaRPr b="0" sz="14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zh-CN" sz="1450" u="none" strike="noStrike">
                <a:solidFill>
                  <a:srgbClr val="003B5C"/>
                </a:solidFill>
                <a:latin typeface="Arial"/>
                <a:ea typeface="Arial"/>
                <a:cs typeface="Arial"/>
                <a:sym typeface="Arial"/>
              </a:rPr>
              <a:t>WiSigでは、Non-equalized / Equalized の2種類を用意して比較できる。</a:t>
            </a:r>
            <a:endParaRPr b="0" sz="1450" u="none" strike="noStrike">
              <a:solidFill>
                <a:srgbClr val="000000"/>
              </a:solidFill>
              <a:latin typeface="Arial"/>
              <a:ea typeface="Arial"/>
              <a:cs typeface="Arial"/>
              <a:sym typeface="Arial"/>
            </a:endParaRPr>
          </a:p>
        </p:txBody>
      </p:sp>
      <p:sp>
        <p:nvSpPr>
          <p:cNvPr id="154" name="Google Shape;154;p7"/>
          <p:cNvSpPr/>
          <p:nvPr/>
        </p:nvSpPr>
        <p:spPr>
          <a:xfrm>
            <a:off x="502920" y="6510600"/>
            <a:ext cx="9326520" cy="1641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zh-CN" sz="750" u="none" strike="noStrike">
                <a:solidFill>
                  <a:srgbClr val="666666"/>
                </a:solidFill>
                <a:latin typeface="Arial"/>
                <a:ea typeface="Arial"/>
                <a:cs typeface="Arial"/>
                <a:sym typeface="Arial"/>
              </a:rPr>
              <a:t>出典：Hanna et al., WiSig, Fig.2 / Fig.5</a:t>
            </a:r>
            <a:endParaRPr b="0" sz="750" u="none" strike="noStrike">
              <a:solidFill>
                <a:srgbClr val="000000"/>
              </a:solidFill>
              <a:latin typeface="Arial"/>
              <a:ea typeface="Arial"/>
              <a:cs typeface="Arial"/>
              <a:sym typeface="Arial"/>
            </a:endParaRPr>
          </a:p>
        </p:txBody>
      </p:sp>
      <p:sp>
        <p:nvSpPr>
          <p:cNvPr id="155" name="Google Shape;155;p7"/>
          <p:cNvSpPr/>
          <p:nvPr/>
        </p:nvSpPr>
        <p:spPr>
          <a:xfrm>
            <a:off x="11612880" y="6473880"/>
            <a:ext cx="319680" cy="1641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lang="zh-CN" sz="800" u="none" strike="noStrike">
                <a:solidFill>
                  <a:srgbClr val="777777"/>
                </a:solidFill>
                <a:latin typeface="Arial"/>
                <a:ea typeface="Arial"/>
                <a:cs typeface="Arial"/>
                <a:sym typeface="Arial"/>
              </a:rPr>
              <a:t>9</a:t>
            </a:r>
            <a:endParaRPr b="0" sz="800" u="none" strike="noStrike">
              <a:solidFill>
                <a:srgbClr val="000000"/>
              </a:solidFill>
              <a:latin typeface="Arial"/>
              <a:ea typeface="Arial"/>
              <a:cs typeface="Arial"/>
              <a:sym typeface="Arial"/>
            </a:endParaRPr>
          </a:p>
        </p:txBody>
      </p:sp>
      <p:sp>
        <p:nvSpPr>
          <p:cNvPr id="156" name="Google Shape;156;p7"/>
          <p:cNvSpPr txBox="1"/>
          <p:nvPr/>
        </p:nvSpPr>
        <p:spPr>
          <a:xfrm>
            <a:off x="2726848" y="1143000"/>
            <a:ext cx="31013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zh-CN" sz="1800">
                <a:solidFill>
                  <a:schemeClr val="dk1"/>
                </a:solidFill>
                <a:latin typeface="Arial"/>
                <a:ea typeface="Arial"/>
                <a:cs typeface="Arial"/>
                <a:sym typeface="Arial"/>
              </a:rPr>
              <a:t>①</a:t>
            </a:r>
            <a:endParaRPr/>
          </a:p>
        </p:txBody>
      </p:sp>
      <p:sp>
        <p:nvSpPr>
          <p:cNvPr id="157" name="Google Shape;157;p7"/>
          <p:cNvSpPr txBox="1"/>
          <p:nvPr/>
        </p:nvSpPr>
        <p:spPr>
          <a:xfrm>
            <a:off x="4077792" y="1143000"/>
            <a:ext cx="31013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zh-CN" sz="1800">
                <a:solidFill>
                  <a:schemeClr val="dk1"/>
                </a:solidFill>
                <a:latin typeface="Arial"/>
                <a:ea typeface="Arial"/>
                <a:cs typeface="Arial"/>
                <a:sym typeface="Arial"/>
              </a:rPr>
              <a:t>②</a:t>
            </a:r>
            <a:endParaRPr/>
          </a:p>
        </p:txBody>
      </p:sp>
      <p:sp>
        <p:nvSpPr>
          <p:cNvPr id="158" name="Google Shape;158;p7"/>
          <p:cNvSpPr txBox="1"/>
          <p:nvPr/>
        </p:nvSpPr>
        <p:spPr>
          <a:xfrm>
            <a:off x="5572128" y="1074922"/>
            <a:ext cx="31013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zh-CN" sz="1800">
                <a:solidFill>
                  <a:schemeClr val="dk1"/>
                </a:solidFill>
                <a:latin typeface="Arial"/>
                <a:ea typeface="Arial"/>
                <a:cs typeface="Arial"/>
                <a:sym typeface="Arial"/>
              </a:rPr>
              <a:t>③</a:t>
            </a:r>
            <a:endParaRPr/>
          </a:p>
        </p:txBody>
      </p:sp>
      <p:sp>
        <p:nvSpPr>
          <p:cNvPr id="159" name="Google Shape;159;p7"/>
          <p:cNvSpPr txBox="1"/>
          <p:nvPr/>
        </p:nvSpPr>
        <p:spPr>
          <a:xfrm>
            <a:off x="8138613" y="2088882"/>
            <a:ext cx="31013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zh-CN" sz="1800">
                <a:solidFill>
                  <a:schemeClr val="dk1"/>
                </a:solidFill>
                <a:latin typeface="Arial"/>
                <a:ea typeface="Arial"/>
                <a:cs typeface="Arial"/>
                <a:sym typeface="Arial"/>
              </a:rPr>
              <a:t>④</a:t>
            </a:r>
            <a:endParaRPr/>
          </a:p>
        </p:txBody>
      </p:sp>
      <p:sp>
        <p:nvSpPr>
          <p:cNvPr id="160" name="Google Shape;160;p7"/>
          <p:cNvSpPr txBox="1"/>
          <p:nvPr/>
        </p:nvSpPr>
        <p:spPr>
          <a:xfrm>
            <a:off x="7945630" y="912074"/>
            <a:ext cx="31013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zh-CN" sz="1800">
                <a:solidFill>
                  <a:schemeClr val="dk1"/>
                </a:solidFill>
                <a:latin typeface="Arial"/>
                <a:ea typeface="Arial"/>
                <a:cs typeface="Arial"/>
                <a:sym typeface="Arial"/>
              </a:rPr>
              <a:t>⑤</a:t>
            </a:r>
            <a:endParaRPr/>
          </a:p>
        </p:txBody>
      </p:sp>
      <p:sp>
        <p:nvSpPr>
          <p:cNvPr id="161" name="Google Shape;161;p7"/>
          <p:cNvSpPr txBox="1"/>
          <p:nvPr/>
        </p:nvSpPr>
        <p:spPr>
          <a:xfrm>
            <a:off x="9521881" y="846388"/>
            <a:ext cx="31013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zh-CN" sz="1800">
                <a:solidFill>
                  <a:schemeClr val="dk1"/>
                </a:solidFill>
                <a:latin typeface="Arial"/>
                <a:ea typeface="Arial"/>
                <a:cs typeface="Arial"/>
                <a:sym typeface="Arial"/>
              </a:rPr>
              <a:t>⑥</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 name="Shape 166"/>
        <p:cNvGrpSpPr/>
        <p:nvPr/>
      </p:nvGrpSpPr>
      <p:grpSpPr>
        <a:xfrm>
          <a:off x="0" y="0"/>
          <a:ext cx="0" cy="0"/>
          <a:chOff x="0" y="0"/>
          <a:chExt cx="0" cy="0"/>
        </a:xfrm>
      </p:grpSpPr>
      <p:sp>
        <p:nvSpPr>
          <p:cNvPr id="167" name="Google Shape;167;p8"/>
          <p:cNvSpPr/>
          <p:nvPr/>
        </p:nvSpPr>
        <p:spPr>
          <a:xfrm>
            <a:off x="502920" y="228600"/>
            <a:ext cx="11063880" cy="383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zh-CN" sz="4000" u="none" strike="noStrike">
                <a:solidFill>
                  <a:srgbClr val="111111"/>
                </a:solidFill>
                <a:latin typeface="Arial"/>
                <a:ea typeface="Arial"/>
                <a:cs typeface="Arial"/>
                <a:sym typeface="Arial"/>
              </a:rPr>
              <a:t>Subsetデータの作成方法</a:t>
            </a:r>
            <a:endParaRPr b="0" sz="4000" u="none" strike="noStrike">
              <a:solidFill>
                <a:srgbClr val="000000"/>
              </a:solidFill>
              <a:latin typeface="Arial"/>
              <a:ea typeface="Arial"/>
              <a:cs typeface="Arial"/>
              <a:sym typeface="Arial"/>
            </a:endParaRPr>
          </a:p>
        </p:txBody>
      </p:sp>
      <p:cxnSp>
        <p:nvCxnSpPr>
          <p:cNvPr id="168" name="Google Shape;168;p8"/>
          <p:cNvCxnSpPr/>
          <p:nvPr/>
        </p:nvCxnSpPr>
        <p:spPr>
          <a:xfrm>
            <a:off x="502920" y="786240"/>
            <a:ext cx="11155680" cy="360"/>
          </a:xfrm>
          <a:prstGeom prst="straightConnector1">
            <a:avLst/>
          </a:prstGeom>
          <a:noFill/>
          <a:ln cap="flat" cmpd="sng" w="15225">
            <a:solidFill>
              <a:srgbClr val="003B5C"/>
            </a:solidFill>
            <a:prstDash val="solid"/>
            <a:round/>
            <a:headEnd len="sm" w="sm" type="none"/>
            <a:tailEnd len="sm" w="sm" type="none"/>
          </a:ln>
        </p:spPr>
      </p:cxnSp>
      <p:sp>
        <p:nvSpPr>
          <p:cNvPr id="169" name="Google Shape;169;p8"/>
          <p:cNvSpPr/>
          <p:nvPr/>
        </p:nvSpPr>
        <p:spPr>
          <a:xfrm>
            <a:off x="649912" y="1036440"/>
            <a:ext cx="4950428" cy="5131440"/>
          </a:xfrm>
          <a:prstGeom prst="rect">
            <a:avLst/>
          </a:prstGeom>
          <a:noFill/>
          <a:ln>
            <a:noFill/>
          </a:ln>
        </p:spPr>
        <p:txBody>
          <a:bodyPr anchorCtr="0" anchor="ctr" bIns="350" lIns="350" spcFirstLastPara="1" rIns="350" wrap="square" tIns="350">
            <a:noAutofit/>
          </a:bodyPr>
          <a:lstStyle/>
          <a:p>
            <a:pPr indent="0" lvl="0" marL="0" marR="0" rtl="0" algn="l">
              <a:lnSpc>
                <a:spcPct val="100000"/>
              </a:lnSpc>
              <a:spcBef>
                <a:spcPts val="0"/>
              </a:spcBef>
              <a:spcAft>
                <a:spcPts val="0"/>
              </a:spcAft>
              <a:buNone/>
            </a:pPr>
            <a:r>
              <a:t/>
            </a:r>
            <a:endParaRPr b="0" sz="2400" u="none" strike="noStrike">
              <a:solidFill>
                <a:srgbClr val="111111"/>
              </a:solidFill>
              <a:latin typeface="Arial"/>
              <a:ea typeface="Arial"/>
              <a:cs typeface="Arial"/>
              <a:sym typeface="Arial"/>
            </a:endParaRPr>
          </a:p>
          <a:p>
            <a:pPr indent="0" lvl="0" marL="0" marR="0" rtl="0" algn="l">
              <a:spcBef>
                <a:spcPts val="0"/>
              </a:spcBef>
              <a:spcAft>
                <a:spcPts val="0"/>
              </a:spcAft>
              <a:buNone/>
            </a:pPr>
            <a:r>
              <a:rPr b="1" lang="zh-CN" sz="2400">
                <a:solidFill>
                  <a:srgbClr val="003B5C"/>
                </a:solidFill>
                <a:latin typeface="Arial"/>
                <a:ea typeface="Arial"/>
                <a:cs typeface="Arial"/>
                <a:sym typeface="Arial"/>
              </a:rPr>
              <a:t>IQ信号</a:t>
            </a:r>
            <a:r>
              <a:rPr b="1" lang="zh-CN" sz="2400">
                <a:solidFill>
                  <a:srgbClr val="111111"/>
                </a:solidFill>
                <a:latin typeface="Arial"/>
                <a:ea typeface="Arial"/>
                <a:cs typeface="Arial"/>
                <a:sym typeface="Arial"/>
              </a:rPr>
              <a:t>：</a:t>
            </a:r>
            <a:r>
              <a:rPr b="0" lang="zh-CN" sz="2400" u="none" strike="noStrike">
                <a:solidFill>
                  <a:srgbClr val="111111"/>
                </a:solidFill>
                <a:latin typeface="Arial"/>
                <a:ea typeface="Arial"/>
                <a:cs typeface="Arial"/>
                <a:sym typeface="Arial"/>
              </a:rPr>
              <a:t>無線信号を複素数として表したデータ</a:t>
            </a:r>
            <a:endParaRPr b="0" sz="24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zh-CN" sz="2400" u="none" strike="noStrike">
                <a:solidFill>
                  <a:srgbClr val="111111"/>
                </a:solidFill>
                <a:latin typeface="Arial"/>
                <a:ea typeface="Arial"/>
                <a:cs typeface="Arial"/>
                <a:sym typeface="Arial"/>
              </a:rPr>
              <a:t>Iは実部、Qは虚部に対応する</a:t>
            </a:r>
            <a:endParaRPr b="0" sz="24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zh-CN" sz="2400" u="none" strike="noStrike">
                <a:solidFill>
                  <a:srgbClr val="111111"/>
                </a:solidFill>
                <a:latin typeface="Arial"/>
                <a:ea typeface="Arial"/>
                <a:cs typeface="Arial"/>
                <a:sym typeface="Arial"/>
              </a:rPr>
              <a:t>振幅と位相の情報を含む</a:t>
            </a:r>
            <a:endParaRPr b="0" sz="24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lang="zh-CN" sz="2400" u="none" strike="noStrike">
                <a:solidFill>
                  <a:srgbClr val="C00000"/>
                </a:solidFill>
                <a:latin typeface="Arial"/>
                <a:ea typeface="Arial"/>
                <a:cs typeface="Arial"/>
                <a:sym typeface="Arial"/>
              </a:rPr>
              <a:t>256 IQ samples は256ビットではなく、256個の複素ベースバンドサンプル</a:t>
            </a:r>
            <a:endParaRPr b="1" sz="2400" u="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None/>
            </a:pPr>
            <a:r>
              <a:rPr b="1" lang="zh-CN" sz="2400" u="none" strike="noStrike">
                <a:solidFill>
                  <a:schemeClr val="dk1"/>
                </a:solidFill>
                <a:latin typeface="Arial"/>
                <a:ea typeface="Arial"/>
                <a:cs typeface="Arial"/>
                <a:sym typeface="Arial"/>
              </a:rPr>
              <a:t>IQ信号→パケット</a:t>
            </a:r>
            <a:r>
              <a:rPr lang="zh-CN" sz="2400" u="none" strike="noStrike">
                <a:solidFill>
                  <a:schemeClr val="dk1"/>
                </a:solidFill>
                <a:latin typeface="Arial"/>
                <a:ea typeface="Arial"/>
                <a:cs typeface="Arial"/>
                <a:sym typeface="Arial"/>
              </a:rPr>
              <a:t>：連続してIQ信号の大きさが</a:t>
            </a:r>
            <a:r>
              <a:rPr b="1" lang="zh-CN" sz="2400" u="none" strike="noStrike">
                <a:solidFill>
                  <a:schemeClr val="dk1"/>
                </a:solidFill>
                <a:latin typeface="Arial"/>
                <a:ea typeface="Arial"/>
                <a:cs typeface="Arial"/>
                <a:sym typeface="Arial"/>
              </a:rPr>
              <a:t>閾値</a:t>
            </a:r>
            <a:r>
              <a:rPr lang="zh-CN" sz="2400" u="none" strike="noStrike">
                <a:solidFill>
                  <a:schemeClr val="dk1"/>
                </a:solidFill>
                <a:latin typeface="Arial"/>
                <a:ea typeface="Arial"/>
                <a:cs typeface="Arial"/>
                <a:sym typeface="Arial"/>
              </a:rPr>
              <a:t>より大きい場合判定（経験則）</a:t>
            </a:r>
            <a:endParaRPr sz="2400" u="none" strike="noStrike">
              <a:solidFill>
                <a:schemeClr val="dk1"/>
              </a:solidFill>
              <a:latin typeface="Arial"/>
              <a:ea typeface="Arial"/>
              <a:cs typeface="Arial"/>
              <a:sym typeface="Arial"/>
            </a:endParaRPr>
          </a:p>
          <a:p>
            <a:pPr indent="0" lvl="0" marL="0" marR="0" rtl="0" algn="l">
              <a:spcBef>
                <a:spcPts val="0"/>
              </a:spcBef>
              <a:spcAft>
                <a:spcPts val="0"/>
              </a:spcAft>
              <a:buNone/>
            </a:pPr>
            <a:r>
              <a:rPr b="1" lang="zh-CN" sz="2400">
                <a:solidFill>
                  <a:schemeClr val="dk1"/>
                </a:solidFill>
                <a:latin typeface="Arial"/>
                <a:ea typeface="Arial"/>
                <a:cs typeface="Arial"/>
                <a:sym typeface="Arial"/>
              </a:rPr>
              <a:t>IDSignal：WiFiパケット先頭部</a:t>
            </a:r>
            <a:r>
              <a:rPr lang="zh-CN" sz="2400">
                <a:solidFill>
                  <a:schemeClr val="dk1"/>
                </a:solidFill>
                <a:latin typeface="Arial"/>
                <a:ea typeface="Arial"/>
                <a:cs typeface="Arial"/>
                <a:sym typeface="Arial"/>
              </a:rPr>
              <a:t>の256個の複素IQサンプルをWiFiの</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zh-CN" sz="2400">
                <a:solidFill>
                  <a:schemeClr val="dk1"/>
                </a:solidFill>
                <a:latin typeface="Arial"/>
                <a:ea typeface="Arial"/>
                <a:cs typeface="Arial"/>
                <a:sym typeface="Arial"/>
              </a:rPr>
              <a:t>通信規格等の諸条件から特定する</a:t>
            </a:r>
            <a:endParaRPr b="1" sz="2400" u="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None/>
            </a:pPr>
            <a:r>
              <a:t/>
            </a:r>
            <a:endParaRPr b="1" sz="2400" u="none" strike="noStrike">
              <a:solidFill>
                <a:srgbClr val="C00000"/>
              </a:solidFill>
              <a:latin typeface="Arial"/>
              <a:ea typeface="Arial"/>
              <a:cs typeface="Arial"/>
              <a:sym typeface="Arial"/>
            </a:endParaRPr>
          </a:p>
        </p:txBody>
      </p:sp>
      <p:sp>
        <p:nvSpPr>
          <p:cNvPr id="170" name="Google Shape;170;p8"/>
          <p:cNvSpPr/>
          <p:nvPr/>
        </p:nvSpPr>
        <p:spPr>
          <a:xfrm>
            <a:off x="5827448" y="1817362"/>
            <a:ext cx="1314000" cy="807480"/>
          </a:xfrm>
          <a:prstGeom prst="rect">
            <a:avLst/>
          </a:prstGeom>
          <a:solidFill>
            <a:srgbClr val="F3F5F7"/>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1" lang="zh-CN" sz="1220" u="none" strike="noStrike">
                <a:solidFill>
                  <a:srgbClr val="111111"/>
                </a:solidFill>
                <a:latin typeface="Arial"/>
                <a:ea typeface="Arial"/>
                <a:cs typeface="Arial"/>
                <a:sym typeface="Arial"/>
              </a:rPr>
              <a:t>種類</a:t>
            </a:r>
            <a:endParaRPr b="0" sz="1220" u="none" strike="noStrike">
              <a:solidFill>
                <a:srgbClr val="000000"/>
              </a:solidFill>
              <a:latin typeface="Arial"/>
              <a:ea typeface="Arial"/>
              <a:cs typeface="Arial"/>
              <a:sym typeface="Arial"/>
            </a:endParaRPr>
          </a:p>
        </p:txBody>
      </p:sp>
      <p:sp>
        <p:nvSpPr>
          <p:cNvPr id="171" name="Google Shape;171;p8"/>
          <p:cNvSpPr/>
          <p:nvPr/>
        </p:nvSpPr>
        <p:spPr>
          <a:xfrm>
            <a:off x="7141808" y="1817362"/>
            <a:ext cx="1542600" cy="807480"/>
          </a:xfrm>
          <a:prstGeom prst="rect">
            <a:avLst/>
          </a:prstGeom>
          <a:solidFill>
            <a:srgbClr val="F3F5F7"/>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1" lang="zh-CN" sz="1220" u="none" strike="noStrike">
                <a:solidFill>
                  <a:srgbClr val="111111"/>
                </a:solidFill>
                <a:latin typeface="Arial"/>
                <a:ea typeface="Arial"/>
                <a:cs typeface="Arial"/>
                <a:sym typeface="Arial"/>
              </a:rPr>
              <a:t>何を使うか</a:t>
            </a:r>
            <a:endParaRPr b="0" sz="1220" u="none" strike="noStrike">
              <a:solidFill>
                <a:srgbClr val="000000"/>
              </a:solidFill>
              <a:latin typeface="Arial"/>
              <a:ea typeface="Arial"/>
              <a:cs typeface="Arial"/>
              <a:sym typeface="Arial"/>
            </a:endParaRPr>
          </a:p>
        </p:txBody>
      </p:sp>
      <p:sp>
        <p:nvSpPr>
          <p:cNvPr id="172" name="Google Shape;172;p8"/>
          <p:cNvSpPr/>
          <p:nvPr/>
        </p:nvSpPr>
        <p:spPr>
          <a:xfrm>
            <a:off x="8685128" y="1817362"/>
            <a:ext cx="1314000" cy="807480"/>
          </a:xfrm>
          <a:prstGeom prst="rect">
            <a:avLst/>
          </a:prstGeom>
          <a:solidFill>
            <a:srgbClr val="F3F5F7"/>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1" lang="zh-CN" sz="1220" u="none" strike="noStrike">
                <a:solidFill>
                  <a:srgbClr val="111111"/>
                </a:solidFill>
                <a:latin typeface="Arial"/>
                <a:ea typeface="Arial"/>
                <a:cs typeface="Arial"/>
                <a:sym typeface="Arial"/>
              </a:rPr>
              <a:t>目的</a:t>
            </a:r>
            <a:endParaRPr b="0" sz="1220" u="none" strike="noStrike">
              <a:solidFill>
                <a:srgbClr val="000000"/>
              </a:solidFill>
              <a:latin typeface="Arial"/>
              <a:ea typeface="Arial"/>
              <a:cs typeface="Arial"/>
              <a:sym typeface="Arial"/>
            </a:endParaRPr>
          </a:p>
        </p:txBody>
      </p:sp>
      <p:sp>
        <p:nvSpPr>
          <p:cNvPr id="173" name="Google Shape;173;p8"/>
          <p:cNvSpPr/>
          <p:nvPr/>
        </p:nvSpPr>
        <p:spPr>
          <a:xfrm>
            <a:off x="9999488" y="1817362"/>
            <a:ext cx="1542600" cy="807480"/>
          </a:xfrm>
          <a:prstGeom prst="rect">
            <a:avLst/>
          </a:prstGeom>
          <a:solidFill>
            <a:srgbClr val="F3F5F7"/>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1" lang="zh-CN" sz="1220" u="none" strike="noStrike">
                <a:solidFill>
                  <a:srgbClr val="111111"/>
                </a:solidFill>
                <a:latin typeface="Arial"/>
                <a:ea typeface="Arial"/>
                <a:cs typeface="Arial"/>
                <a:sym typeface="Arial"/>
              </a:rPr>
              <a:t>注意点</a:t>
            </a:r>
            <a:endParaRPr b="0" sz="1220" u="none" strike="noStrike">
              <a:solidFill>
                <a:srgbClr val="000000"/>
              </a:solidFill>
              <a:latin typeface="Arial"/>
              <a:ea typeface="Arial"/>
              <a:cs typeface="Arial"/>
              <a:sym typeface="Arial"/>
            </a:endParaRPr>
          </a:p>
        </p:txBody>
      </p:sp>
      <p:sp>
        <p:nvSpPr>
          <p:cNvPr id="174" name="Google Shape;174;p8"/>
          <p:cNvSpPr/>
          <p:nvPr/>
        </p:nvSpPr>
        <p:spPr>
          <a:xfrm>
            <a:off x="5827448" y="2625202"/>
            <a:ext cx="1314000" cy="807480"/>
          </a:xfrm>
          <a:prstGeom prst="rect">
            <a:avLst/>
          </a:prstGeom>
          <a:solidFill>
            <a:srgbClr val="FFFFFF"/>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0" lang="zh-CN" sz="1160" u="none" strike="noStrike">
                <a:solidFill>
                  <a:srgbClr val="111111"/>
                </a:solidFill>
                <a:latin typeface="Arial"/>
                <a:ea typeface="Arial"/>
                <a:cs typeface="Arial"/>
                <a:sym typeface="Arial"/>
              </a:rPr>
              <a:t>Non-equalized</a:t>
            </a:r>
            <a:endParaRPr b="0" sz="1160" u="none" strike="noStrike">
              <a:solidFill>
                <a:srgbClr val="000000"/>
              </a:solidFill>
              <a:latin typeface="Arial"/>
              <a:ea typeface="Arial"/>
              <a:cs typeface="Arial"/>
              <a:sym typeface="Arial"/>
            </a:endParaRPr>
          </a:p>
        </p:txBody>
      </p:sp>
      <p:sp>
        <p:nvSpPr>
          <p:cNvPr id="175" name="Google Shape;175;p8"/>
          <p:cNvSpPr/>
          <p:nvPr/>
        </p:nvSpPr>
        <p:spPr>
          <a:xfrm>
            <a:off x="7141808" y="2625202"/>
            <a:ext cx="1542600" cy="807480"/>
          </a:xfrm>
          <a:prstGeom prst="rect">
            <a:avLst/>
          </a:prstGeom>
          <a:solidFill>
            <a:srgbClr val="FFFFFF"/>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0" lang="zh-CN" sz="1160" u="none" strike="noStrike">
                <a:solidFill>
                  <a:srgbClr val="111111"/>
                </a:solidFill>
                <a:latin typeface="Arial"/>
                <a:ea typeface="Arial"/>
                <a:cs typeface="Arial"/>
                <a:sym typeface="Arial"/>
              </a:rPr>
              <a:t>受信信号</a:t>
            </a:r>
            <a:endParaRPr b="0" sz="116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zh-CN" sz="1160" u="none" strike="noStrike">
                <a:solidFill>
                  <a:srgbClr val="111111"/>
                </a:solidFill>
                <a:latin typeface="Arial"/>
                <a:ea typeface="Arial"/>
                <a:cs typeface="Arial"/>
                <a:sym typeface="Arial"/>
              </a:rPr>
              <a:t>そのまま</a:t>
            </a:r>
            <a:endParaRPr b="0" sz="1160" u="none" strike="noStrike">
              <a:solidFill>
                <a:srgbClr val="000000"/>
              </a:solidFill>
              <a:latin typeface="Arial"/>
              <a:ea typeface="Arial"/>
              <a:cs typeface="Arial"/>
              <a:sym typeface="Arial"/>
            </a:endParaRPr>
          </a:p>
        </p:txBody>
      </p:sp>
      <p:sp>
        <p:nvSpPr>
          <p:cNvPr id="176" name="Google Shape;176;p8"/>
          <p:cNvSpPr/>
          <p:nvPr/>
        </p:nvSpPr>
        <p:spPr>
          <a:xfrm>
            <a:off x="8685128" y="2625202"/>
            <a:ext cx="1314000" cy="807480"/>
          </a:xfrm>
          <a:prstGeom prst="rect">
            <a:avLst/>
          </a:prstGeom>
          <a:solidFill>
            <a:srgbClr val="FFFFFF"/>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0" lang="zh-CN" sz="1160" u="none" strike="noStrike">
                <a:solidFill>
                  <a:srgbClr val="111111"/>
                </a:solidFill>
                <a:latin typeface="Arial"/>
                <a:ea typeface="Arial"/>
                <a:cs typeface="Arial"/>
                <a:sym typeface="Arial"/>
              </a:rPr>
              <a:t>生の特徴を</a:t>
            </a:r>
            <a:endParaRPr b="0" sz="116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zh-CN" sz="1160" u="none" strike="noStrike">
                <a:solidFill>
                  <a:srgbClr val="111111"/>
                </a:solidFill>
                <a:latin typeface="Arial"/>
                <a:ea typeface="Arial"/>
                <a:cs typeface="Arial"/>
                <a:sym typeface="Arial"/>
              </a:rPr>
              <a:t>見る</a:t>
            </a:r>
            <a:endParaRPr b="0" sz="1160" u="none" strike="noStrike">
              <a:solidFill>
                <a:srgbClr val="000000"/>
              </a:solidFill>
              <a:latin typeface="Arial"/>
              <a:ea typeface="Arial"/>
              <a:cs typeface="Arial"/>
              <a:sym typeface="Arial"/>
            </a:endParaRPr>
          </a:p>
        </p:txBody>
      </p:sp>
      <p:sp>
        <p:nvSpPr>
          <p:cNvPr id="177" name="Google Shape;177;p8"/>
          <p:cNvSpPr/>
          <p:nvPr/>
        </p:nvSpPr>
        <p:spPr>
          <a:xfrm>
            <a:off x="9999488" y="2625202"/>
            <a:ext cx="1542600" cy="807480"/>
          </a:xfrm>
          <a:prstGeom prst="rect">
            <a:avLst/>
          </a:prstGeom>
          <a:solidFill>
            <a:srgbClr val="FFFFFF"/>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0" lang="zh-CN" sz="1160" u="none" strike="noStrike">
                <a:solidFill>
                  <a:srgbClr val="111111"/>
                </a:solidFill>
                <a:latin typeface="Arial"/>
                <a:ea typeface="Arial"/>
                <a:cs typeface="Arial"/>
                <a:sym typeface="Arial"/>
              </a:rPr>
              <a:t>チャネル影響を</a:t>
            </a:r>
            <a:endParaRPr b="0" sz="116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zh-CN" sz="1160" u="none" strike="noStrike">
                <a:solidFill>
                  <a:srgbClr val="111111"/>
                </a:solidFill>
                <a:latin typeface="Arial"/>
                <a:ea typeface="Arial"/>
                <a:cs typeface="Arial"/>
                <a:sym typeface="Arial"/>
              </a:rPr>
              <a:t>強く含む</a:t>
            </a:r>
            <a:endParaRPr b="0" sz="1160" u="none" strike="noStrike">
              <a:solidFill>
                <a:srgbClr val="000000"/>
              </a:solidFill>
              <a:latin typeface="Arial"/>
              <a:ea typeface="Arial"/>
              <a:cs typeface="Arial"/>
              <a:sym typeface="Arial"/>
            </a:endParaRPr>
          </a:p>
        </p:txBody>
      </p:sp>
      <p:sp>
        <p:nvSpPr>
          <p:cNvPr id="178" name="Google Shape;178;p8"/>
          <p:cNvSpPr/>
          <p:nvPr/>
        </p:nvSpPr>
        <p:spPr>
          <a:xfrm>
            <a:off x="5827448" y="3432682"/>
            <a:ext cx="1314000" cy="807480"/>
          </a:xfrm>
          <a:prstGeom prst="rect">
            <a:avLst/>
          </a:prstGeom>
          <a:solidFill>
            <a:srgbClr val="EAF6EF"/>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1" lang="zh-CN" sz="1160" u="none" strike="noStrike">
                <a:solidFill>
                  <a:srgbClr val="00A651"/>
                </a:solidFill>
                <a:latin typeface="Arial"/>
                <a:ea typeface="Arial"/>
                <a:cs typeface="Arial"/>
                <a:sym typeface="Arial"/>
              </a:rPr>
              <a:t>Equalized</a:t>
            </a:r>
            <a:endParaRPr b="0" sz="1160" u="none" strike="noStrike">
              <a:solidFill>
                <a:srgbClr val="000000"/>
              </a:solidFill>
              <a:latin typeface="Arial"/>
              <a:ea typeface="Arial"/>
              <a:cs typeface="Arial"/>
              <a:sym typeface="Arial"/>
            </a:endParaRPr>
          </a:p>
        </p:txBody>
      </p:sp>
      <p:sp>
        <p:nvSpPr>
          <p:cNvPr id="179" name="Google Shape;179;p8"/>
          <p:cNvSpPr/>
          <p:nvPr/>
        </p:nvSpPr>
        <p:spPr>
          <a:xfrm>
            <a:off x="7141808" y="3432682"/>
            <a:ext cx="1542600" cy="807480"/>
          </a:xfrm>
          <a:prstGeom prst="rect">
            <a:avLst/>
          </a:prstGeom>
          <a:solidFill>
            <a:srgbClr val="EAF6EF"/>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1" lang="zh-CN" sz="1160" u="none" strike="noStrike">
                <a:solidFill>
                  <a:srgbClr val="00A651"/>
                </a:solidFill>
                <a:latin typeface="Arial"/>
                <a:ea typeface="Arial"/>
                <a:cs typeface="Arial"/>
                <a:sym typeface="Arial"/>
              </a:rPr>
              <a:t>チャネル補正後</a:t>
            </a:r>
            <a:endParaRPr b="0" sz="116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zh-CN" sz="1160" u="none" strike="noStrike">
                <a:solidFill>
                  <a:srgbClr val="00A651"/>
                </a:solidFill>
                <a:latin typeface="Arial"/>
                <a:ea typeface="Arial"/>
                <a:cs typeface="Arial"/>
                <a:sym typeface="Arial"/>
              </a:rPr>
              <a:t>の信号</a:t>
            </a:r>
            <a:endParaRPr b="0" sz="1160" u="none" strike="noStrike">
              <a:solidFill>
                <a:srgbClr val="000000"/>
              </a:solidFill>
              <a:latin typeface="Arial"/>
              <a:ea typeface="Arial"/>
              <a:cs typeface="Arial"/>
              <a:sym typeface="Arial"/>
            </a:endParaRPr>
          </a:p>
        </p:txBody>
      </p:sp>
      <p:sp>
        <p:nvSpPr>
          <p:cNvPr id="180" name="Google Shape;180;p8"/>
          <p:cNvSpPr/>
          <p:nvPr/>
        </p:nvSpPr>
        <p:spPr>
          <a:xfrm>
            <a:off x="8685128" y="3432682"/>
            <a:ext cx="1314000" cy="807480"/>
          </a:xfrm>
          <a:prstGeom prst="rect">
            <a:avLst/>
          </a:prstGeom>
          <a:solidFill>
            <a:srgbClr val="EAF6EF"/>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1" lang="zh-CN" sz="1160" u="none" strike="noStrike">
                <a:solidFill>
                  <a:srgbClr val="00A651"/>
                </a:solidFill>
                <a:latin typeface="Arial"/>
                <a:ea typeface="Arial"/>
                <a:cs typeface="Arial"/>
                <a:sym typeface="Arial"/>
              </a:rPr>
              <a:t>チャネル影響を</a:t>
            </a:r>
            <a:endParaRPr b="0" sz="116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zh-CN" sz="1160" u="none" strike="noStrike">
                <a:solidFill>
                  <a:srgbClr val="00A651"/>
                </a:solidFill>
                <a:latin typeface="Arial"/>
                <a:ea typeface="Arial"/>
                <a:cs typeface="Arial"/>
                <a:sym typeface="Arial"/>
              </a:rPr>
              <a:t>減らす</a:t>
            </a:r>
            <a:endParaRPr b="0" sz="1160" u="none" strike="noStrike">
              <a:solidFill>
                <a:srgbClr val="000000"/>
              </a:solidFill>
              <a:latin typeface="Arial"/>
              <a:ea typeface="Arial"/>
              <a:cs typeface="Arial"/>
              <a:sym typeface="Arial"/>
            </a:endParaRPr>
          </a:p>
        </p:txBody>
      </p:sp>
      <p:sp>
        <p:nvSpPr>
          <p:cNvPr id="181" name="Google Shape;181;p8"/>
          <p:cNvSpPr/>
          <p:nvPr/>
        </p:nvSpPr>
        <p:spPr>
          <a:xfrm>
            <a:off x="9999488" y="3432682"/>
            <a:ext cx="1542600" cy="807480"/>
          </a:xfrm>
          <a:prstGeom prst="rect">
            <a:avLst/>
          </a:prstGeom>
          <a:solidFill>
            <a:srgbClr val="EAF6EF"/>
          </a:solidFill>
          <a:ln cap="flat" cmpd="sng" w="9525">
            <a:solidFill>
              <a:srgbClr val="111111"/>
            </a:solidFill>
            <a:prstDash val="solid"/>
            <a:round/>
            <a:headEnd len="sm" w="sm" type="none"/>
            <a:tailEnd len="sm" w="sm" type="none"/>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1" lang="zh-CN" sz="1160" u="none" strike="noStrike">
                <a:solidFill>
                  <a:srgbClr val="00A651"/>
                </a:solidFill>
                <a:latin typeface="Arial"/>
                <a:ea typeface="Arial"/>
                <a:cs typeface="Arial"/>
                <a:sym typeface="Arial"/>
              </a:rPr>
              <a:t>完全な分離</a:t>
            </a:r>
            <a:endParaRPr b="0" sz="116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zh-CN" sz="1160" u="none" strike="noStrike">
                <a:solidFill>
                  <a:srgbClr val="00A651"/>
                </a:solidFill>
                <a:latin typeface="Arial"/>
                <a:ea typeface="Arial"/>
                <a:cs typeface="Arial"/>
                <a:sym typeface="Arial"/>
              </a:rPr>
              <a:t>ではない</a:t>
            </a:r>
            <a:endParaRPr b="0" sz="1160" u="none" strike="noStrike">
              <a:solidFill>
                <a:srgbClr val="000000"/>
              </a:solidFill>
              <a:latin typeface="Arial"/>
              <a:ea typeface="Arial"/>
              <a:cs typeface="Arial"/>
              <a:sym typeface="Arial"/>
            </a:endParaRPr>
          </a:p>
        </p:txBody>
      </p:sp>
      <p:sp>
        <p:nvSpPr>
          <p:cNvPr id="182" name="Google Shape;182;p8"/>
          <p:cNvSpPr/>
          <p:nvPr/>
        </p:nvSpPr>
        <p:spPr>
          <a:xfrm>
            <a:off x="5570864" y="4663388"/>
            <a:ext cx="6621136" cy="806400"/>
          </a:xfrm>
          <a:prstGeom prst="rect">
            <a:avLst/>
          </a:prstGeom>
          <a:solidFill>
            <a:srgbClr val="FFFFFF"/>
          </a:solidFill>
          <a:ln cap="flat" cmpd="sng" w="12700">
            <a:solidFill>
              <a:srgbClr val="003B5C"/>
            </a:solidFill>
            <a:prstDash val="solid"/>
            <a:round/>
            <a:headEnd len="sm" w="sm" type="none"/>
            <a:tailEnd len="sm" w="sm" type="none"/>
          </a:ln>
        </p:spPr>
        <p:txBody>
          <a:bodyPr anchorCtr="0" anchor="ctr" bIns="700" lIns="700" spcFirstLastPara="1" rIns="700" wrap="square" tIns="700">
            <a:noAutofit/>
          </a:bodyPr>
          <a:lstStyle/>
          <a:p>
            <a:pPr indent="0" lvl="0" marL="0" marR="0" rtl="0" algn="ctr">
              <a:lnSpc>
                <a:spcPct val="100000"/>
              </a:lnSpc>
              <a:spcBef>
                <a:spcPts val="0"/>
              </a:spcBef>
              <a:spcAft>
                <a:spcPts val="0"/>
              </a:spcAft>
              <a:buNone/>
            </a:pPr>
            <a:r>
              <a:rPr b="1" lang="zh-CN" sz="2400" u="none" strike="noStrike">
                <a:solidFill>
                  <a:srgbClr val="003B5C"/>
                </a:solidFill>
                <a:latin typeface="Arial"/>
                <a:ea typeface="Arial"/>
                <a:cs typeface="Arial"/>
                <a:sym typeface="Arial"/>
              </a:rPr>
              <a:t>Equalization は「空間で歪んだ分を戻す」処理</a:t>
            </a:r>
            <a:endParaRPr b="0" sz="2400" u="none" strike="noStrike">
              <a:solidFill>
                <a:srgbClr val="000000"/>
              </a:solidFill>
              <a:latin typeface="Arial"/>
              <a:ea typeface="Arial"/>
              <a:cs typeface="Arial"/>
              <a:sym typeface="Arial"/>
            </a:endParaRPr>
          </a:p>
        </p:txBody>
      </p:sp>
      <p:sp>
        <p:nvSpPr>
          <p:cNvPr id="183" name="Google Shape;183;p8"/>
          <p:cNvSpPr/>
          <p:nvPr/>
        </p:nvSpPr>
        <p:spPr>
          <a:xfrm>
            <a:off x="502920" y="6510600"/>
            <a:ext cx="9326520" cy="1641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zh-CN" sz="750" u="none" strike="noStrike">
                <a:solidFill>
                  <a:srgbClr val="666666"/>
                </a:solidFill>
                <a:latin typeface="Arial"/>
                <a:ea typeface="Arial"/>
                <a:cs typeface="Arial"/>
                <a:sym typeface="Arial"/>
              </a:rPr>
              <a:t>出典：Hanna et al., WiSig, Extracting Identification Signals</a:t>
            </a:r>
            <a:endParaRPr b="0" sz="750" u="none" strike="noStrike">
              <a:solidFill>
                <a:srgbClr val="000000"/>
              </a:solidFill>
              <a:latin typeface="Arial"/>
              <a:ea typeface="Arial"/>
              <a:cs typeface="Arial"/>
              <a:sym typeface="Arial"/>
            </a:endParaRPr>
          </a:p>
        </p:txBody>
      </p:sp>
      <p:sp>
        <p:nvSpPr>
          <p:cNvPr id="184" name="Google Shape;184;p8"/>
          <p:cNvSpPr/>
          <p:nvPr/>
        </p:nvSpPr>
        <p:spPr>
          <a:xfrm>
            <a:off x="11612880" y="6473880"/>
            <a:ext cx="319680" cy="1641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lang="zh-CN" sz="800" u="none" strike="noStrike">
                <a:solidFill>
                  <a:srgbClr val="777777"/>
                </a:solidFill>
                <a:latin typeface="Arial"/>
                <a:ea typeface="Arial"/>
                <a:cs typeface="Arial"/>
                <a:sym typeface="Arial"/>
              </a:rPr>
              <a:t>10</a:t>
            </a:r>
            <a:endParaRPr b="0" sz="800" u="none" strike="noStrike">
              <a:solidFill>
                <a:srgbClr val="000000"/>
              </a:solidFill>
              <a:latin typeface="Arial"/>
              <a:ea typeface="Arial"/>
              <a:cs typeface="Arial"/>
              <a:sym typeface="Arial"/>
            </a:endParaRPr>
          </a:p>
        </p:txBody>
      </p:sp>
      <p:sp>
        <p:nvSpPr>
          <p:cNvPr id="185" name="Google Shape;185;p8"/>
          <p:cNvSpPr/>
          <p:nvPr/>
        </p:nvSpPr>
        <p:spPr>
          <a:xfrm>
            <a:off x="5820360" y="1265032"/>
            <a:ext cx="4950428" cy="528480"/>
          </a:xfrm>
          <a:prstGeom prst="rect">
            <a:avLst/>
          </a:prstGeom>
          <a:noFill/>
          <a:ln>
            <a:noFill/>
          </a:ln>
        </p:spPr>
        <p:txBody>
          <a:bodyPr anchorCtr="0" anchor="ctr" bIns="350" lIns="350" spcFirstLastPara="1" rIns="350" wrap="square" tIns="350">
            <a:noAutofit/>
          </a:bodyPr>
          <a:lstStyle/>
          <a:p>
            <a:pPr indent="0" lvl="0" marL="0" marR="0" rtl="0" algn="l">
              <a:lnSpc>
                <a:spcPct val="100000"/>
              </a:lnSpc>
              <a:spcBef>
                <a:spcPts val="0"/>
              </a:spcBef>
              <a:spcAft>
                <a:spcPts val="0"/>
              </a:spcAft>
              <a:buNone/>
            </a:pPr>
            <a:r>
              <a:rPr b="1" lang="zh-CN" sz="2400" u="none" strike="noStrike">
                <a:solidFill>
                  <a:schemeClr val="dk1"/>
                </a:solidFill>
                <a:latin typeface="Arial"/>
                <a:ea typeface="Arial"/>
                <a:cs typeface="Arial"/>
                <a:sym typeface="Arial"/>
              </a:rPr>
              <a:t>Equlized/Non-Equlized</a:t>
            </a:r>
            <a:endParaRPr b="1" sz="2400" u="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sp>
        <p:nvSpPr>
          <p:cNvPr id="191" name="Google Shape;191;p9"/>
          <p:cNvSpPr/>
          <p:nvPr/>
        </p:nvSpPr>
        <p:spPr>
          <a:xfrm>
            <a:off x="502920" y="228600"/>
            <a:ext cx="11063880" cy="383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zh-CN" sz="4000" u="none" strike="noStrike">
                <a:solidFill>
                  <a:srgbClr val="111111"/>
                </a:solidFill>
                <a:latin typeface="Arial"/>
                <a:ea typeface="Arial"/>
                <a:cs typeface="Arial"/>
                <a:sym typeface="Arial"/>
              </a:rPr>
              <a:t>結果1：受信機が変わると精度が落ちる</a:t>
            </a:r>
            <a:endParaRPr b="0" sz="4000" u="none" strike="noStrike">
              <a:solidFill>
                <a:srgbClr val="000000"/>
              </a:solidFill>
              <a:latin typeface="Arial"/>
              <a:ea typeface="Arial"/>
              <a:cs typeface="Arial"/>
              <a:sym typeface="Arial"/>
            </a:endParaRPr>
          </a:p>
        </p:txBody>
      </p:sp>
      <p:cxnSp>
        <p:nvCxnSpPr>
          <p:cNvPr id="192" name="Google Shape;192;p9"/>
          <p:cNvCxnSpPr/>
          <p:nvPr/>
        </p:nvCxnSpPr>
        <p:spPr>
          <a:xfrm>
            <a:off x="502920" y="786240"/>
            <a:ext cx="11155680" cy="360"/>
          </a:xfrm>
          <a:prstGeom prst="straightConnector1">
            <a:avLst/>
          </a:prstGeom>
          <a:noFill/>
          <a:ln cap="flat" cmpd="sng" w="15225">
            <a:solidFill>
              <a:srgbClr val="003B5C"/>
            </a:solidFill>
            <a:prstDash val="solid"/>
            <a:round/>
            <a:headEnd len="sm" w="sm" type="none"/>
            <a:tailEnd len="sm" w="sm" type="none"/>
          </a:ln>
        </p:spPr>
      </p:cxnSp>
      <p:sp>
        <p:nvSpPr>
          <p:cNvPr id="193" name="Google Shape;193;p9"/>
          <p:cNvSpPr/>
          <p:nvPr/>
        </p:nvSpPr>
        <p:spPr>
          <a:xfrm>
            <a:off x="685800" y="1051560"/>
            <a:ext cx="2102760" cy="273960"/>
          </a:xfrm>
          <a:prstGeom prst="rect">
            <a:avLst/>
          </a:prstGeom>
          <a:noFill/>
          <a:ln>
            <a:noFill/>
          </a:ln>
        </p:spPr>
        <p:txBody>
          <a:bodyPr anchorCtr="0" anchor="ctr" bIns="350" lIns="350" spcFirstLastPara="1" rIns="350" wrap="square" tIns="350">
            <a:noAutofit/>
          </a:bodyPr>
          <a:lstStyle/>
          <a:p>
            <a:pPr indent="0" lvl="0" marL="0" marR="0" rtl="0" algn="l">
              <a:lnSpc>
                <a:spcPct val="100000"/>
              </a:lnSpc>
              <a:spcBef>
                <a:spcPts val="0"/>
              </a:spcBef>
              <a:spcAft>
                <a:spcPts val="0"/>
              </a:spcAft>
              <a:buNone/>
            </a:pPr>
            <a:r>
              <a:rPr b="1" lang="zh-CN" sz="3200" u="none" strike="noStrike">
                <a:solidFill>
                  <a:srgbClr val="003B5C"/>
                </a:solidFill>
                <a:latin typeface="Arial"/>
                <a:ea typeface="Arial"/>
                <a:cs typeface="Arial"/>
                <a:sym typeface="Arial"/>
              </a:rPr>
              <a:t>結果の要点</a:t>
            </a:r>
            <a:endParaRPr b="0" sz="3200" u="none" strike="noStrike">
              <a:solidFill>
                <a:srgbClr val="000000"/>
              </a:solidFill>
              <a:latin typeface="Arial"/>
              <a:ea typeface="Arial"/>
              <a:cs typeface="Arial"/>
              <a:sym typeface="Arial"/>
            </a:endParaRPr>
          </a:p>
        </p:txBody>
      </p:sp>
      <p:sp>
        <p:nvSpPr>
          <p:cNvPr id="194" name="Google Shape;194;p9"/>
          <p:cNvSpPr/>
          <p:nvPr/>
        </p:nvSpPr>
        <p:spPr>
          <a:xfrm>
            <a:off x="1021440" y="1590480"/>
            <a:ext cx="5074560" cy="4080138"/>
          </a:xfrm>
          <a:prstGeom prst="rect">
            <a:avLst/>
          </a:prstGeom>
          <a:noFill/>
          <a:ln>
            <a:noFill/>
          </a:ln>
        </p:spPr>
        <p:txBody>
          <a:bodyPr anchorCtr="0" anchor="ctr" bIns="350" lIns="350" spcFirstLastPara="1" rIns="350" wrap="square" tIns="350">
            <a:noAutofit/>
          </a:bodyPr>
          <a:lstStyle/>
          <a:p>
            <a:pPr indent="0" lvl="0" marL="0" marR="0" rtl="0" algn="l">
              <a:lnSpc>
                <a:spcPct val="100000"/>
              </a:lnSpc>
              <a:spcBef>
                <a:spcPts val="0"/>
              </a:spcBef>
              <a:spcAft>
                <a:spcPts val="0"/>
              </a:spcAft>
              <a:buNone/>
            </a:pPr>
            <a:r>
              <a:rPr b="1" lang="zh-CN" sz="2400" u="none" strike="noStrike">
                <a:solidFill>
                  <a:schemeClr val="accent1"/>
                </a:solidFill>
                <a:latin typeface="Arial"/>
                <a:ea typeface="Arial"/>
                <a:cs typeface="Arial"/>
                <a:sym typeface="Arial"/>
              </a:rPr>
              <a:t>受信機が同じ場合</a:t>
            </a:r>
            <a:r>
              <a:rPr b="0" lang="zh-CN" sz="2400" u="none" strike="noStrike">
                <a:solidFill>
                  <a:srgbClr val="111111"/>
                </a:solidFill>
                <a:latin typeface="Arial"/>
                <a:ea typeface="Arial"/>
                <a:cs typeface="Arial"/>
                <a:sym typeface="Arial"/>
              </a:rPr>
              <a:t>：高い分類精度を維持しやすい</a:t>
            </a:r>
            <a:endParaRPr b="0" sz="24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lang="zh-CN" sz="2400" u="none" strike="noStrike">
                <a:solidFill>
                  <a:schemeClr val="accent2"/>
                </a:solidFill>
                <a:latin typeface="Arial"/>
                <a:ea typeface="Arial"/>
                <a:cs typeface="Arial"/>
                <a:sym typeface="Arial"/>
              </a:rPr>
              <a:t>受信機が異なる場合</a:t>
            </a:r>
            <a:r>
              <a:rPr b="1" lang="zh-CN" sz="2400" u="none" strike="noStrike">
                <a:solidFill>
                  <a:srgbClr val="C00000"/>
                </a:solidFill>
                <a:latin typeface="Arial"/>
                <a:ea typeface="Arial"/>
                <a:cs typeface="Arial"/>
                <a:sym typeface="Arial"/>
              </a:rPr>
              <a:t>：</a:t>
            </a:r>
            <a:r>
              <a:rPr b="1" lang="zh-CN" sz="2400" u="none" strike="noStrike">
                <a:solidFill>
                  <a:schemeClr val="dk1"/>
                </a:solidFill>
                <a:latin typeface="Arial"/>
                <a:ea typeface="Arial"/>
                <a:cs typeface="Arial"/>
                <a:sym typeface="Arial"/>
              </a:rPr>
              <a:t>精度が大きく低下する</a:t>
            </a:r>
            <a:endParaRPr b="1" sz="2400" u="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1" lang="zh-CN" sz="2400">
                <a:solidFill>
                  <a:schemeClr val="dk1"/>
                </a:solidFill>
                <a:latin typeface="Arial"/>
                <a:ea typeface="Arial"/>
                <a:cs typeface="Arial"/>
                <a:sym typeface="Arial"/>
              </a:rPr>
              <a:t>考察：</a:t>
            </a:r>
            <a:endParaRPr b="1" sz="2400">
              <a:solidFill>
                <a:schemeClr val="dk1"/>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lang="zh-CN" sz="2400">
                <a:solidFill>
                  <a:schemeClr val="dk1"/>
                </a:solidFill>
                <a:latin typeface="Arial"/>
                <a:ea typeface="Arial"/>
                <a:cs typeface="Arial"/>
                <a:sym typeface="Arial"/>
              </a:rPr>
              <a:t>送信機ではなく受信機の癖を学習している</a:t>
            </a:r>
            <a:endParaRPr sz="24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lang="zh-CN" sz="2400">
                <a:solidFill>
                  <a:schemeClr val="dk1"/>
                </a:solidFill>
                <a:latin typeface="Arial"/>
                <a:ea typeface="Arial"/>
                <a:cs typeface="Arial"/>
                <a:sym typeface="Arial"/>
              </a:rPr>
              <a:t>　　→RxのFPになっている</a:t>
            </a:r>
            <a:endParaRPr sz="2400">
              <a:solidFill>
                <a:schemeClr val="dk1"/>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lang="zh-CN" sz="2400">
                <a:solidFill>
                  <a:schemeClr val="dk1"/>
                </a:solidFill>
                <a:latin typeface="Arial"/>
                <a:ea typeface="Arial"/>
                <a:cs typeface="Arial"/>
                <a:sym typeface="Arial"/>
              </a:rPr>
              <a:t>Rxを大きく増やすことで改善するが20で頭打ちになり、精度も低い</a:t>
            </a:r>
            <a:endParaRPr sz="24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lang="zh-CN" sz="2400">
                <a:solidFill>
                  <a:schemeClr val="dk1"/>
                </a:solidFill>
                <a:latin typeface="Arial"/>
                <a:ea typeface="Arial"/>
                <a:cs typeface="Arial"/>
                <a:sym typeface="Arial"/>
              </a:rPr>
              <a:t>　　→実務上は困難</a:t>
            </a:r>
            <a:endParaRPr b="0" sz="2400" u="none" strike="noStrike">
              <a:solidFill>
                <a:srgbClr val="000000"/>
              </a:solidFill>
              <a:latin typeface="Arial"/>
              <a:ea typeface="Arial"/>
              <a:cs typeface="Arial"/>
              <a:sym typeface="Arial"/>
            </a:endParaRPr>
          </a:p>
        </p:txBody>
      </p:sp>
      <p:sp>
        <p:nvSpPr>
          <p:cNvPr id="195" name="Google Shape;195;p9"/>
          <p:cNvSpPr/>
          <p:nvPr/>
        </p:nvSpPr>
        <p:spPr>
          <a:xfrm>
            <a:off x="502920" y="6510600"/>
            <a:ext cx="9326520" cy="1641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zh-CN" sz="750" u="none" strike="noStrike">
                <a:solidFill>
                  <a:srgbClr val="666666"/>
                </a:solidFill>
                <a:latin typeface="Arial"/>
                <a:ea typeface="Arial"/>
                <a:cs typeface="Arial"/>
                <a:sym typeface="Arial"/>
              </a:rPr>
              <a:t>出典：Hanna et al., WiSig, Fig.10 / Fig.11</a:t>
            </a:r>
            <a:endParaRPr b="0" sz="750" u="none" strike="noStrike">
              <a:solidFill>
                <a:srgbClr val="000000"/>
              </a:solidFill>
              <a:latin typeface="Arial"/>
              <a:ea typeface="Arial"/>
              <a:cs typeface="Arial"/>
              <a:sym typeface="Arial"/>
            </a:endParaRPr>
          </a:p>
        </p:txBody>
      </p:sp>
      <p:sp>
        <p:nvSpPr>
          <p:cNvPr id="196" name="Google Shape;196;p9"/>
          <p:cNvSpPr/>
          <p:nvPr/>
        </p:nvSpPr>
        <p:spPr>
          <a:xfrm>
            <a:off x="11612880" y="6473880"/>
            <a:ext cx="319680" cy="1641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lang="zh-CN" sz="800" u="none" strike="noStrike">
                <a:solidFill>
                  <a:srgbClr val="777777"/>
                </a:solidFill>
                <a:latin typeface="Arial"/>
                <a:ea typeface="Arial"/>
                <a:cs typeface="Arial"/>
                <a:sym typeface="Arial"/>
              </a:rPr>
              <a:t>13</a:t>
            </a:r>
            <a:endParaRPr b="0" sz="800" u="none" strike="noStrike">
              <a:solidFill>
                <a:srgbClr val="000000"/>
              </a:solidFill>
              <a:latin typeface="Arial"/>
              <a:ea typeface="Arial"/>
              <a:cs typeface="Arial"/>
              <a:sym typeface="Arial"/>
            </a:endParaRPr>
          </a:p>
        </p:txBody>
      </p:sp>
      <p:pic>
        <p:nvPicPr>
          <p:cNvPr id="197" name="Google Shape;197;p9"/>
          <p:cNvPicPr preferRelativeResize="0"/>
          <p:nvPr/>
        </p:nvPicPr>
        <p:blipFill rotWithShape="1">
          <a:blip r:embed="rId3">
            <a:alphaModFix/>
          </a:blip>
          <a:srcRect b="0" l="0" r="0" t="0"/>
          <a:stretch/>
        </p:blipFill>
        <p:spPr>
          <a:xfrm>
            <a:off x="6157320" y="1325520"/>
            <a:ext cx="6034680" cy="2916761"/>
          </a:xfrm>
          <a:prstGeom prst="rect">
            <a:avLst/>
          </a:prstGeom>
          <a:noFill/>
          <a:ln>
            <a:noFill/>
          </a:ln>
        </p:spPr>
      </p:pic>
      <p:sp>
        <p:nvSpPr>
          <p:cNvPr id="198" name="Google Shape;198;p9"/>
          <p:cNvSpPr txBox="1"/>
          <p:nvPr/>
        </p:nvSpPr>
        <p:spPr>
          <a:xfrm>
            <a:off x="7006728" y="4384713"/>
            <a:ext cx="456007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zh-CN" sz="1800">
                <a:solidFill>
                  <a:schemeClr val="dk1"/>
                </a:solidFill>
                <a:latin typeface="Arial"/>
                <a:ea typeface="Arial"/>
                <a:cs typeface="Arial"/>
                <a:sym typeface="Arial"/>
              </a:rPr>
              <a:t>横軸：トレーニングに使用したRxの量</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zh-CN" sz="1800">
                <a:solidFill>
                  <a:schemeClr val="dk1"/>
                </a:solidFill>
                <a:latin typeface="Arial"/>
                <a:ea typeface="Arial"/>
                <a:cs typeface="Arial"/>
                <a:sym typeface="Arial"/>
              </a:rPr>
              <a:t>縦軸：分類精度</a:t>
            </a:r>
            <a:endParaRPr sz="18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0"/>
          <p:cNvSpPr/>
          <p:nvPr/>
        </p:nvSpPr>
        <p:spPr>
          <a:xfrm>
            <a:off x="502920" y="228600"/>
            <a:ext cx="11063880" cy="383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zh-CN" sz="4000" u="none" strike="noStrike">
                <a:solidFill>
                  <a:srgbClr val="111111"/>
                </a:solidFill>
                <a:latin typeface="Arial"/>
                <a:ea typeface="Arial"/>
                <a:cs typeface="Arial"/>
                <a:sym typeface="Arial"/>
              </a:rPr>
              <a:t>結果２：日付が変わると精度が落ちる</a:t>
            </a:r>
            <a:endParaRPr b="0" sz="4000" u="none" strike="noStrike">
              <a:solidFill>
                <a:srgbClr val="000000"/>
              </a:solidFill>
              <a:latin typeface="Arial"/>
              <a:ea typeface="Arial"/>
              <a:cs typeface="Arial"/>
              <a:sym typeface="Arial"/>
            </a:endParaRPr>
          </a:p>
        </p:txBody>
      </p:sp>
      <p:cxnSp>
        <p:nvCxnSpPr>
          <p:cNvPr id="205" name="Google Shape;205;p10"/>
          <p:cNvCxnSpPr/>
          <p:nvPr/>
        </p:nvCxnSpPr>
        <p:spPr>
          <a:xfrm>
            <a:off x="502920" y="786240"/>
            <a:ext cx="11155680" cy="360"/>
          </a:xfrm>
          <a:prstGeom prst="straightConnector1">
            <a:avLst/>
          </a:prstGeom>
          <a:noFill/>
          <a:ln cap="flat" cmpd="sng" w="15225">
            <a:solidFill>
              <a:srgbClr val="003B5C"/>
            </a:solidFill>
            <a:prstDash val="solid"/>
            <a:round/>
            <a:headEnd len="sm" w="sm" type="none"/>
            <a:tailEnd len="sm" w="sm" type="none"/>
          </a:ln>
        </p:spPr>
      </p:cxnSp>
      <p:sp>
        <p:nvSpPr>
          <p:cNvPr id="206" name="Google Shape;206;p10"/>
          <p:cNvSpPr/>
          <p:nvPr/>
        </p:nvSpPr>
        <p:spPr>
          <a:xfrm>
            <a:off x="685800" y="1051560"/>
            <a:ext cx="2102760" cy="273960"/>
          </a:xfrm>
          <a:prstGeom prst="rect">
            <a:avLst/>
          </a:prstGeom>
          <a:noFill/>
          <a:ln>
            <a:noFill/>
          </a:ln>
        </p:spPr>
        <p:txBody>
          <a:bodyPr anchorCtr="0" anchor="ctr" bIns="350" lIns="350" spcFirstLastPara="1" rIns="350" wrap="square" tIns="350">
            <a:noAutofit/>
          </a:bodyPr>
          <a:lstStyle/>
          <a:p>
            <a:pPr indent="0" lvl="0" marL="0" marR="0" rtl="0" algn="l">
              <a:lnSpc>
                <a:spcPct val="100000"/>
              </a:lnSpc>
              <a:spcBef>
                <a:spcPts val="0"/>
              </a:spcBef>
              <a:spcAft>
                <a:spcPts val="0"/>
              </a:spcAft>
              <a:buNone/>
            </a:pPr>
            <a:r>
              <a:rPr b="1" lang="zh-CN" sz="3200" u="none" strike="noStrike">
                <a:solidFill>
                  <a:srgbClr val="003B5C"/>
                </a:solidFill>
                <a:latin typeface="Arial"/>
                <a:ea typeface="Arial"/>
                <a:cs typeface="Arial"/>
                <a:sym typeface="Arial"/>
              </a:rPr>
              <a:t>結果の要点</a:t>
            </a:r>
            <a:endParaRPr b="0" sz="3200" u="none" strike="noStrike">
              <a:solidFill>
                <a:srgbClr val="000000"/>
              </a:solidFill>
              <a:latin typeface="Arial"/>
              <a:ea typeface="Arial"/>
              <a:cs typeface="Arial"/>
              <a:sym typeface="Arial"/>
            </a:endParaRPr>
          </a:p>
        </p:txBody>
      </p:sp>
      <p:sp>
        <p:nvSpPr>
          <p:cNvPr id="207" name="Google Shape;207;p10"/>
          <p:cNvSpPr/>
          <p:nvPr/>
        </p:nvSpPr>
        <p:spPr>
          <a:xfrm>
            <a:off x="502920" y="1399500"/>
            <a:ext cx="5291952" cy="4881960"/>
          </a:xfrm>
          <a:prstGeom prst="rect">
            <a:avLst/>
          </a:prstGeom>
          <a:noFill/>
          <a:ln>
            <a:noFill/>
          </a:ln>
        </p:spPr>
        <p:txBody>
          <a:bodyPr anchorCtr="0" anchor="ctr" bIns="350" lIns="350" spcFirstLastPara="1" rIns="350" wrap="square" tIns="350">
            <a:noAutofit/>
          </a:bodyPr>
          <a:lstStyle/>
          <a:p>
            <a:pPr indent="0" lvl="0" marL="0" marR="0" rtl="0" algn="l">
              <a:lnSpc>
                <a:spcPct val="100000"/>
              </a:lnSpc>
              <a:spcBef>
                <a:spcPts val="0"/>
              </a:spcBef>
              <a:spcAft>
                <a:spcPts val="0"/>
              </a:spcAft>
              <a:buNone/>
            </a:pPr>
            <a:r>
              <a:rPr b="1" lang="zh-CN" sz="2400" u="none" strike="noStrike">
                <a:solidFill>
                  <a:srgbClr val="0070C0"/>
                </a:solidFill>
                <a:latin typeface="Arial"/>
                <a:ea typeface="Arial"/>
                <a:cs typeface="Arial"/>
                <a:sym typeface="Arial"/>
              </a:rPr>
              <a:t>日付が同じ場合</a:t>
            </a:r>
            <a:r>
              <a:rPr b="0" lang="zh-CN" sz="2400" u="none" strike="noStrike">
                <a:solidFill>
                  <a:srgbClr val="111111"/>
                </a:solidFill>
                <a:latin typeface="Arial"/>
                <a:ea typeface="Arial"/>
                <a:cs typeface="Arial"/>
                <a:sym typeface="Arial"/>
              </a:rPr>
              <a:t>：高い精度が出やすい</a:t>
            </a:r>
            <a:endParaRPr b="0" sz="24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lang="zh-CN" sz="2400" u="none" strike="noStrike">
                <a:solidFill>
                  <a:srgbClr val="C00000"/>
                </a:solidFill>
                <a:latin typeface="Arial"/>
                <a:ea typeface="Arial"/>
                <a:cs typeface="Arial"/>
                <a:sym typeface="Arial"/>
              </a:rPr>
              <a:t>日付が異なる場合：</a:t>
            </a:r>
            <a:r>
              <a:rPr lang="zh-CN" sz="2400" u="none" strike="noStrike">
                <a:solidFill>
                  <a:schemeClr val="dk1"/>
                </a:solidFill>
                <a:latin typeface="Arial"/>
                <a:ea typeface="Arial"/>
                <a:cs typeface="Arial"/>
                <a:sym typeface="Arial"/>
              </a:rPr>
              <a:t>チャネル変化により精度が大きく低下する</a:t>
            </a:r>
            <a:endParaRPr sz="2400" u="none" strike="noStrike">
              <a:solidFill>
                <a:schemeClr val="dk1"/>
              </a:solidFill>
              <a:latin typeface="Arial"/>
              <a:ea typeface="Arial"/>
              <a:cs typeface="Arial"/>
              <a:sym typeface="Arial"/>
            </a:endParaRPr>
          </a:p>
          <a:p>
            <a:pPr indent="0" lvl="0" marL="0" marR="0" rtl="0" algn="l">
              <a:spcBef>
                <a:spcPts val="0"/>
              </a:spcBef>
              <a:spcAft>
                <a:spcPts val="0"/>
              </a:spcAft>
              <a:buNone/>
            </a:pPr>
            <a:r>
              <a:rPr lang="zh-CN" sz="2400">
                <a:solidFill>
                  <a:schemeClr val="dk1"/>
                </a:solidFill>
                <a:latin typeface="Arial"/>
                <a:ea typeface="Arial"/>
                <a:cs typeface="Arial"/>
                <a:sym typeface="Arial"/>
              </a:rPr>
              <a:t>下の図にある通り、日によってChannelによる影響（おそらく受信強度）には大きな違いがある</a:t>
            </a:r>
            <a:endParaRPr sz="24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2400" u="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1" lang="zh-CN" sz="2400">
                <a:solidFill>
                  <a:schemeClr val="dk1"/>
                </a:solidFill>
                <a:latin typeface="Arial"/>
                <a:ea typeface="Arial"/>
                <a:cs typeface="Arial"/>
                <a:sym typeface="Arial"/>
              </a:rPr>
              <a:t>考察：</a:t>
            </a:r>
            <a:br>
              <a:rPr b="1" lang="zh-CN" sz="2400">
                <a:solidFill>
                  <a:schemeClr val="dk1"/>
                </a:solidFill>
                <a:latin typeface="Arial"/>
                <a:ea typeface="Arial"/>
                <a:cs typeface="Arial"/>
                <a:sym typeface="Arial"/>
              </a:rPr>
            </a:br>
            <a:r>
              <a:rPr lang="zh-CN" sz="2400">
                <a:solidFill>
                  <a:schemeClr val="dk1"/>
                </a:solidFill>
                <a:latin typeface="Arial"/>
                <a:ea typeface="Arial"/>
                <a:cs typeface="Arial"/>
                <a:sym typeface="Arial"/>
              </a:rPr>
              <a:t>日付が変わる中で、反射波の位相が変わり、縦軸（おそらく受信強度）が大きく変わり、Txの癖の分析が意味をなさない。</a:t>
            </a:r>
            <a:endParaRPr sz="2400">
              <a:solidFill>
                <a:schemeClr val="dk1"/>
              </a:solidFill>
              <a:latin typeface="Arial"/>
              <a:ea typeface="Arial"/>
              <a:cs typeface="Arial"/>
              <a:sym typeface="Arial"/>
            </a:endParaRPr>
          </a:p>
        </p:txBody>
      </p:sp>
      <p:sp>
        <p:nvSpPr>
          <p:cNvPr id="208" name="Google Shape;208;p10"/>
          <p:cNvSpPr/>
          <p:nvPr/>
        </p:nvSpPr>
        <p:spPr>
          <a:xfrm>
            <a:off x="502920" y="6510600"/>
            <a:ext cx="9326520" cy="1641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zh-CN" sz="750" u="none" strike="noStrike">
                <a:solidFill>
                  <a:srgbClr val="666666"/>
                </a:solidFill>
                <a:latin typeface="Arial"/>
                <a:ea typeface="Arial"/>
                <a:cs typeface="Arial"/>
                <a:sym typeface="Arial"/>
              </a:rPr>
              <a:t>出典：Hanna et al., WiSig, Fig.10 / Fig.11</a:t>
            </a:r>
            <a:endParaRPr b="0" sz="750" u="none" strike="noStrike">
              <a:solidFill>
                <a:srgbClr val="000000"/>
              </a:solidFill>
              <a:latin typeface="Arial"/>
              <a:ea typeface="Arial"/>
              <a:cs typeface="Arial"/>
              <a:sym typeface="Arial"/>
            </a:endParaRPr>
          </a:p>
        </p:txBody>
      </p:sp>
      <p:sp>
        <p:nvSpPr>
          <p:cNvPr id="209" name="Google Shape;209;p10"/>
          <p:cNvSpPr/>
          <p:nvPr/>
        </p:nvSpPr>
        <p:spPr>
          <a:xfrm>
            <a:off x="11612880" y="6473880"/>
            <a:ext cx="319680" cy="1641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lang="zh-CN" sz="800" u="none" strike="noStrike">
                <a:solidFill>
                  <a:srgbClr val="777777"/>
                </a:solidFill>
                <a:latin typeface="Arial"/>
                <a:ea typeface="Arial"/>
                <a:cs typeface="Arial"/>
                <a:sym typeface="Arial"/>
              </a:rPr>
              <a:t>13</a:t>
            </a:r>
            <a:endParaRPr b="0" sz="800" u="none" strike="noStrike">
              <a:solidFill>
                <a:srgbClr val="000000"/>
              </a:solidFill>
              <a:latin typeface="Arial"/>
              <a:ea typeface="Arial"/>
              <a:cs typeface="Arial"/>
              <a:sym typeface="Arial"/>
            </a:endParaRPr>
          </a:p>
        </p:txBody>
      </p:sp>
      <p:pic>
        <p:nvPicPr>
          <p:cNvPr id="210" name="Google Shape;210;p10"/>
          <p:cNvPicPr preferRelativeResize="0"/>
          <p:nvPr/>
        </p:nvPicPr>
        <p:blipFill rotWithShape="1">
          <a:blip r:embed="rId3">
            <a:alphaModFix/>
          </a:blip>
          <a:srcRect b="0" l="0" r="4275" t="7678"/>
          <a:stretch/>
        </p:blipFill>
        <p:spPr>
          <a:xfrm>
            <a:off x="7184575" y="901170"/>
            <a:ext cx="4321625" cy="2337849"/>
          </a:xfrm>
          <a:prstGeom prst="rect">
            <a:avLst/>
          </a:prstGeom>
          <a:noFill/>
          <a:ln>
            <a:noFill/>
          </a:ln>
        </p:spPr>
      </p:pic>
      <p:pic>
        <p:nvPicPr>
          <p:cNvPr id="211" name="Google Shape;211;p10"/>
          <p:cNvPicPr preferRelativeResize="0"/>
          <p:nvPr/>
        </p:nvPicPr>
        <p:blipFill rotWithShape="1">
          <a:blip r:embed="rId4">
            <a:alphaModFix/>
          </a:blip>
          <a:srcRect b="0" l="0" r="0" t="0"/>
          <a:stretch/>
        </p:blipFill>
        <p:spPr>
          <a:xfrm>
            <a:off x="7227724" y="3239020"/>
            <a:ext cx="4321626" cy="236376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 name="Shape 216"/>
        <p:cNvGrpSpPr/>
        <p:nvPr/>
      </p:nvGrpSpPr>
      <p:grpSpPr>
        <a:xfrm>
          <a:off x="0" y="0"/>
          <a:ext cx="0" cy="0"/>
          <a:chOff x="0" y="0"/>
          <a:chExt cx="0" cy="0"/>
        </a:xfrm>
      </p:grpSpPr>
      <p:sp>
        <p:nvSpPr>
          <p:cNvPr id="217" name="Google Shape;217;p11"/>
          <p:cNvSpPr/>
          <p:nvPr/>
        </p:nvSpPr>
        <p:spPr>
          <a:xfrm>
            <a:off x="502920" y="228600"/>
            <a:ext cx="11263094" cy="383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zh-CN" sz="4000" u="none" strike="noStrike">
                <a:solidFill>
                  <a:srgbClr val="111111"/>
                </a:solidFill>
                <a:latin typeface="Arial"/>
                <a:ea typeface="Arial"/>
                <a:cs typeface="Arial"/>
                <a:sym typeface="Arial"/>
              </a:rPr>
              <a:t>結果３：信号数・送信機数・Equalizationの影響</a:t>
            </a:r>
            <a:endParaRPr b="0" sz="4000" u="none" strike="noStrike">
              <a:solidFill>
                <a:srgbClr val="000000"/>
              </a:solidFill>
              <a:latin typeface="Arial"/>
              <a:ea typeface="Arial"/>
              <a:cs typeface="Arial"/>
              <a:sym typeface="Arial"/>
            </a:endParaRPr>
          </a:p>
        </p:txBody>
      </p:sp>
      <p:cxnSp>
        <p:nvCxnSpPr>
          <p:cNvPr id="218" name="Google Shape;218;p11"/>
          <p:cNvCxnSpPr/>
          <p:nvPr/>
        </p:nvCxnSpPr>
        <p:spPr>
          <a:xfrm>
            <a:off x="502920" y="786240"/>
            <a:ext cx="11155680" cy="360"/>
          </a:xfrm>
          <a:prstGeom prst="straightConnector1">
            <a:avLst/>
          </a:prstGeom>
          <a:noFill/>
          <a:ln cap="flat" cmpd="sng" w="15225">
            <a:solidFill>
              <a:srgbClr val="003B5C"/>
            </a:solidFill>
            <a:prstDash val="solid"/>
            <a:round/>
            <a:headEnd len="sm" w="sm" type="none"/>
            <a:tailEnd len="sm" w="sm" type="none"/>
          </a:ln>
        </p:spPr>
      </p:cxnSp>
      <p:sp>
        <p:nvSpPr>
          <p:cNvPr id="219" name="Google Shape;219;p11"/>
          <p:cNvSpPr/>
          <p:nvPr/>
        </p:nvSpPr>
        <p:spPr>
          <a:xfrm>
            <a:off x="694063" y="960480"/>
            <a:ext cx="4907104" cy="4489200"/>
          </a:xfrm>
          <a:prstGeom prst="rect">
            <a:avLst/>
          </a:prstGeom>
          <a:noFill/>
          <a:ln>
            <a:noFill/>
          </a:ln>
        </p:spPr>
        <p:txBody>
          <a:bodyPr anchorCtr="0" anchor="ctr" bIns="350" lIns="350" spcFirstLastPara="1" rIns="350" wrap="square" tIns="350">
            <a:noAutofit/>
          </a:bodyPr>
          <a:lstStyle/>
          <a:p>
            <a:pPr indent="0" lvl="0" marL="0" marR="0" rtl="0" algn="l">
              <a:spcBef>
                <a:spcPts val="0"/>
              </a:spcBef>
              <a:spcAft>
                <a:spcPts val="0"/>
              </a:spcAft>
              <a:buNone/>
            </a:pPr>
            <a:r>
              <a:rPr b="1" lang="zh-CN" sz="2400">
                <a:solidFill>
                  <a:srgbClr val="003B5C"/>
                </a:solidFill>
                <a:latin typeface="Arial"/>
                <a:ea typeface="Arial"/>
                <a:cs typeface="Arial"/>
                <a:sym typeface="Arial"/>
              </a:rPr>
              <a:t>結果の要点</a:t>
            </a:r>
            <a:endParaRPr b="1" sz="2400">
              <a:solidFill>
                <a:srgbClr val="003B5C"/>
              </a:solidFill>
              <a:latin typeface="Arial"/>
              <a:ea typeface="Arial"/>
              <a:cs typeface="Arial"/>
              <a:sym typeface="Arial"/>
            </a:endParaRPr>
          </a:p>
          <a:p>
            <a:pPr indent="0" lvl="0" marL="0" marR="0" rtl="0" algn="l">
              <a:spcBef>
                <a:spcPts val="0"/>
              </a:spcBef>
              <a:spcAft>
                <a:spcPts val="0"/>
              </a:spcAft>
              <a:buNone/>
            </a:pPr>
            <a:r>
              <a:rPr lang="zh-CN" sz="2400" u="none" strike="noStrike">
                <a:solidFill>
                  <a:schemeClr val="accent2"/>
                </a:solidFill>
                <a:latin typeface="Arial"/>
                <a:ea typeface="Arial"/>
                <a:cs typeface="Arial"/>
                <a:sym typeface="Arial"/>
              </a:rPr>
              <a:t>データ数が少ない場合、</a:t>
            </a:r>
            <a:r>
              <a:rPr b="1" lang="zh-CN" sz="2400" u="none" strike="noStrike">
                <a:solidFill>
                  <a:schemeClr val="accent2"/>
                </a:solidFill>
                <a:latin typeface="Arial"/>
                <a:ea typeface="Arial"/>
                <a:cs typeface="Arial"/>
                <a:sym typeface="Arial"/>
              </a:rPr>
              <a:t>Channelの影響</a:t>
            </a:r>
            <a:r>
              <a:rPr lang="zh-CN" sz="2400" u="none" strike="noStrike">
                <a:solidFill>
                  <a:schemeClr val="accent2"/>
                </a:solidFill>
                <a:latin typeface="Arial"/>
                <a:ea typeface="Arial"/>
                <a:cs typeface="Arial"/>
                <a:sym typeface="Arial"/>
              </a:rPr>
              <a:t>を</a:t>
            </a:r>
            <a:r>
              <a:rPr b="1" lang="zh-CN" sz="2400" u="none" strike="noStrike">
                <a:solidFill>
                  <a:schemeClr val="accent2"/>
                </a:solidFill>
                <a:latin typeface="Arial"/>
                <a:ea typeface="Arial"/>
                <a:cs typeface="Arial"/>
                <a:sym typeface="Arial"/>
              </a:rPr>
              <a:t>強く受ける</a:t>
            </a:r>
            <a:r>
              <a:rPr lang="zh-CN" sz="2400" u="none" strike="noStrike">
                <a:solidFill>
                  <a:schemeClr val="accent2"/>
                </a:solidFill>
                <a:latin typeface="Arial"/>
                <a:ea typeface="Arial"/>
                <a:cs typeface="Arial"/>
                <a:sym typeface="Arial"/>
              </a:rPr>
              <a:t>が</a:t>
            </a:r>
            <a:r>
              <a:rPr b="1" lang="zh-CN" sz="2400" u="none" strike="noStrike">
                <a:solidFill>
                  <a:schemeClr val="accent2"/>
                </a:solidFill>
                <a:latin typeface="Arial"/>
                <a:ea typeface="Arial"/>
                <a:cs typeface="Arial"/>
                <a:sym typeface="Arial"/>
              </a:rPr>
              <a:t>、</a:t>
            </a:r>
            <a:r>
              <a:rPr lang="zh-CN" sz="2400" u="none" strike="noStrike">
                <a:solidFill>
                  <a:srgbClr val="00B0F0"/>
                </a:solidFill>
                <a:latin typeface="Arial"/>
                <a:ea typeface="Arial"/>
                <a:cs typeface="Arial"/>
                <a:sym typeface="Arial"/>
              </a:rPr>
              <a:t>データが増えると、どちらでもあまり</a:t>
            </a:r>
            <a:r>
              <a:rPr b="1" lang="zh-CN" sz="2400" u="none" strike="noStrike">
                <a:solidFill>
                  <a:srgbClr val="00B0F0"/>
                </a:solidFill>
                <a:latin typeface="Arial"/>
                <a:ea typeface="Arial"/>
                <a:cs typeface="Arial"/>
                <a:sym typeface="Arial"/>
              </a:rPr>
              <a:t>変わらない</a:t>
            </a:r>
            <a:endParaRPr b="1" sz="2400" u="none" strike="noStrike">
              <a:solidFill>
                <a:srgbClr val="00B0F0"/>
              </a:solidFill>
              <a:latin typeface="Arial"/>
              <a:ea typeface="Arial"/>
              <a:cs typeface="Arial"/>
              <a:sym typeface="Arial"/>
            </a:endParaRPr>
          </a:p>
          <a:p>
            <a:pPr indent="0" lvl="0" marL="0" marR="0" rtl="0" algn="l">
              <a:spcBef>
                <a:spcPts val="0"/>
              </a:spcBef>
              <a:spcAft>
                <a:spcPts val="0"/>
              </a:spcAft>
              <a:buNone/>
            </a:pPr>
            <a:r>
              <a:t/>
            </a:r>
            <a:endParaRPr b="1" sz="2400" u="none" strike="noStrike">
              <a:solidFill>
                <a:srgbClr val="00B0F0"/>
              </a:solidFill>
              <a:latin typeface="Arial"/>
              <a:ea typeface="Arial"/>
              <a:cs typeface="Arial"/>
              <a:sym typeface="Arial"/>
            </a:endParaRPr>
          </a:p>
          <a:p>
            <a:pPr indent="0" lvl="0" marL="0" marR="0" rtl="0" algn="l">
              <a:lnSpc>
                <a:spcPct val="100000"/>
              </a:lnSpc>
              <a:spcBef>
                <a:spcPts val="0"/>
              </a:spcBef>
              <a:spcAft>
                <a:spcPts val="0"/>
              </a:spcAft>
              <a:buNone/>
            </a:pPr>
            <a:r>
              <a:rPr lang="zh-CN" sz="2400" u="none" strike="noStrike">
                <a:solidFill>
                  <a:schemeClr val="dk1"/>
                </a:solidFill>
                <a:latin typeface="Arial"/>
                <a:ea typeface="Arial"/>
                <a:cs typeface="Arial"/>
                <a:sym typeface="Arial"/>
              </a:rPr>
              <a:t>（以下は下の図）</a:t>
            </a:r>
            <a:br>
              <a:rPr b="1" lang="zh-CN" sz="2400" u="none" strike="noStrike">
                <a:solidFill>
                  <a:srgbClr val="C00000"/>
                </a:solidFill>
                <a:latin typeface="Arial"/>
                <a:ea typeface="Arial"/>
                <a:cs typeface="Arial"/>
                <a:sym typeface="Arial"/>
              </a:rPr>
            </a:br>
            <a:r>
              <a:rPr b="1" lang="zh-CN" sz="2400" u="none" strike="noStrike">
                <a:solidFill>
                  <a:srgbClr val="C00000"/>
                </a:solidFill>
                <a:latin typeface="Arial"/>
                <a:ea typeface="Arial"/>
                <a:cs typeface="Arial"/>
                <a:sym typeface="Arial"/>
              </a:rPr>
              <a:t>送信機数が増える場合：</a:t>
            </a:r>
            <a:r>
              <a:rPr lang="zh-CN" sz="2400" u="none" strike="noStrike">
                <a:solidFill>
                  <a:srgbClr val="C00000"/>
                </a:solidFill>
                <a:latin typeface="Arial"/>
                <a:ea typeface="Arial"/>
                <a:cs typeface="Arial"/>
                <a:sym typeface="Arial"/>
              </a:rPr>
              <a:t>分類問題が難しくなり、</a:t>
            </a:r>
            <a:r>
              <a:rPr b="1" lang="zh-CN" sz="2400" u="none" strike="noStrike">
                <a:solidFill>
                  <a:srgbClr val="C00000"/>
                </a:solidFill>
                <a:latin typeface="Arial"/>
                <a:ea typeface="Arial"/>
                <a:cs typeface="Arial"/>
                <a:sym typeface="Arial"/>
              </a:rPr>
              <a:t>精度は低下</a:t>
            </a:r>
            <a:r>
              <a:rPr lang="zh-CN" sz="2400" u="none" strike="noStrike">
                <a:solidFill>
                  <a:srgbClr val="C00000"/>
                </a:solidFill>
                <a:latin typeface="Arial"/>
                <a:ea typeface="Arial"/>
                <a:cs typeface="Arial"/>
                <a:sym typeface="Arial"/>
              </a:rPr>
              <a:t>する傾向がある</a:t>
            </a:r>
            <a:endParaRPr sz="2400" u="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None/>
            </a:pPr>
            <a:r>
              <a:rPr lang="zh-CN" sz="1800">
                <a:solidFill>
                  <a:schemeClr val="dk1"/>
                </a:solidFill>
                <a:latin typeface="Arial"/>
                <a:ea typeface="Arial"/>
                <a:cs typeface="Arial"/>
                <a:sym typeface="Arial"/>
              </a:rPr>
              <a:t>※既知の送信機に対する分類</a:t>
            </a:r>
            <a:endParaRPr sz="1800" u="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2400" u="none" strike="noStrike">
              <a:solidFill>
                <a:srgbClr val="000000"/>
              </a:solidFill>
              <a:latin typeface="Arial"/>
              <a:ea typeface="Arial"/>
              <a:cs typeface="Arial"/>
              <a:sym typeface="Arial"/>
            </a:endParaRPr>
          </a:p>
        </p:txBody>
      </p:sp>
      <p:sp>
        <p:nvSpPr>
          <p:cNvPr id="220" name="Google Shape;220;p11"/>
          <p:cNvSpPr/>
          <p:nvPr/>
        </p:nvSpPr>
        <p:spPr>
          <a:xfrm>
            <a:off x="502920" y="6510600"/>
            <a:ext cx="9326520" cy="1641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zh-CN" sz="750" u="none" strike="noStrike">
                <a:solidFill>
                  <a:srgbClr val="666666"/>
                </a:solidFill>
                <a:latin typeface="Arial"/>
                <a:ea typeface="Arial"/>
                <a:cs typeface="Arial"/>
                <a:sym typeface="Arial"/>
              </a:rPr>
              <a:t>出典：Hanna et al., WiSig, Fig.13 / Fig.14</a:t>
            </a:r>
            <a:endParaRPr b="0" sz="750" u="none" strike="noStrike">
              <a:solidFill>
                <a:srgbClr val="000000"/>
              </a:solidFill>
              <a:latin typeface="Arial"/>
              <a:ea typeface="Arial"/>
              <a:cs typeface="Arial"/>
              <a:sym typeface="Arial"/>
            </a:endParaRPr>
          </a:p>
        </p:txBody>
      </p:sp>
      <p:sp>
        <p:nvSpPr>
          <p:cNvPr id="221" name="Google Shape;221;p11"/>
          <p:cNvSpPr/>
          <p:nvPr/>
        </p:nvSpPr>
        <p:spPr>
          <a:xfrm>
            <a:off x="11612880" y="6473880"/>
            <a:ext cx="319680" cy="1641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lang="zh-CN" sz="800" u="none" strike="noStrike">
                <a:solidFill>
                  <a:srgbClr val="777777"/>
                </a:solidFill>
                <a:latin typeface="Arial"/>
                <a:ea typeface="Arial"/>
                <a:cs typeface="Arial"/>
                <a:sym typeface="Arial"/>
              </a:rPr>
              <a:t>14</a:t>
            </a:r>
            <a:endParaRPr b="0" sz="800" u="none" strike="noStrike">
              <a:solidFill>
                <a:srgbClr val="000000"/>
              </a:solidFill>
              <a:latin typeface="Arial"/>
              <a:ea typeface="Arial"/>
              <a:cs typeface="Arial"/>
              <a:sym typeface="Arial"/>
            </a:endParaRPr>
          </a:p>
        </p:txBody>
      </p:sp>
      <p:pic>
        <p:nvPicPr>
          <p:cNvPr id="222" name="Google Shape;222;p11"/>
          <p:cNvPicPr preferRelativeResize="0"/>
          <p:nvPr/>
        </p:nvPicPr>
        <p:blipFill rotWithShape="1">
          <a:blip r:embed="rId3">
            <a:alphaModFix/>
          </a:blip>
          <a:srcRect b="0" l="0" r="0" t="0"/>
          <a:stretch/>
        </p:blipFill>
        <p:spPr>
          <a:xfrm>
            <a:off x="6837334" y="960480"/>
            <a:ext cx="4775546" cy="2609892"/>
          </a:xfrm>
          <a:prstGeom prst="rect">
            <a:avLst/>
          </a:prstGeom>
          <a:noFill/>
          <a:ln>
            <a:noFill/>
          </a:ln>
        </p:spPr>
      </p:pic>
      <p:pic>
        <p:nvPicPr>
          <p:cNvPr id="223" name="Google Shape;223;p11"/>
          <p:cNvPicPr preferRelativeResize="0"/>
          <p:nvPr/>
        </p:nvPicPr>
        <p:blipFill rotWithShape="1">
          <a:blip r:embed="rId4">
            <a:alphaModFix/>
          </a:blip>
          <a:srcRect b="0" l="0" r="0" t="0"/>
          <a:stretch/>
        </p:blipFill>
        <p:spPr>
          <a:xfrm>
            <a:off x="6837334" y="3692865"/>
            <a:ext cx="4761001" cy="281773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8" name="Shape 228"/>
        <p:cNvGrpSpPr/>
        <p:nvPr/>
      </p:nvGrpSpPr>
      <p:grpSpPr>
        <a:xfrm>
          <a:off x="0" y="0"/>
          <a:ext cx="0" cy="0"/>
          <a:chOff x="0" y="0"/>
          <a:chExt cx="0" cy="0"/>
        </a:xfrm>
      </p:grpSpPr>
      <p:sp>
        <p:nvSpPr>
          <p:cNvPr id="229" name="Google Shape;229;p12"/>
          <p:cNvSpPr/>
          <p:nvPr/>
        </p:nvSpPr>
        <p:spPr>
          <a:xfrm>
            <a:off x="502920" y="228600"/>
            <a:ext cx="11063880" cy="383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zh-CN" sz="4000" u="none" strike="noStrike">
                <a:solidFill>
                  <a:srgbClr val="111111"/>
                </a:solidFill>
                <a:latin typeface="Arial"/>
                <a:ea typeface="Arial"/>
                <a:cs typeface="Arial"/>
                <a:sym typeface="Arial"/>
              </a:rPr>
              <a:t>考察・限界・今後の展望</a:t>
            </a:r>
            <a:endParaRPr b="0" sz="4000" u="none" strike="noStrike">
              <a:solidFill>
                <a:srgbClr val="000000"/>
              </a:solidFill>
              <a:latin typeface="Arial"/>
              <a:ea typeface="Arial"/>
              <a:cs typeface="Arial"/>
              <a:sym typeface="Arial"/>
            </a:endParaRPr>
          </a:p>
        </p:txBody>
      </p:sp>
      <p:cxnSp>
        <p:nvCxnSpPr>
          <p:cNvPr id="230" name="Google Shape;230;p12"/>
          <p:cNvCxnSpPr/>
          <p:nvPr/>
        </p:nvCxnSpPr>
        <p:spPr>
          <a:xfrm>
            <a:off x="502920" y="786240"/>
            <a:ext cx="11155680" cy="360"/>
          </a:xfrm>
          <a:prstGeom prst="straightConnector1">
            <a:avLst/>
          </a:prstGeom>
          <a:noFill/>
          <a:ln cap="flat" cmpd="sng" w="15225">
            <a:solidFill>
              <a:srgbClr val="003B5C"/>
            </a:solidFill>
            <a:prstDash val="solid"/>
            <a:round/>
            <a:headEnd len="sm" w="sm" type="none"/>
            <a:tailEnd len="sm" w="sm" type="none"/>
          </a:ln>
        </p:spPr>
      </p:cxnSp>
      <p:sp>
        <p:nvSpPr>
          <p:cNvPr id="231" name="Google Shape;231;p12"/>
          <p:cNvSpPr/>
          <p:nvPr/>
        </p:nvSpPr>
        <p:spPr>
          <a:xfrm>
            <a:off x="731520" y="955620"/>
            <a:ext cx="4800240" cy="3295980"/>
          </a:xfrm>
          <a:prstGeom prst="rect">
            <a:avLst/>
          </a:prstGeom>
          <a:noFill/>
          <a:ln>
            <a:noFill/>
          </a:ln>
        </p:spPr>
        <p:txBody>
          <a:bodyPr anchorCtr="0" anchor="ctr" bIns="350" lIns="350" spcFirstLastPara="1" rIns="350" wrap="square" tIns="350">
            <a:noAutofit/>
          </a:bodyPr>
          <a:lstStyle/>
          <a:p>
            <a:pPr indent="0" lvl="0" marL="0" marR="0" rtl="0" algn="l">
              <a:spcBef>
                <a:spcPts val="0"/>
              </a:spcBef>
              <a:spcAft>
                <a:spcPts val="0"/>
              </a:spcAft>
              <a:buNone/>
            </a:pPr>
            <a:r>
              <a:rPr b="1" lang="zh-CN" sz="2400">
                <a:solidFill>
                  <a:srgbClr val="003B5C"/>
                </a:solidFill>
                <a:latin typeface="Arial"/>
                <a:ea typeface="Arial"/>
                <a:cs typeface="Arial"/>
                <a:sym typeface="Arial"/>
              </a:rPr>
              <a:t>論文の主張</a:t>
            </a:r>
            <a:br>
              <a:rPr b="0" lang="zh-CN" sz="2400" u="none" strike="noStrike">
                <a:solidFill>
                  <a:srgbClr val="111111"/>
                </a:solidFill>
                <a:latin typeface="Arial"/>
                <a:ea typeface="Arial"/>
                <a:cs typeface="Arial"/>
                <a:sym typeface="Arial"/>
              </a:rPr>
            </a:br>
            <a:r>
              <a:rPr b="0" lang="zh-CN" sz="2400" u="none" strike="noStrike">
                <a:solidFill>
                  <a:srgbClr val="111111"/>
                </a:solidFill>
                <a:latin typeface="Arial"/>
                <a:ea typeface="Arial"/>
                <a:cs typeface="Arial"/>
                <a:sym typeface="Arial"/>
              </a:rPr>
              <a:t>WiSigにより、大規模なWiFi RF fingerprinting</a:t>
            </a:r>
            <a:r>
              <a:rPr b="1" lang="zh-CN" sz="2400" u="none" strike="noStrike">
                <a:solidFill>
                  <a:srgbClr val="111111"/>
                </a:solidFill>
                <a:latin typeface="Arial"/>
                <a:ea typeface="Arial"/>
                <a:cs typeface="Arial"/>
                <a:sym typeface="Arial"/>
              </a:rPr>
              <a:t>評価が可能</a:t>
            </a:r>
            <a:r>
              <a:rPr b="0" lang="zh-CN" sz="2400" u="none" strike="noStrike">
                <a:solidFill>
                  <a:srgbClr val="111111"/>
                </a:solidFill>
                <a:latin typeface="Arial"/>
                <a:ea typeface="Arial"/>
                <a:cs typeface="Arial"/>
                <a:sym typeface="Arial"/>
              </a:rPr>
              <a:t>になる</a:t>
            </a:r>
            <a:endParaRPr b="0" sz="24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zh-CN" sz="2400" u="none" strike="noStrike">
                <a:solidFill>
                  <a:srgbClr val="111111"/>
                </a:solidFill>
                <a:latin typeface="Arial"/>
                <a:ea typeface="Arial"/>
                <a:cs typeface="Arial"/>
                <a:sym typeface="Arial"/>
              </a:rPr>
              <a:t>受信機や日付の変化は分類精度を</a:t>
            </a:r>
            <a:r>
              <a:rPr b="1" lang="zh-CN" sz="2400" u="none" strike="noStrike">
                <a:solidFill>
                  <a:srgbClr val="111111"/>
                </a:solidFill>
                <a:latin typeface="Arial"/>
                <a:ea typeface="Arial"/>
                <a:cs typeface="Arial"/>
                <a:sym typeface="Arial"/>
              </a:rPr>
              <a:t>低下</a:t>
            </a:r>
            <a:r>
              <a:rPr b="0" lang="zh-CN" sz="2400" u="none" strike="noStrike">
                <a:solidFill>
                  <a:srgbClr val="111111"/>
                </a:solidFill>
                <a:latin typeface="Arial"/>
                <a:ea typeface="Arial"/>
                <a:cs typeface="Arial"/>
                <a:sym typeface="Arial"/>
              </a:rPr>
              <a:t>させる</a:t>
            </a:r>
            <a:endParaRPr b="0" sz="24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zh-CN" sz="2400" u="none" strike="noStrike">
                <a:solidFill>
                  <a:srgbClr val="111111"/>
                </a:solidFill>
                <a:latin typeface="Arial"/>
                <a:ea typeface="Arial"/>
                <a:cs typeface="Arial"/>
                <a:sym typeface="Arial"/>
              </a:rPr>
              <a:t>Equalizationや多様な学習データは</a:t>
            </a:r>
            <a:r>
              <a:rPr b="1" lang="zh-CN" sz="2400" u="none" strike="noStrike">
                <a:solidFill>
                  <a:srgbClr val="111111"/>
                </a:solidFill>
                <a:latin typeface="Arial"/>
                <a:ea typeface="Arial"/>
                <a:cs typeface="Arial"/>
                <a:sym typeface="Arial"/>
              </a:rPr>
              <a:t>汎化性能の改善</a:t>
            </a:r>
            <a:r>
              <a:rPr b="0" lang="zh-CN" sz="2400" u="none" strike="noStrike">
                <a:solidFill>
                  <a:srgbClr val="111111"/>
                </a:solidFill>
                <a:latin typeface="Arial"/>
                <a:ea typeface="Arial"/>
                <a:cs typeface="Arial"/>
                <a:sym typeface="Arial"/>
              </a:rPr>
              <a:t>に役立つ</a:t>
            </a:r>
            <a:endParaRPr b="0" sz="24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zh-CN" sz="2400" u="none" strike="noStrike">
                <a:solidFill>
                  <a:srgbClr val="111111"/>
                </a:solidFill>
                <a:latin typeface="Arial"/>
                <a:ea typeface="Arial"/>
                <a:cs typeface="Arial"/>
                <a:sym typeface="Arial"/>
              </a:rPr>
              <a:t>しかし、追加データ収集だけに頼るのは</a:t>
            </a:r>
            <a:r>
              <a:rPr b="1" lang="zh-CN" sz="2400" u="none" strike="noStrike">
                <a:solidFill>
                  <a:srgbClr val="111111"/>
                </a:solidFill>
                <a:latin typeface="Arial"/>
                <a:ea typeface="Arial"/>
                <a:cs typeface="Arial"/>
                <a:sym typeface="Arial"/>
              </a:rPr>
              <a:t>現実的</a:t>
            </a:r>
            <a:r>
              <a:rPr b="0" lang="zh-CN" sz="2400" u="none" strike="noStrike">
                <a:solidFill>
                  <a:srgbClr val="111111"/>
                </a:solidFill>
                <a:latin typeface="Arial"/>
                <a:ea typeface="Arial"/>
                <a:cs typeface="Arial"/>
                <a:sym typeface="Arial"/>
              </a:rPr>
              <a:t>でない場合がある</a:t>
            </a:r>
            <a:endParaRPr b="0" sz="2400" u="none" strike="noStrike">
              <a:solidFill>
                <a:srgbClr val="000000"/>
              </a:solidFill>
              <a:latin typeface="Arial"/>
              <a:ea typeface="Arial"/>
              <a:cs typeface="Arial"/>
              <a:sym typeface="Arial"/>
            </a:endParaRPr>
          </a:p>
        </p:txBody>
      </p:sp>
      <p:sp>
        <p:nvSpPr>
          <p:cNvPr id="232" name="Google Shape;232;p12"/>
          <p:cNvSpPr/>
          <p:nvPr/>
        </p:nvSpPr>
        <p:spPr>
          <a:xfrm>
            <a:off x="6096000" y="955620"/>
            <a:ext cx="5166000" cy="2606040"/>
          </a:xfrm>
          <a:prstGeom prst="rect">
            <a:avLst/>
          </a:prstGeom>
          <a:noFill/>
          <a:ln>
            <a:noFill/>
          </a:ln>
        </p:spPr>
        <p:txBody>
          <a:bodyPr anchorCtr="0" anchor="ctr" bIns="350" lIns="350" spcFirstLastPara="1" rIns="350" wrap="square" tIns="350">
            <a:normAutofit/>
          </a:bodyPr>
          <a:lstStyle/>
          <a:p>
            <a:pPr indent="0" lvl="0" marL="0" marR="0" rtl="0" algn="l">
              <a:spcBef>
                <a:spcPts val="0"/>
              </a:spcBef>
              <a:spcAft>
                <a:spcPts val="0"/>
              </a:spcAft>
              <a:buNone/>
            </a:pPr>
            <a:r>
              <a:rPr b="1" lang="zh-CN" sz="2400">
                <a:solidFill>
                  <a:srgbClr val="003B5C"/>
                </a:solidFill>
                <a:latin typeface="Arial"/>
                <a:ea typeface="Arial"/>
                <a:cs typeface="Arial"/>
                <a:sym typeface="Arial"/>
              </a:rPr>
              <a:t>発表者の解釈</a:t>
            </a:r>
            <a:br>
              <a:rPr b="0" lang="zh-CN" sz="2400" u="none" strike="noStrike">
                <a:solidFill>
                  <a:srgbClr val="111111"/>
                </a:solidFill>
                <a:latin typeface="Arial"/>
                <a:ea typeface="Arial"/>
                <a:cs typeface="Arial"/>
                <a:sym typeface="Arial"/>
              </a:rPr>
            </a:br>
            <a:r>
              <a:rPr b="1" lang="zh-CN" sz="2400" u="none" strike="noStrike">
                <a:solidFill>
                  <a:srgbClr val="111111"/>
                </a:solidFill>
                <a:latin typeface="Arial"/>
                <a:ea typeface="Arial"/>
                <a:cs typeface="Arial"/>
                <a:sym typeface="Arial"/>
              </a:rPr>
              <a:t>送信機固有の特徴</a:t>
            </a:r>
            <a:r>
              <a:rPr b="0" lang="zh-CN" sz="2400" u="none" strike="noStrike">
                <a:solidFill>
                  <a:srgbClr val="111111"/>
                </a:solidFill>
                <a:latin typeface="Arial"/>
                <a:ea typeface="Arial"/>
                <a:cs typeface="Arial"/>
                <a:sym typeface="Arial"/>
              </a:rPr>
              <a:t>だけを取り出すことは難しい</a:t>
            </a:r>
            <a:endParaRPr b="0" sz="24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lang="zh-CN" sz="2400" u="none" strike="noStrike">
                <a:solidFill>
                  <a:srgbClr val="111111"/>
                </a:solidFill>
                <a:latin typeface="Arial"/>
                <a:ea typeface="Arial"/>
                <a:cs typeface="Arial"/>
                <a:sym typeface="Arial"/>
              </a:rPr>
              <a:t>実用化</a:t>
            </a:r>
            <a:r>
              <a:rPr b="0" lang="zh-CN" sz="2400" u="none" strike="noStrike">
                <a:solidFill>
                  <a:srgbClr val="111111"/>
                </a:solidFill>
                <a:latin typeface="Arial"/>
                <a:ea typeface="Arial"/>
                <a:cs typeface="Arial"/>
                <a:sym typeface="Arial"/>
              </a:rPr>
              <a:t>には、チャネル・受信機の影響を抑える工夫が必要</a:t>
            </a:r>
            <a:endParaRPr b="0" sz="24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zh-CN" sz="2400" u="none" strike="noStrike">
                <a:solidFill>
                  <a:srgbClr val="111111"/>
                </a:solidFill>
                <a:latin typeface="Arial"/>
                <a:ea typeface="Arial"/>
                <a:cs typeface="Arial"/>
                <a:sym typeface="Arial"/>
              </a:rPr>
              <a:t>WiSigは、自分の研究テーマを考えるための</a:t>
            </a:r>
            <a:r>
              <a:rPr b="1" lang="zh-CN" sz="2400" u="none" strike="noStrike">
                <a:solidFill>
                  <a:srgbClr val="111111"/>
                </a:solidFill>
                <a:latin typeface="Arial"/>
                <a:ea typeface="Arial"/>
                <a:cs typeface="Arial"/>
                <a:sym typeface="Arial"/>
              </a:rPr>
              <a:t>基盤データセット</a:t>
            </a:r>
            <a:r>
              <a:rPr b="0" lang="zh-CN" sz="2400" u="none" strike="noStrike">
                <a:solidFill>
                  <a:srgbClr val="111111"/>
                </a:solidFill>
                <a:latin typeface="Arial"/>
                <a:ea typeface="Arial"/>
                <a:cs typeface="Arial"/>
                <a:sym typeface="Arial"/>
              </a:rPr>
              <a:t>になる</a:t>
            </a:r>
            <a:endParaRPr b="0" sz="2400" u="none" strike="noStrike">
              <a:solidFill>
                <a:srgbClr val="000000"/>
              </a:solidFill>
              <a:latin typeface="Arial"/>
              <a:ea typeface="Arial"/>
              <a:cs typeface="Arial"/>
              <a:sym typeface="Arial"/>
            </a:endParaRPr>
          </a:p>
        </p:txBody>
      </p:sp>
      <p:sp>
        <p:nvSpPr>
          <p:cNvPr id="233" name="Google Shape;233;p12"/>
          <p:cNvSpPr/>
          <p:nvPr/>
        </p:nvSpPr>
        <p:spPr>
          <a:xfrm>
            <a:off x="685800" y="4572000"/>
            <a:ext cx="2559960" cy="292320"/>
          </a:xfrm>
          <a:prstGeom prst="rect">
            <a:avLst/>
          </a:prstGeom>
          <a:noFill/>
          <a:ln>
            <a:noFill/>
          </a:ln>
        </p:spPr>
        <p:txBody>
          <a:bodyPr anchorCtr="0" anchor="ctr" bIns="350" lIns="350" spcFirstLastPara="1" rIns="350" wrap="square" tIns="350">
            <a:normAutofit/>
          </a:bodyPr>
          <a:lstStyle/>
          <a:p>
            <a:pPr indent="0" lvl="0" marL="0" marR="0" rtl="0" algn="l">
              <a:lnSpc>
                <a:spcPct val="100000"/>
              </a:lnSpc>
              <a:spcBef>
                <a:spcPts val="0"/>
              </a:spcBef>
              <a:spcAft>
                <a:spcPts val="0"/>
              </a:spcAft>
              <a:buNone/>
            </a:pPr>
            <a:r>
              <a:rPr b="1" lang="zh-CN" sz="1700" u="none" strike="noStrike">
                <a:solidFill>
                  <a:srgbClr val="003B5C"/>
                </a:solidFill>
                <a:latin typeface="Arial"/>
                <a:ea typeface="Arial"/>
                <a:cs typeface="Arial"/>
                <a:sym typeface="Arial"/>
              </a:rPr>
              <a:t>今後の研究課題</a:t>
            </a:r>
            <a:endParaRPr b="0" sz="1700" u="none" strike="noStrike">
              <a:solidFill>
                <a:srgbClr val="000000"/>
              </a:solidFill>
              <a:latin typeface="Arial"/>
              <a:ea typeface="Arial"/>
              <a:cs typeface="Arial"/>
              <a:sym typeface="Arial"/>
            </a:endParaRPr>
          </a:p>
        </p:txBody>
      </p:sp>
      <p:sp>
        <p:nvSpPr>
          <p:cNvPr id="234" name="Google Shape;234;p12"/>
          <p:cNvSpPr/>
          <p:nvPr/>
        </p:nvSpPr>
        <p:spPr>
          <a:xfrm>
            <a:off x="822960" y="5074920"/>
            <a:ext cx="2148480" cy="685440"/>
          </a:xfrm>
          <a:prstGeom prst="rect">
            <a:avLst/>
          </a:prstGeom>
          <a:solidFill>
            <a:srgbClr val="FFFFFF"/>
          </a:solidFill>
          <a:ln cap="flat" cmpd="sng" w="12700">
            <a:solidFill>
              <a:srgbClr val="00A651"/>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230" u="none" strike="noStrike">
                <a:solidFill>
                  <a:srgbClr val="00A651"/>
                </a:solidFill>
                <a:latin typeface="Arial"/>
                <a:ea typeface="Arial"/>
                <a:cs typeface="Arial"/>
                <a:sym typeface="Arial"/>
              </a:rPr>
              <a:t>チャネルに頑健な</a:t>
            </a:r>
            <a:endParaRPr b="0" sz="123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zh-CN" sz="1230" u="none" strike="noStrike">
                <a:solidFill>
                  <a:srgbClr val="00A651"/>
                </a:solidFill>
                <a:latin typeface="Arial"/>
                <a:ea typeface="Arial"/>
                <a:cs typeface="Arial"/>
                <a:sym typeface="Arial"/>
              </a:rPr>
              <a:t>特徴抽出</a:t>
            </a:r>
            <a:endParaRPr b="0" sz="1230" u="none" strike="noStrike">
              <a:solidFill>
                <a:srgbClr val="000000"/>
              </a:solidFill>
              <a:latin typeface="Arial"/>
              <a:ea typeface="Arial"/>
              <a:cs typeface="Arial"/>
              <a:sym typeface="Arial"/>
            </a:endParaRPr>
          </a:p>
        </p:txBody>
      </p:sp>
      <p:sp>
        <p:nvSpPr>
          <p:cNvPr id="235" name="Google Shape;235;p12"/>
          <p:cNvSpPr/>
          <p:nvPr/>
        </p:nvSpPr>
        <p:spPr>
          <a:xfrm>
            <a:off x="3566160" y="5074920"/>
            <a:ext cx="2148480" cy="685440"/>
          </a:xfrm>
          <a:prstGeom prst="rect">
            <a:avLst/>
          </a:prstGeom>
          <a:solidFill>
            <a:srgbClr val="FFFFFF"/>
          </a:solidFill>
          <a:ln cap="flat" cmpd="sng" w="12700">
            <a:solidFill>
              <a:srgbClr val="00A651"/>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230" u="none" strike="noStrike">
                <a:solidFill>
                  <a:srgbClr val="00A651"/>
                </a:solidFill>
                <a:latin typeface="Arial"/>
                <a:ea typeface="Arial"/>
                <a:cs typeface="Arial"/>
                <a:sym typeface="Arial"/>
              </a:rPr>
              <a:t>受信機に依存しない</a:t>
            </a:r>
            <a:endParaRPr b="0" sz="123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zh-CN" sz="1230" u="none" strike="noStrike">
                <a:solidFill>
                  <a:srgbClr val="00A651"/>
                </a:solidFill>
                <a:latin typeface="Arial"/>
                <a:ea typeface="Arial"/>
                <a:cs typeface="Arial"/>
                <a:sym typeface="Arial"/>
              </a:rPr>
              <a:t>分類</a:t>
            </a:r>
            <a:endParaRPr b="0" sz="1230" u="none" strike="noStrike">
              <a:solidFill>
                <a:srgbClr val="000000"/>
              </a:solidFill>
              <a:latin typeface="Arial"/>
              <a:ea typeface="Arial"/>
              <a:cs typeface="Arial"/>
              <a:sym typeface="Arial"/>
            </a:endParaRPr>
          </a:p>
        </p:txBody>
      </p:sp>
      <p:sp>
        <p:nvSpPr>
          <p:cNvPr id="236" name="Google Shape;236;p12"/>
          <p:cNvSpPr/>
          <p:nvPr/>
        </p:nvSpPr>
        <p:spPr>
          <a:xfrm>
            <a:off x="6309360" y="5074920"/>
            <a:ext cx="2148480" cy="685440"/>
          </a:xfrm>
          <a:prstGeom prst="rect">
            <a:avLst/>
          </a:prstGeom>
          <a:solidFill>
            <a:srgbClr val="FFFFFF"/>
          </a:solidFill>
          <a:ln cap="flat" cmpd="sng" w="12700">
            <a:solidFill>
              <a:srgbClr val="003B5C"/>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230" u="none" strike="noStrike">
                <a:solidFill>
                  <a:srgbClr val="003B5C"/>
                </a:solidFill>
                <a:latin typeface="Arial"/>
                <a:ea typeface="Arial"/>
                <a:cs typeface="Arial"/>
                <a:sym typeface="Arial"/>
              </a:rPr>
              <a:t>少ない信号数で</a:t>
            </a:r>
            <a:endParaRPr b="0" sz="123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zh-CN" sz="1230" u="none" strike="noStrike">
                <a:solidFill>
                  <a:srgbClr val="003B5C"/>
                </a:solidFill>
                <a:latin typeface="Arial"/>
                <a:ea typeface="Arial"/>
                <a:cs typeface="Arial"/>
                <a:sym typeface="Arial"/>
              </a:rPr>
              <a:t>学習できるモデル</a:t>
            </a:r>
            <a:endParaRPr b="0" sz="1230" u="none" strike="noStrike">
              <a:solidFill>
                <a:srgbClr val="000000"/>
              </a:solidFill>
              <a:latin typeface="Arial"/>
              <a:ea typeface="Arial"/>
              <a:cs typeface="Arial"/>
              <a:sym typeface="Arial"/>
            </a:endParaRPr>
          </a:p>
        </p:txBody>
      </p:sp>
      <p:sp>
        <p:nvSpPr>
          <p:cNvPr id="237" name="Google Shape;237;p12"/>
          <p:cNvSpPr/>
          <p:nvPr/>
        </p:nvSpPr>
        <p:spPr>
          <a:xfrm>
            <a:off x="9052560" y="5074920"/>
            <a:ext cx="2148480" cy="685440"/>
          </a:xfrm>
          <a:prstGeom prst="rect">
            <a:avLst/>
          </a:prstGeom>
          <a:solidFill>
            <a:srgbClr val="FFFFFF"/>
          </a:solidFill>
          <a:ln cap="flat" cmpd="sng" w="12700">
            <a:solidFill>
              <a:srgbClr val="003B5C"/>
            </a:solidFill>
            <a:prstDash val="solid"/>
            <a:round/>
            <a:headEnd len="sm" w="sm" type="none"/>
            <a:tailEnd len="sm" w="sm" type="none"/>
          </a:ln>
        </p:spPr>
        <p:txBody>
          <a:bodyPr anchorCtr="0" anchor="ctr" bIns="700" lIns="700" spcFirstLastPara="1" rIns="700" wrap="square" tIns="700">
            <a:normAutofit/>
          </a:bodyPr>
          <a:lstStyle/>
          <a:p>
            <a:pPr indent="0" lvl="0" marL="0" marR="0" rtl="0" algn="ctr">
              <a:lnSpc>
                <a:spcPct val="100000"/>
              </a:lnSpc>
              <a:spcBef>
                <a:spcPts val="0"/>
              </a:spcBef>
              <a:spcAft>
                <a:spcPts val="0"/>
              </a:spcAft>
              <a:buNone/>
            </a:pPr>
            <a:r>
              <a:rPr b="1" lang="zh-CN" sz="1230" u="none" strike="noStrike">
                <a:solidFill>
                  <a:srgbClr val="003B5C"/>
                </a:solidFill>
                <a:latin typeface="Arial"/>
                <a:ea typeface="Arial"/>
                <a:cs typeface="Arial"/>
                <a:sym typeface="Arial"/>
              </a:rPr>
              <a:t>Open-set認証</a:t>
            </a:r>
            <a:endParaRPr b="0" sz="123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zh-CN" sz="1230" u="none" strike="noStrike">
                <a:solidFill>
                  <a:srgbClr val="003B5C"/>
                </a:solidFill>
                <a:latin typeface="Arial"/>
                <a:ea typeface="Arial"/>
                <a:cs typeface="Arial"/>
                <a:sym typeface="Arial"/>
              </a:rPr>
              <a:t>への拡張</a:t>
            </a:r>
            <a:endParaRPr b="0" sz="1230" u="none" strike="noStrike">
              <a:solidFill>
                <a:srgbClr val="000000"/>
              </a:solidFill>
              <a:latin typeface="Arial"/>
              <a:ea typeface="Arial"/>
              <a:cs typeface="Arial"/>
              <a:sym typeface="Arial"/>
            </a:endParaRPr>
          </a:p>
        </p:txBody>
      </p:sp>
      <p:sp>
        <p:nvSpPr>
          <p:cNvPr id="238" name="Google Shape;238;p12"/>
          <p:cNvSpPr/>
          <p:nvPr/>
        </p:nvSpPr>
        <p:spPr>
          <a:xfrm>
            <a:off x="502920" y="6510600"/>
            <a:ext cx="9326520" cy="1641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zh-CN" sz="750" u="none" strike="noStrike">
                <a:solidFill>
                  <a:srgbClr val="666666"/>
                </a:solidFill>
                <a:latin typeface="Arial"/>
                <a:ea typeface="Arial"/>
                <a:cs typeface="Arial"/>
                <a:sym typeface="Arial"/>
              </a:rPr>
              <a:t>出典：Hanna et al., WiSig, Conclusion</a:t>
            </a:r>
            <a:endParaRPr b="0" sz="750" u="none" strike="noStrike">
              <a:solidFill>
                <a:srgbClr val="000000"/>
              </a:solidFill>
              <a:latin typeface="Arial"/>
              <a:ea typeface="Arial"/>
              <a:cs typeface="Arial"/>
              <a:sym typeface="Arial"/>
            </a:endParaRPr>
          </a:p>
        </p:txBody>
      </p:sp>
      <p:sp>
        <p:nvSpPr>
          <p:cNvPr id="239" name="Google Shape;239;p12"/>
          <p:cNvSpPr/>
          <p:nvPr/>
        </p:nvSpPr>
        <p:spPr>
          <a:xfrm>
            <a:off x="11612880" y="6473880"/>
            <a:ext cx="319680" cy="1641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lang="zh-CN" sz="800" u="none" strike="noStrike">
                <a:solidFill>
                  <a:srgbClr val="777777"/>
                </a:solidFill>
                <a:latin typeface="Arial"/>
                <a:ea typeface="Arial"/>
                <a:cs typeface="Arial"/>
                <a:sym typeface="Arial"/>
              </a:rPr>
              <a:t>15</a:t>
            </a:r>
            <a:endParaRPr b="0" sz="800" u="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 name="Shape 244"/>
        <p:cNvGrpSpPr/>
        <p:nvPr/>
      </p:nvGrpSpPr>
      <p:grpSpPr>
        <a:xfrm>
          <a:off x="0" y="0"/>
          <a:ext cx="0" cy="0"/>
          <a:chOff x="0" y="0"/>
          <a:chExt cx="0" cy="0"/>
        </a:xfrm>
      </p:grpSpPr>
      <p:sp>
        <p:nvSpPr>
          <p:cNvPr id="245" name="Google Shape;245;p13"/>
          <p:cNvSpPr/>
          <p:nvPr/>
        </p:nvSpPr>
        <p:spPr>
          <a:xfrm>
            <a:off x="0" y="0"/>
            <a:ext cx="12191400" cy="749520"/>
          </a:xfrm>
          <a:prstGeom prst="rect">
            <a:avLst/>
          </a:prstGeom>
          <a:solidFill>
            <a:srgbClr val="E7A64A"/>
          </a:solidFill>
          <a:ln cap="flat" cmpd="sng" w="12700">
            <a:solidFill>
              <a:srgbClr val="E7A64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46" name="Google Shape;246;p13"/>
          <p:cNvSpPr/>
          <p:nvPr/>
        </p:nvSpPr>
        <p:spPr>
          <a:xfrm>
            <a:off x="472300" y="100569"/>
            <a:ext cx="10972500" cy="548400"/>
          </a:xfrm>
          <a:prstGeom prst="rect">
            <a:avLst/>
          </a:prstGeom>
          <a:noFill/>
          <a:ln>
            <a:noFill/>
          </a:ln>
        </p:spPr>
        <p:txBody>
          <a:bodyPr anchorCtr="0" anchor="t" bIns="350" lIns="350" spcFirstLastPara="1" rIns="350" wrap="square" tIns="350">
            <a:normAutofit/>
          </a:bodyPr>
          <a:lstStyle/>
          <a:p>
            <a:pPr indent="0" lvl="0" marL="0" marR="0" rtl="0" algn="ctr">
              <a:lnSpc>
                <a:spcPct val="90001"/>
              </a:lnSpc>
              <a:spcBef>
                <a:spcPts val="0"/>
              </a:spcBef>
              <a:spcAft>
                <a:spcPts val="0"/>
              </a:spcAft>
              <a:buNone/>
            </a:pPr>
            <a:r>
              <a:rPr b="1" lang="zh-CN" sz="4035" u="none" strike="noStrike">
                <a:solidFill>
                  <a:srgbClr val="FFFFFF"/>
                </a:solidFill>
                <a:latin typeface="Arial"/>
                <a:ea typeface="Arial"/>
                <a:cs typeface="Arial"/>
                <a:sym typeface="Arial"/>
              </a:rPr>
              <a:t>まとめ・参考文献</a:t>
            </a:r>
            <a:endParaRPr b="0" sz="4035" u="none" strike="noStrike">
              <a:solidFill>
                <a:srgbClr val="000000"/>
              </a:solidFill>
              <a:latin typeface="Arial"/>
              <a:ea typeface="Arial"/>
              <a:cs typeface="Arial"/>
              <a:sym typeface="Arial"/>
            </a:endParaRPr>
          </a:p>
        </p:txBody>
      </p:sp>
      <p:sp>
        <p:nvSpPr>
          <p:cNvPr id="247" name="Google Shape;247;p13"/>
          <p:cNvSpPr/>
          <p:nvPr/>
        </p:nvSpPr>
        <p:spPr>
          <a:xfrm>
            <a:off x="731520" y="1097280"/>
            <a:ext cx="1828440" cy="273960"/>
          </a:xfrm>
          <a:prstGeom prst="rect">
            <a:avLst/>
          </a:prstGeom>
          <a:noFill/>
          <a:ln>
            <a:noFill/>
          </a:ln>
        </p:spPr>
        <p:txBody>
          <a:bodyPr anchorCtr="0" anchor="ctr" bIns="350" lIns="350" spcFirstLastPara="1" rIns="350" wrap="square" tIns="350">
            <a:normAutofit/>
          </a:bodyPr>
          <a:lstStyle/>
          <a:p>
            <a:pPr indent="0" lvl="0" marL="0" marR="0" rtl="0" algn="l">
              <a:lnSpc>
                <a:spcPct val="100000"/>
              </a:lnSpc>
              <a:spcBef>
                <a:spcPts val="0"/>
              </a:spcBef>
              <a:spcAft>
                <a:spcPts val="0"/>
              </a:spcAft>
              <a:buNone/>
            </a:pPr>
            <a:r>
              <a:t/>
            </a:r>
            <a:endParaRPr b="0" sz="1700" u="none" strike="noStrike">
              <a:solidFill>
                <a:srgbClr val="000000"/>
              </a:solidFill>
              <a:latin typeface="Arial"/>
              <a:ea typeface="Arial"/>
              <a:cs typeface="Arial"/>
              <a:sym typeface="Arial"/>
            </a:endParaRPr>
          </a:p>
        </p:txBody>
      </p:sp>
      <p:sp>
        <p:nvSpPr>
          <p:cNvPr id="248" name="Google Shape;248;p13"/>
          <p:cNvSpPr/>
          <p:nvPr/>
        </p:nvSpPr>
        <p:spPr>
          <a:xfrm>
            <a:off x="731520" y="873464"/>
            <a:ext cx="5257440" cy="3364920"/>
          </a:xfrm>
          <a:prstGeom prst="rect">
            <a:avLst/>
          </a:prstGeom>
          <a:noFill/>
          <a:ln>
            <a:noFill/>
          </a:ln>
        </p:spPr>
        <p:txBody>
          <a:bodyPr anchorCtr="0" anchor="ctr" bIns="350" lIns="350" spcFirstLastPara="1" rIns="350" wrap="square" tIns="350">
            <a:noAutofit/>
          </a:bodyPr>
          <a:lstStyle/>
          <a:p>
            <a:pPr indent="0" lvl="0" marL="0" marR="0" rtl="0" algn="l">
              <a:spcBef>
                <a:spcPts val="0"/>
              </a:spcBef>
              <a:spcAft>
                <a:spcPts val="0"/>
              </a:spcAft>
              <a:buNone/>
            </a:pPr>
            <a:r>
              <a:rPr b="1" lang="zh-CN" sz="2400">
                <a:solidFill>
                  <a:srgbClr val="003B5C"/>
                </a:solidFill>
                <a:latin typeface="Arial"/>
                <a:ea typeface="Arial"/>
                <a:cs typeface="Arial"/>
                <a:sym typeface="Arial"/>
              </a:rPr>
              <a:t>まとめ</a:t>
            </a:r>
            <a:br>
              <a:rPr b="0" lang="zh-CN" sz="2400" u="none" strike="noStrike">
                <a:solidFill>
                  <a:srgbClr val="111111"/>
                </a:solidFill>
                <a:latin typeface="Arial"/>
                <a:ea typeface="Arial"/>
                <a:cs typeface="Arial"/>
                <a:sym typeface="Arial"/>
              </a:rPr>
            </a:br>
            <a:r>
              <a:rPr b="0" lang="zh-CN" sz="2400" u="none" strike="noStrike">
                <a:solidFill>
                  <a:srgbClr val="111111"/>
                </a:solidFill>
                <a:latin typeface="Arial"/>
                <a:ea typeface="Arial"/>
                <a:cs typeface="Arial"/>
                <a:sym typeface="Arial"/>
              </a:rPr>
              <a:t>無線指紋は、送信機固有の微小な信号差を使って機器を識別する技術である</a:t>
            </a:r>
            <a:endParaRPr b="0" sz="24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zh-CN" sz="2400" u="none" strike="noStrike">
                <a:solidFill>
                  <a:srgbClr val="111111"/>
                </a:solidFill>
                <a:latin typeface="Arial"/>
                <a:ea typeface="Arial"/>
                <a:cs typeface="Arial"/>
                <a:sym typeface="Arial"/>
              </a:rPr>
              <a:t>WiSigは、174送信機・41受信機・複数日のWiFi信号を含む大規模データセットである</a:t>
            </a:r>
            <a:endParaRPr b="0" sz="24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zh-CN" sz="2400" u="none" strike="noStrike">
                <a:solidFill>
                  <a:srgbClr val="111111"/>
                </a:solidFill>
                <a:latin typeface="Arial"/>
                <a:ea typeface="Arial"/>
                <a:cs typeface="Arial"/>
                <a:sym typeface="Arial"/>
              </a:rPr>
              <a:t>受信機やチャネルが変わると精度が落ちるため、頑健なRF fingerprinting手法が必要である</a:t>
            </a:r>
            <a:endParaRPr b="0" sz="2400" u="none" strike="noStrike">
              <a:solidFill>
                <a:srgbClr val="000000"/>
              </a:solidFill>
              <a:latin typeface="Arial"/>
              <a:ea typeface="Arial"/>
              <a:cs typeface="Arial"/>
              <a:sym typeface="Arial"/>
            </a:endParaRPr>
          </a:p>
        </p:txBody>
      </p:sp>
      <p:sp>
        <p:nvSpPr>
          <p:cNvPr id="249" name="Google Shape;249;p13"/>
          <p:cNvSpPr/>
          <p:nvPr/>
        </p:nvSpPr>
        <p:spPr>
          <a:xfrm>
            <a:off x="6446520" y="1097280"/>
            <a:ext cx="1828440" cy="273960"/>
          </a:xfrm>
          <a:prstGeom prst="rect">
            <a:avLst/>
          </a:prstGeom>
          <a:noFill/>
          <a:ln>
            <a:noFill/>
          </a:ln>
        </p:spPr>
        <p:txBody>
          <a:bodyPr anchorCtr="0" anchor="ctr" bIns="350" lIns="350" spcFirstLastPara="1" rIns="350" wrap="square" tIns="350">
            <a:normAutofit/>
          </a:bodyPr>
          <a:lstStyle/>
          <a:p>
            <a:pPr indent="0" lvl="0" marL="0" marR="0" rtl="0" algn="l">
              <a:lnSpc>
                <a:spcPct val="100000"/>
              </a:lnSpc>
              <a:spcBef>
                <a:spcPts val="0"/>
              </a:spcBef>
              <a:spcAft>
                <a:spcPts val="0"/>
              </a:spcAft>
              <a:buNone/>
            </a:pPr>
            <a:r>
              <a:rPr b="1" lang="zh-CN" sz="1700" u="none" strike="noStrike">
                <a:solidFill>
                  <a:srgbClr val="003B5C"/>
                </a:solidFill>
                <a:latin typeface="Arial"/>
                <a:ea typeface="Arial"/>
                <a:cs typeface="Arial"/>
                <a:sym typeface="Arial"/>
              </a:rPr>
              <a:t>参考文献</a:t>
            </a:r>
            <a:endParaRPr b="0" sz="1700" u="none" strike="noStrike">
              <a:solidFill>
                <a:srgbClr val="000000"/>
              </a:solidFill>
              <a:latin typeface="Arial"/>
              <a:ea typeface="Arial"/>
              <a:cs typeface="Arial"/>
              <a:sym typeface="Arial"/>
            </a:endParaRPr>
          </a:p>
        </p:txBody>
      </p:sp>
      <p:sp>
        <p:nvSpPr>
          <p:cNvPr id="250" name="Google Shape;250;p13"/>
          <p:cNvSpPr/>
          <p:nvPr/>
        </p:nvSpPr>
        <p:spPr>
          <a:xfrm>
            <a:off x="6446520" y="1508760"/>
            <a:ext cx="4845960" cy="1325520"/>
          </a:xfrm>
          <a:prstGeom prst="rect">
            <a:avLst/>
          </a:prstGeom>
          <a:solidFill>
            <a:srgbClr val="FFFFFF"/>
          </a:solidFill>
          <a:ln cap="flat" cmpd="sng" w="12700">
            <a:solidFill>
              <a:srgbClr val="D9D9D9"/>
            </a:solidFill>
            <a:prstDash val="solid"/>
            <a:round/>
            <a:headEnd len="sm" w="sm" type="none"/>
            <a:tailEnd len="sm" w="sm" type="none"/>
          </a:ln>
        </p:spPr>
        <p:txBody>
          <a:bodyPr anchorCtr="0" anchor="ctr" bIns="1075" lIns="1075" spcFirstLastPara="1" rIns="1075" wrap="square" tIns="1075">
            <a:normAutofit/>
          </a:bodyPr>
          <a:lstStyle/>
          <a:p>
            <a:pPr indent="0" lvl="0" marL="0" marR="0" rtl="0" algn="l">
              <a:lnSpc>
                <a:spcPct val="100000"/>
              </a:lnSpc>
              <a:spcBef>
                <a:spcPts val="0"/>
              </a:spcBef>
              <a:spcAft>
                <a:spcPts val="0"/>
              </a:spcAft>
              <a:buNone/>
            </a:pPr>
            <a:r>
              <a:rPr b="0" lang="zh-CN" sz="1150" u="none" strike="noStrike">
                <a:solidFill>
                  <a:srgbClr val="111111"/>
                </a:solidFill>
                <a:latin typeface="Arial"/>
                <a:ea typeface="Arial"/>
                <a:cs typeface="Arial"/>
                <a:sym typeface="Arial"/>
              </a:rPr>
              <a:t>S. Hanna, S. Karunaratne, and D. Cabric,</a:t>
            </a:r>
            <a:endParaRPr b="0" sz="115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zh-CN" sz="1150" u="none" strike="noStrike">
                <a:solidFill>
                  <a:srgbClr val="111111"/>
                </a:solidFill>
                <a:latin typeface="Arial"/>
                <a:ea typeface="Arial"/>
                <a:cs typeface="Arial"/>
                <a:sym typeface="Arial"/>
              </a:rPr>
              <a:t>“WiSig: A Large-Scale WiFi Signal Dataset for Receiver and Channel Agnostic RF Fingerprinting,”</a:t>
            </a:r>
            <a:endParaRPr b="0" sz="115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zh-CN" sz="1150" u="none" strike="noStrike">
                <a:solidFill>
                  <a:srgbClr val="111111"/>
                </a:solidFill>
                <a:latin typeface="Arial"/>
                <a:ea typeface="Arial"/>
                <a:cs typeface="Arial"/>
                <a:sym typeface="Arial"/>
              </a:rPr>
              <a:t>IEEE Access, 2022.</a:t>
            </a:r>
            <a:endParaRPr b="0" sz="1150" u="none" strike="noStrike">
              <a:solidFill>
                <a:srgbClr val="000000"/>
              </a:solidFill>
              <a:latin typeface="Arial"/>
              <a:ea typeface="Arial"/>
              <a:cs typeface="Arial"/>
              <a:sym typeface="Arial"/>
            </a:endParaRPr>
          </a:p>
        </p:txBody>
      </p:sp>
      <p:sp>
        <p:nvSpPr>
          <p:cNvPr id="251" name="Google Shape;251;p13"/>
          <p:cNvSpPr/>
          <p:nvPr/>
        </p:nvSpPr>
        <p:spPr>
          <a:xfrm>
            <a:off x="731520" y="4434840"/>
            <a:ext cx="3291480" cy="273960"/>
          </a:xfrm>
          <a:prstGeom prst="rect">
            <a:avLst/>
          </a:prstGeom>
          <a:noFill/>
          <a:ln>
            <a:noFill/>
          </a:ln>
        </p:spPr>
        <p:txBody>
          <a:bodyPr anchorCtr="0" anchor="ctr" bIns="350" lIns="350" spcFirstLastPara="1" rIns="350" wrap="square" tIns="350">
            <a:noAutofit/>
          </a:bodyPr>
          <a:lstStyle/>
          <a:p>
            <a:pPr indent="0" lvl="0" marL="0" marR="0" rtl="0" algn="l">
              <a:lnSpc>
                <a:spcPct val="100000"/>
              </a:lnSpc>
              <a:spcBef>
                <a:spcPts val="0"/>
              </a:spcBef>
              <a:spcAft>
                <a:spcPts val="0"/>
              </a:spcAft>
              <a:buNone/>
            </a:pPr>
            <a:r>
              <a:rPr b="1" lang="zh-CN" sz="2400" u="none" strike="noStrike">
                <a:solidFill>
                  <a:srgbClr val="003B5C"/>
                </a:solidFill>
                <a:latin typeface="Arial"/>
                <a:ea typeface="Arial"/>
                <a:cs typeface="Arial"/>
                <a:sym typeface="Arial"/>
              </a:rPr>
              <a:t>発表者としての一言</a:t>
            </a:r>
            <a:endParaRPr b="0" sz="2400" u="none" strike="noStrike">
              <a:solidFill>
                <a:srgbClr val="000000"/>
              </a:solidFill>
              <a:latin typeface="Arial"/>
              <a:ea typeface="Arial"/>
              <a:cs typeface="Arial"/>
              <a:sym typeface="Arial"/>
            </a:endParaRPr>
          </a:p>
        </p:txBody>
      </p:sp>
      <p:sp>
        <p:nvSpPr>
          <p:cNvPr id="252" name="Google Shape;252;p13"/>
          <p:cNvSpPr/>
          <p:nvPr/>
        </p:nvSpPr>
        <p:spPr>
          <a:xfrm>
            <a:off x="838380" y="4892040"/>
            <a:ext cx="10515240" cy="1092496"/>
          </a:xfrm>
          <a:prstGeom prst="rect">
            <a:avLst/>
          </a:prstGeom>
          <a:solidFill>
            <a:srgbClr val="FFFFFF"/>
          </a:solidFill>
          <a:ln cap="flat" cmpd="sng" w="12700">
            <a:solidFill>
              <a:srgbClr val="003B5C"/>
            </a:solidFill>
            <a:prstDash val="solid"/>
            <a:round/>
            <a:headEnd len="sm" w="sm" type="none"/>
            <a:tailEnd len="sm" w="sm" type="none"/>
          </a:ln>
        </p:spPr>
        <p:txBody>
          <a:bodyPr anchorCtr="0" anchor="ctr" bIns="700" lIns="700" spcFirstLastPara="1" rIns="700" wrap="square" tIns="700">
            <a:noAutofit/>
          </a:bodyPr>
          <a:lstStyle/>
          <a:p>
            <a:pPr indent="0" lvl="0" marL="0" marR="0" rtl="0" algn="ctr">
              <a:lnSpc>
                <a:spcPct val="100000"/>
              </a:lnSpc>
              <a:spcBef>
                <a:spcPts val="0"/>
              </a:spcBef>
              <a:spcAft>
                <a:spcPts val="0"/>
              </a:spcAft>
              <a:buNone/>
            </a:pPr>
            <a:r>
              <a:rPr b="1" lang="zh-CN" sz="3200" u="none" strike="noStrike">
                <a:solidFill>
                  <a:srgbClr val="003B5C"/>
                </a:solidFill>
                <a:latin typeface="Arial"/>
                <a:ea typeface="Arial"/>
                <a:cs typeface="Arial"/>
                <a:sym typeface="Arial"/>
              </a:rPr>
              <a:t>おもしろそう（It’s funny!）</a:t>
            </a:r>
            <a:endParaRPr b="0" sz="3200" u="none" strike="noStrike">
              <a:solidFill>
                <a:srgbClr val="000000"/>
              </a:solidFill>
              <a:latin typeface="Arial"/>
              <a:ea typeface="Arial"/>
              <a:cs typeface="Arial"/>
              <a:sym typeface="Arial"/>
            </a:endParaRPr>
          </a:p>
        </p:txBody>
      </p:sp>
      <p:sp>
        <p:nvSpPr>
          <p:cNvPr id="253" name="Google Shape;253;p13"/>
          <p:cNvSpPr/>
          <p:nvPr/>
        </p:nvSpPr>
        <p:spPr>
          <a:xfrm>
            <a:off x="11612880" y="6473880"/>
            <a:ext cx="319680" cy="1641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lang="zh-CN" sz="800" u="none" strike="noStrike">
                <a:solidFill>
                  <a:srgbClr val="777777"/>
                </a:solidFill>
                <a:latin typeface="Arial"/>
                <a:ea typeface="Arial"/>
                <a:cs typeface="Arial"/>
                <a:sym typeface="Arial"/>
              </a:rPr>
              <a:t>16</a:t>
            </a:r>
            <a:endParaRPr b="0" sz="800" u="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4"/>
          <p:cNvSpPr/>
          <p:nvPr/>
        </p:nvSpPr>
        <p:spPr>
          <a:xfrm>
            <a:off x="320040" y="256032"/>
            <a:ext cx="73152" cy="438912"/>
          </a:xfrm>
          <a:prstGeom prst="rect">
            <a:avLst/>
          </a:prstGeom>
          <a:solidFill>
            <a:srgbClr val="2563EB"/>
          </a:solidFill>
          <a:ln cap="flat" cmpd="sng" w="12700">
            <a:solidFill>
              <a:srgbClr val="2563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0" name="Google Shape;260;p14"/>
          <p:cNvSpPr/>
          <p:nvPr/>
        </p:nvSpPr>
        <p:spPr>
          <a:xfrm>
            <a:off x="502920" y="201168"/>
            <a:ext cx="7589520" cy="402336"/>
          </a:xfrm>
          <a:prstGeom prst="rect">
            <a:avLst/>
          </a:prstGeom>
          <a:noFill/>
          <a:ln>
            <a:noFill/>
          </a:ln>
        </p:spPr>
        <p:txBody>
          <a:bodyPr anchorCtr="0" anchor="ctr" bIns="250" lIns="250" spcFirstLastPara="1" rIns="250" wrap="square" tIns="250">
            <a:normAutofit/>
          </a:bodyPr>
          <a:lstStyle/>
          <a:p>
            <a:pPr indent="0" lvl="0" marL="0" marR="0" rtl="0" algn="l">
              <a:lnSpc>
                <a:spcPct val="80000"/>
              </a:lnSpc>
              <a:spcBef>
                <a:spcPts val="0"/>
              </a:spcBef>
              <a:spcAft>
                <a:spcPts val="0"/>
              </a:spcAft>
              <a:buClr>
                <a:srgbClr val="1F2937"/>
              </a:buClr>
              <a:buSzPts val="2100"/>
              <a:buFont typeface="Arial"/>
              <a:buNone/>
            </a:pPr>
            <a:r>
              <a:rPr b="1" lang="zh-CN" sz="2100">
                <a:solidFill>
                  <a:srgbClr val="1F2937"/>
                </a:solidFill>
                <a:latin typeface="Arial"/>
                <a:ea typeface="Arial"/>
                <a:cs typeface="Arial"/>
                <a:sym typeface="Arial"/>
              </a:rPr>
              <a:t>Open Set Wireless Transmitter Authorization （蛇足）</a:t>
            </a:r>
            <a:endParaRPr sz="2100">
              <a:solidFill>
                <a:schemeClr val="dk1"/>
              </a:solidFill>
              <a:latin typeface="Arial"/>
              <a:ea typeface="Arial"/>
              <a:cs typeface="Arial"/>
              <a:sym typeface="Arial"/>
            </a:endParaRPr>
          </a:p>
        </p:txBody>
      </p:sp>
      <p:sp>
        <p:nvSpPr>
          <p:cNvPr id="261" name="Google Shape;261;p14"/>
          <p:cNvSpPr/>
          <p:nvPr/>
        </p:nvSpPr>
        <p:spPr>
          <a:xfrm>
            <a:off x="521208" y="658368"/>
            <a:ext cx="8595360" cy="25603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4B5563"/>
              </a:buClr>
              <a:buSzPts val="1400"/>
              <a:buFont typeface="Arial"/>
              <a:buNone/>
            </a:pPr>
            <a:r>
              <a:rPr lang="zh-CN" sz="1400">
                <a:solidFill>
                  <a:srgbClr val="4B5563"/>
                </a:solidFill>
                <a:latin typeface="Arial"/>
                <a:ea typeface="Arial"/>
                <a:cs typeface="Arial"/>
                <a:sym typeface="Arial"/>
              </a:rPr>
              <a:t>未知の送信機を「既知クラスのどれか」と誤分類せず、拒否するためのRF fingerprinting認証</a:t>
            </a:r>
            <a:endParaRPr sz="1400">
              <a:solidFill>
                <a:schemeClr val="dk1"/>
              </a:solidFill>
              <a:latin typeface="Arial"/>
              <a:ea typeface="Arial"/>
              <a:cs typeface="Arial"/>
              <a:sym typeface="Arial"/>
            </a:endParaRPr>
          </a:p>
        </p:txBody>
      </p:sp>
      <p:sp>
        <p:nvSpPr>
          <p:cNvPr id="262" name="Google Shape;262;p14"/>
          <p:cNvSpPr/>
          <p:nvPr/>
        </p:nvSpPr>
        <p:spPr>
          <a:xfrm>
            <a:off x="502920" y="1143000"/>
            <a:ext cx="6675120" cy="4800600"/>
          </a:xfrm>
          <a:prstGeom prst="roundRect">
            <a:avLst>
              <a:gd fmla="val 1524" name="adj"/>
            </a:avLst>
          </a:prstGeom>
          <a:solidFill>
            <a:srgbClr val="FFFFFF">
              <a:alpha val="0"/>
            </a:srgbClr>
          </a:solidFill>
          <a:ln cap="flat" cmpd="sng" w="12700">
            <a:solidFill>
              <a:srgbClr val="E5E7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3" name="Google Shape;263;p14"/>
          <p:cNvSpPr/>
          <p:nvPr/>
        </p:nvSpPr>
        <p:spPr>
          <a:xfrm>
            <a:off x="777240" y="1307592"/>
            <a:ext cx="6126480" cy="29260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F2937"/>
              </a:buClr>
              <a:buSzPts val="1900"/>
              <a:buFont typeface="Arial"/>
              <a:buNone/>
            </a:pPr>
            <a:r>
              <a:rPr b="1" lang="zh-CN" sz="1900">
                <a:solidFill>
                  <a:srgbClr val="1F2937"/>
                </a:solidFill>
                <a:latin typeface="Arial"/>
                <a:ea typeface="Arial"/>
                <a:cs typeface="Arial"/>
                <a:sym typeface="Arial"/>
              </a:rPr>
              <a:t>考え方：Closed-set分類 → Open-set認証へ</a:t>
            </a:r>
            <a:endParaRPr sz="1900">
              <a:solidFill>
                <a:schemeClr val="dk1"/>
              </a:solidFill>
              <a:latin typeface="Arial"/>
              <a:ea typeface="Arial"/>
              <a:cs typeface="Arial"/>
              <a:sym typeface="Arial"/>
            </a:endParaRPr>
          </a:p>
        </p:txBody>
      </p:sp>
      <p:sp>
        <p:nvSpPr>
          <p:cNvPr id="264" name="Google Shape;264;p14"/>
          <p:cNvSpPr/>
          <p:nvPr/>
        </p:nvSpPr>
        <p:spPr>
          <a:xfrm>
            <a:off x="941832" y="1993392"/>
            <a:ext cx="256032" cy="256032"/>
          </a:xfrm>
          <a:prstGeom prst="ellipse">
            <a:avLst/>
          </a:prstGeom>
          <a:solidFill>
            <a:srgbClr val="DCFCE7"/>
          </a:solidFill>
          <a:ln cap="flat" cmpd="sng" w="12700">
            <a:solidFill>
              <a:srgbClr val="1580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5" name="Google Shape;265;p14"/>
          <p:cNvSpPr/>
          <p:nvPr/>
        </p:nvSpPr>
        <p:spPr>
          <a:xfrm>
            <a:off x="1261872" y="1847088"/>
            <a:ext cx="256032" cy="256032"/>
          </a:xfrm>
          <a:prstGeom prst="ellipse">
            <a:avLst/>
          </a:prstGeom>
          <a:solidFill>
            <a:srgbClr val="DCFCE7"/>
          </a:solidFill>
          <a:ln cap="flat" cmpd="sng" w="12700">
            <a:solidFill>
              <a:srgbClr val="1580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6" name="Google Shape;266;p14"/>
          <p:cNvSpPr/>
          <p:nvPr/>
        </p:nvSpPr>
        <p:spPr>
          <a:xfrm>
            <a:off x="1581912" y="2029968"/>
            <a:ext cx="256032" cy="256032"/>
          </a:xfrm>
          <a:prstGeom prst="ellipse">
            <a:avLst/>
          </a:prstGeom>
          <a:solidFill>
            <a:srgbClr val="DCFCE7"/>
          </a:solidFill>
          <a:ln cap="flat" cmpd="sng" w="12700">
            <a:solidFill>
              <a:srgbClr val="1580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7" name="Google Shape;267;p14"/>
          <p:cNvSpPr/>
          <p:nvPr/>
        </p:nvSpPr>
        <p:spPr>
          <a:xfrm>
            <a:off x="960120" y="2331720"/>
            <a:ext cx="1417320" cy="22860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5803D"/>
              </a:buClr>
              <a:buSzPts val="1300"/>
              <a:buFont typeface="Arial"/>
              <a:buNone/>
            </a:pPr>
            <a:r>
              <a:rPr b="1" lang="zh-CN" sz="1300">
                <a:solidFill>
                  <a:srgbClr val="15803D"/>
                </a:solidFill>
                <a:latin typeface="Arial"/>
                <a:ea typeface="Arial"/>
                <a:cs typeface="Arial"/>
                <a:sym typeface="Arial"/>
              </a:rPr>
              <a:t>許可済み A</a:t>
            </a:r>
            <a:endParaRPr sz="1300">
              <a:solidFill>
                <a:schemeClr val="dk1"/>
              </a:solidFill>
              <a:latin typeface="Arial"/>
              <a:ea typeface="Arial"/>
              <a:cs typeface="Arial"/>
              <a:sym typeface="Arial"/>
            </a:endParaRPr>
          </a:p>
        </p:txBody>
      </p:sp>
      <p:sp>
        <p:nvSpPr>
          <p:cNvPr id="268" name="Google Shape;268;p14"/>
          <p:cNvSpPr/>
          <p:nvPr/>
        </p:nvSpPr>
        <p:spPr>
          <a:xfrm>
            <a:off x="960120" y="2971800"/>
            <a:ext cx="256032" cy="256032"/>
          </a:xfrm>
          <a:prstGeom prst="ellipse">
            <a:avLst/>
          </a:prstGeom>
          <a:solidFill>
            <a:srgbClr val="DBEAFE"/>
          </a:solidFill>
          <a:ln cap="flat" cmpd="sng" w="12700">
            <a:solidFill>
              <a:srgbClr val="2563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9" name="Google Shape;269;p14"/>
          <p:cNvSpPr/>
          <p:nvPr/>
        </p:nvSpPr>
        <p:spPr>
          <a:xfrm>
            <a:off x="1298448" y="3136392"/>
            <a:ext cx="256032" cy="256032"/>
          </a:xfrm>
          <a:prstGeom prst="ellipse">
            <a:avLst/>
          </a:prstGeom>
          <a:solidFill>
            <a:srgbClr val="DBEAFE"/>
          </a:solidFill>
          <a:ln cap="flat" cmpd="sng" w="12700">
            <a:solidFill>
              <a:srgbClr val="2563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0" name="Google Shape;270;p14"/>
          <p:cNvSpPr/>
          <p:nvPr/>
        </p:nvSpPr>
        <p:spPr>
          <a:xfrm>
            <a:off x="1627632" y="2971800"/>
            <a:ext cx="256032" cy="256032"/>
          </a:xfrm>
          <a:prstGeom prst="ellipse">
            <a:avLst/>
          </a:prstGeom>
          <a:solidFill>
            <a:srgbClr val="DBEAFE"/>
          </a:solidFill>
          <a:ln cap="flat" cmpd="sng" w="12700">
            <a:solidFill>
              <a:srgbClr val="2563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1" name="Google Shape;271;p14"/>
          <p:cNvSpPr/>
          <p:nvPr/>
        </p:nvSpPr>
        <p:spPr>
          <a:xfrm>
            <a:off x="960120" y="3474720"/>
            <a:ext cx="1417320" cy="22860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2563EB"/>
              </a:buClr>
              <a:buSzPts val="1300"/>
              <a:buFont typeface="Arial"/>
              <a:buNone/>
            </a:pPr>
            <a:r>
              <a:rPr b="1" lang="zh-CN" sz="1300">
                <a:solidFill>
                  <a:srgbClr val="2563EB"/>
                </a:solidFill>
                <a:latin typeface="Arial"/>
                <a:ea typeface="Arial"/>
                <a:cs typeface="Arial"/>
                <a:sym typeface="Arial"/>
              </a:rPr>
              <a:t>許可済み B</a:t>
            </a:r>
            <a:endParaRPr sz="1300">
              <a:solidFill>
                <a:schemeClr val="dk1"/>
              </a:solidFill>
              <a:latin typeface="Arial"/>
              <a:ea typeface="Arial"/>
              <a:cs typeface="Arial"/>
              <a:sym typeface="Arial"/>
            </a:endParaRPr>
          </a:p>
        </p:txBody>
      </p:sp>
      <p:sp>
        <p:nvSpPr>
          <p:cNvPr id="272" name="Google Shape;272;p14"/>
          <p:cNvSpPr/>
          <p:nvPr/>
        </p:nvSpPr>
        <p:spPr>
          <a:xfrm>
            <a:off x="1115568" y="4160520"/>
            <a:ext cx="256032" cy="256032"/>
          </a:xfrm>
          <a:prstGeom prst="rect">
            <a:avLst/>
          </a:prstGeom>
          <a:solidFill>
            <a:srgbClr val="FEE2E2"/>
          </a:solidFill>
          <a:ln cap="flat" cmpd="sng" w="12700">
            <a:solidFill>
              <a:srgbClr val="B91C1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3" name="Google Shape;273;p14"/>
          <p:cNvSpPr/>
          <p:nvPr/>
        </p:nvSpPr>
        <p:spPr>
          <a:xfrm>
            <a:off x="1481328" y="4005072"/>
            <a:ext cx="256032" cy="256032"/>
          </a:xfrm>
          <a:prstGeom prst="rect">
            <a:avLst/>
          </a:prstGeom>
          <a:solidFill>
            <a:srgbClr val="FEE2E2"/>
          </a:solidFill>
          <a:ln cap="flat" cmpd="sng" w="12700">
            <a:solidFill>
              <a:srgbClr val="B91C1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4" name="Google Shape;274;p14"/>
          <p:cNvSpPr/>
          <p:nvPr/>
        </p:nvSpPr>
        <p:spPr>
          <a:xfrm>
            <a:off x="896112" y="4498848"/>
            <a:ext cx="1554480" cy="22860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B91C1C"/>
              </a:buClr>
              <a:buSzPts val="1300"/>
              <a:buFont typeface="Arial"/>
              <a:buNone/>
            </a:pPr>
            <a:r>
              <a:rPr b="1" lang="zh-CN" sz="1300">
                <a:solidFill>
                  <a:srgbClr val="B91C1C"/>
                </a:solidFill>
                <a:latin typeface="Arial"/>
                <a:ea typeface="Arial"/>
                <a:cs typeface="Arial"/>
                <a:sym typeface="Arial"/>
              </a:rPr>
              <a:t>未知Tx / 攻撃者</a:t>
            </a:r>
            <a:endParaRPr sz="1300">
              <a:solidFill>
                <a:schemeClr val="dk1"/>
              </a:solidFill>
              <a:latin typeface="Arial"/>
              <a:ea typeface="Arial"/>
              <a:cs typeface="Arial"/>
              <a:sym typeface="Arial"/>
            </a:endParaRPr>
          </a:p>
        </p:txBody>
      </p:sp>
      <p:sp>
        <p:nvSpPr>
          <p:cNvPr id="275" name="Google Shape;275;p14"/>
          <p:cNvSpPr/>
          <p:nvPr/>
        </p:nvSpPr>
        <p:spPr>
          <a:xfrm>
            <a:off x="2926080" y="2331720"/>
            <a:ext cx="1600200" cy="1234440"/>
          </a:xfrm>
          <a:prstGeom prst="roundRect">
            <a:avLst>
              <a:gd fmla="val 7407" name="adj"/>
            </a:avLst>
          </a:prstGeom>
          <a:solidFill>
            <a:srgbClr val="FFFFFF"/>
          </a:solidFill>
          <a:ln cap="flat" cmpd="sng" w="12700">
            <a:solidFill>
              <a:srgbClr val="9CA3A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6" name="Google Shape;276;p14"/>
          <p:cNvSpPr/>
          <p:nvPr/>
        </p:nvSpPr>
        <p:spPr>
          <a:xfrm>
            <a:off x="3090672" y="2578608"/>
            <a:ext cx="1261872" cy="475488"/>
          </a:xfrm>
          <a:prstGeom prst="rect">
            <a:avLst/>
          </a:prstGeom>
          <a:noFill/>
          <a:ln>
            <a:noFill/>
          </a:ln>
        </p:spPr>
        <p:txBody>
          <a:bodyPr anchorCtr="0" anchor="ctr" bIns="250" lIns="250" spcFirstLastPara="1" rIns="250" wrap="square" tIns="250">
            <a:normAutofit/>
          </a:bodyPr>
          <a:lstStyle/>
          <a:p>
            <a:pPr indent="0" lvl="0" marL="0" marR="0" rtl="0" algn="ctr">
              <a:lnSpc>
                <a:spcPct val="90000"/>
              </a:lnSpc>
              <a:spcBef>
                <a:spcPts val="0"/>
              </a:spcBef>
              <a:spcAft>
                <a:spcPts val="0"/>
              </a:spcAft>
              <a:buClr>
                <a:srgbClr val="1F2937"/>
              </a:buClr>
              <a:buSzPts val="1360"/>
              <a:buFont typeface="Arial"/>
              <a:buNone/>
            </a:pPr>
            <a:r>
              <a:rPr b="1" lang="zh-CN" sz="1360">
                <a:solidFill>
                  <a:srgbClr val="1F2937"/>
                </a:solidFill>
                <a:latin typeface="Arial"/>
                <a:ea typeface="Arial"/>
                <a:cs typeface="Arial"/>
                <a:sym typeface="Arial"/>
              </a:rPr>
              <a:t>受信IQ信号</a:t>
            </a:r>
            <a:endParaRPr sz="1360">
              <a:solidFill>
                <a:schemeClr val="dk1"/>
              </a:solidFill>
              <a:latin typeface="Arial"/>
              <a:ea typeface="Arial"/>
              <a:cs typeface="Arial"/>
              <a:sym typeface="Arial"/>
            </a:endParaRPr>
          </a:p>
          <a:p>
            <a:pPr indent="0" lvl="0" marL="0" marR="0" rtl="0" algn="ctr">
              <a:lnSpc>
                <a:spcPct val="90000"/>
              </a:lnSpc>
              <a:spcBef>
                <a:spcPts val="0"/>
              </a:spcBef>
              <a:spcAft>
                <a:spcPts val="0"/>
              </a:spcAft>
              <a:buClr>
                <a:srgbClr val="1F2937"/>
              </a:buClr>
              <a:buSzPts val="1360"/>
              <a:buFont typeface="Arial"/>
              <a:buNone/>
            </a:pPr>
            <a:r>
              <a:rPr b="1" lang="zh-CN" sz="1360">
                <a:solidFill>
                  <a:srgbClr val="1F2937"/>
                </a:solidFill>
                <a:latin typeface="Arial"/>
                <a:ea typeface="Arial"/>
                <a:cs typeface="Arial"/>
                <a:sym typeface="Arial"/>
              </a:rPr>
              <a:t>から特徴を学習</a:t>
            </a:r>
            <a:endParaRPr sz="1360">
              <a:solidFill>
                <a:schemeClr val="dk1"/>
              </a:solidFill>
              <a:latin typeface="Arial"/>
              <a:ea typeface="Arial"/>
              <a:cs typeface="Arial"/>
              <a:sym typeface="Arial"/>
            </a:endParaRPr>
          </a:p>
        </p:txBody>
      </p:sp>
      <p:sp>
        <p:nvSpPr>
          <p:cNvPr id="277" name="Google Shape;277;p14"/>
          <p:cNvSpPr/>
          <p:nvPr/>
        </p:nvSpPr>
        <p:spPr>
          <a:xfrm>
            <a:off x="3337560" y="3154680"/>
            <a:ext cx="777240" cy="21945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4B5563"/>
              </a:buClr>
              <a:buSzPts val="1200"/>
              <a:buFont typeface="Arial"/>
              <a:buNone/>
            </a:pPr>
            <a:r>
              <a:rPr lang="zh-CN" sz="1200">
                <a:solidFill>
                  <a:srgbClr val="4B5563"/>
                </a:solidFill>
                <a:latin typeface="Arial"/>
                <a:ea typeface="Arial"/>
                <a:cs typeface="Arial"/>
                <a:sym typeface="Arial"/>
              </a:rPr>
              <a:t>CNNなど</a:t>
            </a:r>
            <a:endParaRPr sz="1200">
              <a:solidFill>
                <a:schemeClr val="dk1"/>
              </a:solidFill>
              <a:latin typeface="Arial"/>
              <a:ea typeface="Arial"/>
              <a:cs typeface="Arial"/>
              <a:sym typeface="Arial"/>
            </a:endParaRPr>
          </a:p>
        </p:txBody>
      </p:sp>
      <p:sp>
        <p:nvSpPr>
          <p:cNvPr id="278" name="Google Shape;278;p14"/>
          <p:cNvSpPr/>
          <p:nvPr/>
        </p:nvSpPr>
        <p:spPr>
          <a:xfrm>
            <a:off x="5166360" y="1828800"/>
            <a:ext cx="1417320" cy="658368"/>
          </a:xfrm>
          <a:prstGeom prst="roundRect">
            <a:avLst>
              <a:gd fmla="val 13889" name="adj"/>
            </a:avLst>
          </a:prstGeom>
          <a:solidFill>
            <a:srgbClr val="DCFCE7"/>
          </a:solidFill>
          <a:ln cap="flat" cmpd="sng" w="12700">
            <a:solidFill>
              <a:srgbClr val="1580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9" name="Google Shape;279;p14"/>
          <p:cNvSpPr/>
          <p:nvPr/>
        </p:nvSpPr>
        <p:spPr>
          <a:xfrm>
            <a:off x="5431536" y="1956816"/>
            <a:ext cx="896112" cy="228600"/>
          </a:xfrm>
          <a:prstGeom prst="rect">
            <a:avLst/>
          </a:prstGeom>
          <a:noFill/>
          <a:ln>
            <a:noFill/>
          </a:ln>
        </p:spPr>
        <p:txBody>
          <a:bodyPr anchorCtr="0" anchor="ctr" bIns="250" lIns="250" spcFirstLastPara="1" rIns="250" wrap="square" tIns="250">
            <a:normAutofit/>
          </a:bodyPr>
          <a:lstStyle/>
          <a:p>
            <a:pPr indent="0" lvl="0" marL="0" marR="0" rtl="0" algn="ctr">
              <a:lnSpc>
                <a:spcPct val="90000"/>
              </a:lnSpc>
              <a:spcBef>
                <a:spcPts val="0"/>
              </a:spcBef>
              <a:spcAft>
                <a:spcPts val="0"/>
              </a:spcAft>
              <a:buClr>
                <a:srgbClr val="15803D"/>
              </a:buClr>
              <a:buSzPts val="1572"/>
              <a:buFont typeface="Arial"/>
              <a:buNone/>
            </a:pPr>
            <a:r>
              <a:rPr b="1" lang="zh-CN" sz="1573">
                <a:solidFill>
                  <a:srgbClr val="15803D"/>
                </a:solidFill>
                <a:latin typeface="Arial"/>
                <a:ea typeface="Arial"/>
                <a:cs typeface="Arial"/>
                <a:sym typeface="Arial"/>
              </a:rPr>
              <a:t>Accept</a:t>
            </a:r>
            <a:endParaRPr sz="1573">
              <a:solidFill>
                <a:schemeClr val="dk1"/>
              </a:solidFill>
              <a:latin typeface="Arial"/>
              <a:ea typeface="Arial"/>
              <a:cs typeface="Arial"/>
              <a:sym typeface="Arial"/>
            </a:endParaRPr>
          </a:p>
        </p:txBody>
      </p:sp>
      <p:sp>
        <p:nvSpPr>
          <p:cNvPr id="280" name="Google Shape;280;p14"/>
          <p:cNvSpPr/>
          <p:nvPr/>
        </p:nvSpPr>
        <p:spPr>
          <a:xfrm>
            <a:off x="5321808" y="2221992"/>
            <a:ext cx="1078992" cy="201168"/>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5803D"/>
              </a:buClr>
              <a:buSzPts val="1100"/>
              <a:buFont typeface="Arial"/>
              <a:buNone/>
            </a:pPr>
            <a:r>
              <a:rPr lang="zh-CN" sz="1100">
                <a:solidFill>
                  <a:srgbClr val="15803D"/>
                </a:solidFill>
                <a:latin typeface="Arial"/>
                <a:ea typeface="Arial"/>
                <a:cs typeface="Arial"/>
                <a:sym typeface="Arial"/>
              </a:rPr>
              <a:t>A or B と判定</a:t>
            </a:r>
            <a:endParaRPr sz="1100">
              <a:solidFill>
                <a:schemeClr val="dk1"/>
              </a:solidFill>
              <a:latin typeface="Arial"/>
              <a:ea typeface="Arial"/>
              <a:cs typeface="Arial"/>
              <a:sym typeface="Arial"/>
            </a:endParaRPr>
          </a:p>
        </p:txBody>
      </p:sp>
      <p:sp>
        <p:nvSpPr>
          <p:cNvPr id="281" name="Google Shape;281;p14"/>
          <p:cNvSpPr/>
          <p:nvPr/>
        </p:nvSpPr>
        <p:spPr>
          <a:xfrm>
            <a:off x="5166360" y="3749040"/>
            <a:ext cx="1417320" cy="658368"/>
          </a:xfrm>
          <a:prstGeom prst="roundRect">
            <a:avLst>
              <a:gd fmla="val 13889" name="adj"/>
            </a:avLst>
          </a:prstGeom>
          <a:solidFill>
            <a:srgbClr val="FEE2E2"/>
          </a:solidFill>
          <a:ln cap="flat" cmpd="sng" w="12700">
            <a:solidFill>
              <a:srgbClr val="B91C1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2" name="Google Shape;282;p14"/>
          <p:cNvSpPr/>
          <p:nvPr/>
        </p:nvSpPr>
        <p:spPr>
          <a:xfrm>
            <a:off x="5440680" y="3877056"/>
            <a:ext cx="877824" cy="228600"/>
          </a:xfrm>
          <a:prstGeom prst="rect">
            <a:avLst/>
          </a:prstGeom>
          <a:noFill/>
          <a:ln>
            <a:noFill/>
          </a:ln>
        </p:spPr>
        <p:txBody>
          <a:bodyPr anchorCtr="0" anchor="ctr" bIns="250" lIns="250" spcFirstLastPara="1" rIns="250" wrap="square" tIns="250">
            <a:normAutofit/>
          </a:bodyPr>
          <a:lstStyle/>
          <a:p>
            <a:pPr indent="0" lvl="0" marL="0" marR="0" rtl="0" algn="ctr">
              <a:lnSpc>
                <a:spcPct val="90000"/>
              </a:lnSpc>
              <a:spcBef>
                <a:spcPts val="0"/>
              </a:spcBef>
              <a:spcAft>
                <a:spcPts val="0"/>
              </a:spcAft>
              <a:buClr>
                <a:srgbClr val="B91C1C"/>
              </a:buClr>
              <a:buSzPts val="1572"/>
              <a:buFont typeface="Arial"/>
              <a:buNone/>
            </a:pPr>
            <a:r>
              <a:rPr b="1" lang="zh-CN" sz="1573">
                <a:solidFill>
                  <a:srgbClr val="B91C1C"/>
                </a:solidFill>
                <a:latin typeface="Arial"/>
                <a:ea typeface="Arial"/>
                <a:cs typeface="Arial"/>
                <a:sym typeface="Arial"/>
              </a:rPr>
              <a:t>Reject</a:t>
            </a:r>
            <a:endParaRPr sz="1573">
              <a:solidFill>
                <a:schemeClr val="dk1"/>
              </a:solidFill>
              <a:latin typeface="Arial"/>
              <a:ea typeface="Arial"/>
              <a:cs typeface="Arial"/>
              <a:sym typeface="Arial"/>
            </a:endParaRPr>
          </a:p>
        </p:txBody>
      </p:sp>
      <p:sp>
        <p:nvSpPr>
          <p:cNvPr id="283" name="Google Shape;283;p14"/>
          <p:cNvSpPr/>
          <p:nvPr/>
        </p:nvSpPr>
        <p:spPr>
          <a:xfrm>
            <a:off x="5257800" y="4142232"/>
            <a:ext cx="1243584" cy="201168"/>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B91C1C"/>
              </a:buClr>
              <a:buSzPts val="1100"/>
              <a:buFont typeface="Arial"/>
              <a:buNone/>
            </a:pPr>
            <a:r>
              <a:rPr lang="zh-CN" sz="1100">
                <a:solidFill>
                  <a:srgbClr val="B91C1C"/>
                </a:solidFill>
                <a:latin typeface="Arial"/>
                <a:ea typeface="Arial"/>
                <a:cs typeface="Arial"/>
                <a:sym typeface="Arial"/>
              </a:rPr>
              <a:t>未知Txとして拒否</a:t>
            </a:r>
            <a:endParaRPr sz="1100">
              <a:solidFill>
                <a:schemeClr val="dk1"/>
              </a:solidFill>
              <a:latin typeface="Arial"/>
              <a:ea typeface="Arial"/>
              <a:cs typeface="Arial"/>
              <a:sym typeface="Arial"/>
            </a:endParaRPr>
          </a:p>
        </p:txBody>
      </p:sp>
      <p:sp>
        <p:nvSpPr>
          <p:cNvPr id="284" name="Google Shape;284;p14"/>
          <p:cNvSpPr/>
          <p:nvPr/>
        </p:nvSpPr>
        <p:spPr>
          <a:xfrm>
            <a:off x="2468880" y="2743200"/>
            <a:ext cx="320040" cy="320040"/>
          </a:xfrm>
          <a:prstGeom prst="rect">
            <a:avLst/>
          </a:prstGeom>
          <a:noFill/>
          <a:ln>
            <a:noFill/>
          </a:ln>
        </p:spPr>
        <p:txBody>
          <a:bodyPr anchorCtr="0" anchor="ctr" bIns="250" lIns="250" spcFirstLastPara="1" rIns="250" wrap="square" tIns="250">
            <a:normAutofit/>
          </a:bodyPr>
          <a:lstStyle/>
          <a:p>
            <a:pPr indent="0" lvl="0" marL="0" marR="0" rtl="0" algn="ctr">
              <a:lnSpc>
                <a:spcPct val="80000"/>
              </a:lnSpc>
              <a:spcBef>
                <a:spcPts val="0"/>
              </a:spcBef>
              <a:spcAft>
                <a:spcPts val="0"/>
              </a:spcAft>
              <a:buClr>
                <a:srgbClr val="9CA3AF"/>
              </a:buClr>
              <a:buSzPts val="2405"/>
              <a:buFont typeface="Arial"/>
              <a:buNone/>
            </a:pPr>
            <a:r>
              <a:rPr lang="zh-CN" sz="2405">
                <a:solidFill>
                  <a:srgbClr val="9CA3AF"/>
                </a:solidFill>
                <a:latin typeface="Arial"/>
                <a:ea typeface="Arial"/>
                <a:cs typeface="Arial"/>
                <a:sym typeface="Arial"/>
              </a:rPr>
              <a:t>→</a:t>
            </a:r>
            <a:endParaRPr sz="2405">
              <a:solidFill>
                <a:schemeClr val="dk1"/>
              </a:solidFill>
              <a:latin typeface="Arial"/>
              <a:ea typeface="Arial"/>
              <a:cs typeface="Arial"/>
              <a:sym typeface="Arial"/>
            </a:endParaRPr>
          </a:p>
        </p:txBody>
      </p:sp>
      <p:sp>
        <p:nvSpPr>
          <p:cNvPr id="285" name="Google Shape;285;p14"/>
          <p:cNvSpPr/>
          <p:nvPr/>
        </p:nvSpPr>
        <p:spPr>
          <a:xfrm>
            <a:off x="4617720" y="2395728"/>
            <a:ext cx="365760" cy="320040"/>
          </a:xfrm>
          <a:prstGeom prst="rect">
            <a:avLst/>
          </a:prstGeom>
          <a:noFill/>
          <a:ln>
            <a:noFill/>
          </a:ln>
        </p:spPr>
        <p:txBody>
          <a:bodyPr anchorCtr="0" anchor="ctr" bIns="250" lIns="250" spcFirstLastPara="1" rIns="250" wrap="square" tIns="250">
            <a:normAutofit/>
          </a:bodyPr>
          <a:lstStyle/>
          <a:p>
            <a:pPr indent="0" lvl="0" marL="0" marR="0" rtl="0" algn="ctr">
              <a:lnSpc>
                <a:spcPct val="80000"/>
              </a:lnSpc>
              <a:spcBef>
                <a:spcPts val="0"/>
              </a:spcBef>
              <a:spcAft>
                <a:spcPts val="0"/>
              </a:spcAft>
              <a:buClr>
                <a:srgbClr val="15803D"/>
              </a:buClr>
              <a:buSzPts val="2405"/>
              <a:buFont typeface="Arial"/>
              <a:buNone/>
            </a:pPr>
            <a:r>
              <a:rPr lang="zh-CN" sz="2405">
                <a:solidFill>
                  <a:srgbClr val="15803D"/>
                </a:solidFill>
                <a:latin typeface="Arial"/>
                <a:ea typeface="Arial"/>
                <a:cs typeface="Arial"/>
                <a:sym typeface="Arial"/>
              </a:rPr>
              <a:t>→</a:t>
            </a:r>
            <a:endParaRPr sz="2405">
              <a:solidFill>
                <a:schemeClr val="dk1"/>
              </a:solidFill>
              <a:latin typeface="Arial"/>
              <a:ea typeface="Arial"/>
              <a:cs typeface="Arial"/>
              <a:sym typeface="Arial"/>
            </a:endParaRPr>
          </a:p>
        </p:txBody>
      </p:sp>
      <p:sp>
        <p:nvSpPr>
          <p:cNvPr id="286" name="Google Shape;286;p14"/>
          <p:cNvSpPr/>
          <p:nvPr/>
        </p:nvSpPr>
        <p:spPr>
          <a:xfrm>
            <a:off x="4617720" y="3840480"/>
            <a:ext cx="365760" cy="320040"/>
          </a:xfrm>
          <a:prstGeom prst="rect">
            <a:avLst/>
          </a:prstGeom>
          <a:noFill/>
          <a:ln>
            <a:noFill/>
          </a:ln>
        </p:spPr>
        <p:txBody>
          <a:bodyPr anchorCtr="0" anchor="ctr" bIns="250" lIns="250" spcFirstLastPara="1" rIns="250" wrap="square" tIns="250">
            <a:normAutofit/>
          </a:bodyPr>
          <a:lstStyle/>
          <a:p>
            <a:pPr indent="0" lvl="0" marL="0" marR="0" rtl="0" algn="ctr">
              <a:lnSpc>
                <a:spcPct val="80000"/>
              </a:lnSpc>
              <a:spcBef>
                <a:spcPts val="0"/>
              </a:spcBef>
              <a:spcAft>
                <a:spcPts val="0"/>
              </a:spcAft>
              <a:buClr>
                <a:srgbClr val="B91C1C"/>
              </a:buClr>
              <a:buSzPts val="2405"/>
              <a:buFont typeface="Arial"/>
              <a:buNone/>
            </a:pPr>
            <a:r>
              <a:rPr lang="zh-CN" sz="2405">
                <a:solidFill>
                  <a:srgbClr val="B91C1C"/>
                </a:solidFill>
                <a:latin typeface="Arial"/>
                <a:ea typeface="Arial"/>
                <a:cs typeface="Arial"/>
                <a:sym typeface="Arial"/>
              </a:rPr>
              <a:t>→</a:t>
            </a:r>
            <a:endParaRPr sz="2405">
              <a:solidFill>
                <a:schemeClr val="dk1"/>
              </a:solidFill>
              <a:latin typeface="Arial"/>
              <a:ea typeface="Arial"/>
              <a:cs typeface="Arial"/>
              <a:sym typeface="Arial"/>
            </a:endParaRPr>
          </a:p>
        </p:txBody>
      </p:sp>
      <p:sp>
        <p:nvSpPr>
          <p:cNvPr id="287" name="Google Shape;287;p14"/>
          <p:cNvSpPr/>
          <p:nvPr/>
        </p:nvSpPr>
        <p:spPr>
          <a:xfrm>
            <a:off x="868680" y="5285232"/>
            <a:ext cx="2788920" cy="411480"/>
          </a:xfrm>
          <a:prstGeom prst="rect">
            <a:avLst/>
          </a:prstGeom>
          <a:noFill/>
          <a:ln>
            <a:noFill/>
          </a:ln>
        </p:spPr>
        <p:txBody>
          <a:bodyPr anchorCtr="0" anchor="ctr" bIns="250" lIns="250" spcFirstLastPara="1" rIns="250" wrap="square" tIns="250">
            <a:normAutofit/>
          </a:bodyPr>
          <a:lstStyle/>
          <a:p>
            <a:pPr indent="0" lvl="0" marL="0" marR="0" rtl="0" algn="l">
              <a:lnSpc>
                <a:spcPct val="90000"/>
              </a:lnSpc>
              <a:spcBef>
                <a:spcPts val="0"/>
              </a:spcBef>
              <a:spcAft>
                <a:spcPts val="0"/>
              </a:spcAft>
              <a:buClr>
                <a:srgbClr val="B91C1C"/>
              </a:buClr>
              <a:buSzPts val="1400"/>
              <a:buFont typeface="Arial"/>
              <a:buNone/>
            </a:pPr>
            <a:r>
              <a:rPr lang="zh-CN" sz="1400">
                <a:solidFill>
                  <a:srgbClr val="B91C1C"/>
                </a:solidFill>
                <a:latin typeface="Arial"/>
                <a:ea typeface="Arial"/>
                <a:cs typeface="Arial"/>
                <a:sym typeface="Arial"/>
              </a:rPr>
              <a:t>Closed-set分類：未知Txでも必ず A/B などに割り当ててしまう</a:t>
            </a:r>
            <a:endParaRPr sz="1400">
              <a:solidFill>
                <a:schemeClr val="dk1"/>
              </a:solidFill>
              <a:latin typeface="Arial"/>
              <a:ea typeface="Arial"/>
              <a:cs typeface="Arial"/>
              <a:sym typeface="Arial"/>
            </a:endParaRPr>
          </a:p>
        </p:txBody>
      </p:sp>
      <p:sp>
        <p:nvSpPr>
          <p:cNvPr id="288" name="Google Shape;288;p14"/>
          <p:cNvSpPr/>
          <p:nvPr/>
        </p:nvSpPr>
        <p:spPr>
          <a:xfrm>
            <a:off x="3822192" y="5285232"/>
            <a:ext cx="2788920" cy="411480"/>
          </a:xfrm>
          <a:prstGeom prst="rect">
            <a:avLst/>
          </a:prstGeom>
          <a:noFill/>
          <a:ln>
            <a:noFill/>
          </a:ln>
        </p:spPr>
        <p:txBody>
          <a:bodyPr anchorCtr="0" anchor="ctr" bIns="250" lIns="250" spcFirstLastPara="1" rIns="250" wrap="square" tIns="250">
            <a:normAutofit/>
          </a:bodyPr>
          <a:lstStyle/>
          <a:p>
            <a:pPr indent="0" lvl="0" marL="0" marR="0" rtl="0" algn="l">
              <a:lnSpc>
                <a:spcPct val="90000"/>
              </a:lnSpc>
              <a:spcBef>
                <a:spcPts val="0"/>
              </a:spcBef>
              <a:spcAft>
                <a:spcPts val="0"/>
              </a:spcAft>
              <a:buClr>
                <a:srgbClr val="15803D"/>
              </a:buClr>
              <a:buSzPts val="1400"/>
              <a:buFont typeface="Arial"/>
              <a:buNone/>
            </a:pPr>
            <a:r>
              <a:rPr lang="zh-CN" sz="1400">
                <a:solidFill>
                  <a:srgbClr val="15803D"/>
                </a:solidFill>
                <a:latin typeface="Arial"/>
                <a:ea typeface="Arial"/>
                <a:cs typeface="Arial"/>
                <a:sym typeface="Arial"/>
              </a:rPr>
              <a:t>Open-set認証：既知クラスに十分近くない信号は拒否する</a:t>
            </a:r>
            <a:endParaRPr sz="1400">
              <a:solidFill>
                <a:schemeClr val="dk1"/>
              </a:solidFill>
              <a:latin typeface="Arial"/>
              <a:ea typeface="Arial"/>
              <a:cs typeface="Arial"/>
              <a:sym typeface="Arial"/>
            </a:endParaRPr>
          </a:p>
        </p:txBody>
      </p:sp>
      <p:sp>
        <p:nvSpPr>
          <p:cNvPr id="289" name="Google Shape;289;p14"/>
          <p:cNvSpPr/>
          <p:nvPr/>
        </p:nvSpPr>
        <p:spPr>
          <a:xfrm>
            <a:off x="7452360" y="1143000"/>
            <a:ext cx="4160520" cy="4800600"/>
          </a:xfrm>
          <a:prstGeom prst="roundRect">
            <a:avLst>
              <a:gd fmla="val 1758" name="adj"/>
            </a:avLst>
          </a:prstGeom>
          <a:solidFill>
            <a:srgbClr val="FFFFFF">
              <a:alpha val="0"/>
            </a:srgbClr>
          </a:solidFill>
          <a:ln cap="flat" cmpd="sng" w="12700">
            <a:solidFill>
              <a:srgbClr val="E5E7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0" name="Google Shape;290;p14"/>
          <p:cNvSpPr/>
          <p:nvPr/>
        </p:nvSpPr>
        <p:spPr>
          <a:xfrm>
            <a:off x="7726680" y="1325880"/>
            <a:ext cx="3520440" cy="274320"/>
          </a:xfrm>
          <a:prstGeom prst="rect">
            <a:avLst/>
          </a:prstGeom>
          <a:noFill/>
          <a:ln>
            <a:noFill/>
          </a:ln>
        </p:spPr>
        <p:txBody>
          <a:bodyPr anchorCtr="0" anchor="ctr" bIns="250" lIns="250" spcFirstLastPara="1" rIns="250" wrap="square" tIns="250">
            <a:normAutofit/>
          </a:bodyPr>
          <a:lstStyle/>
          <a:p>
            <a:pPr indent="0" lvl="0" marL="0" marR="0" rtl="0" algn="l">
              <a:lnSpc>
                <a:spcPct val="90000"/>
              </a:lnSpc>
              <a:spcBef>
                <a:spcPts val="0"/>
              </a:spcBef>
              <a:spcAft>
                <a:spcPts val="0"/>
              </a:spcAft>
              <a:buClr>
                <a:srgbClr val="1F2937"/>
              </a:buClr>
              <a:buSzPts val="1900"/>
              <a:buFont typeface="Arial"/>
              <a:buNone/>
            </a:pPr>
            <a:r>
              <a:rPr b="1" lang="zh-CN" sz="1900">
                <a:solidFill>
                  <a:srgbClr val="1F2937"/>
                </a:solidFill>
                <a:latin typeface="Arial"/>
                <a:ea typeface="Arial"/>
                <a:cs typeface="Arial"/>
                <a:sym typeface="Arial"/>
              </a:rPr>
              <a:t>この論文での定義</a:t>
            </a:r>
            <a:endParaRPr sz="1900">
              <a:solidFill>
                <a:schemeClr val="dk1"/>
              </a:solidFill>
              <a:latin typeface="Arial"/>
              <a:ea typeface="Arial"/>
              <a:cs typeface="Arial"/>
              <a:sym typeface="Arial"/>
            </a:endParaRPr>
          </a:p>
        </p:txBody>
      </p:sp>
      <p:sp>
        <p:nvSpPr>
          <p:cNvPr id="291" name="Google Shape;291;p14"/>
          <p:cNvSpPr/>
          <p:nvPr/>
        </p:nvSpPr>
        <p:spPr>
          <a:xfrm>
            <a:off x="7726680" y="1874520"/>
            <a:ext cx="1481328" cy="548640"/>
          </a:xfrm>
          <a:prstGeom prst="roundRect">
            <a:avLst>
              <a:gd fmla="val 16667" name="adj"/>
            </a:avLst>
          </a:prstGeom>
          <a:solidFill>
            <a:srgbClr val="DCFCE7"/>
          </a:solidFill>
          <a:ln cap="flat" cmpd="sng" w="12700">
            <a:solidFill>
              <a:srgbClr val="1580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2" name="Google Shape;292;p14"/>
          <p:cNvSpPr/>
          <p:nvPr/>
        </p:nvSpPr>
        <p:spPr>
          <a:xfrm>
            <a:off x="7872984" y="2002536"/>
            <a:ext cx="1188720" cy="22860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5803D"/>
              </a:buClr>
              <a:buSzPts val="1400"/>
              <a:buFont typeface="Arial"/>
              <a:buNone/>
            </a:pPr>
            <a:r>
              <a:rPr b="1" lang="zh-CN" sz="1400">
                <a:solidFill>
                  <a:srgbClr val="15803D"/>
                </a:solidFill>
                <a:latin typeface="Arial"/>
                <a:ea typeface="Arial"/>
                <a:cs typeface="Arial"/>
                <a:sym typeface="Arial"/>
              </a:rPr>
              <a:t>H₀: 許可済み</a:t>
            </a:r>
            <a:endParaRPr sz="1400">
              <a:solidFill>
                <a:schemeClr val="dk1"/>
              </a:solidFill>
              <a:latin typeface="Arial"/>
              <a:ea typeface="Arial"/>
              <a:cs typeface="Arial"/>
              <a:sym typeface="Arial"/>
            </a:endParaRPr>
          </a:p>
        </p:txBody>
      </p:sp>
      <p:sp>
        <p:nvSpPr>
          <p:cNvPr id="293" name="Google Shape;293;p14"/>
          <p:cNvSpPr/>
          <p:nvPr/>
        </p:nvSpPr>
        <p:spPr>
          <a:xfrm>
            <a:off x="9400032" y="1874520"/>
            <a:ext cx="1481328" cy="548640"/>
          </a:xfrm>
          <a:prstGeom prst="roundRect">
            <a:avLst>
              <a:gd fmla="val 16667" name="adj"/>
            </a:avLst>
          </a:prstGeom>
          <a:solidFill>
            <a:srgbClr val="FEE2E2"/>
          </a:solidFill>
          <a:ln cap="flat" cmpd="sng" w="12700">
            <a:solidFill>
              <a:srgbClr val="B91C1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4" name="Google Shape;294;p14"/>
          <p:cNvSpPr/>
          <p:nvPr/>
        </p:nvSpPr>
        <p:spPr>
          <a:xfrm>
            <a:off x="9555480" y="2002536"/>
            <a:ext cx="1170432" cy="22860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B91C1C"/>
              </a:buClr>
              <a:buSzPts val="1400"/>
              <a:buFont typeface="Arial"/>
              <a:buNone/>
            </a:pPr>
            <a:r>
              <a:rPr b="1" lang="zh-CN" sz="1400">
                <a:solidFill>
                  <a:srgbClr val="B91C1C"/>
                </a:solidFill>
                <a:latin typeface="Arial"/>
                <a:ea typeface="Arial"/>
                <a:cs typeface="Arial"/>
                <a:sym typeface="Arial"/>
              </a:rPr>
              <a:t>H₁: 未知Tx</a:t>
            </a:r>
            <a:endParaRPr sz="1400">
              <a:solidFill>
                <a:schemeClr val="dk1"/>
              </a:solidFill>
              <a:latin typeface="Arial"/>
              <a:ea typeface="Arial"/>
              <a:cs typeface="Arial"/>
              <a:sym typeface="Arial"/>
            </a:endParaRPr>
          </a:p>
        </p:txBody>
      </p:sp>
      <p:sp>
        <p:nvSpPr>
          <p:cNvPr id="295" name="Google Shape;295;p14"/>
          <p:cNvSpPr/>
          <p:nvPr/>
        </p:nvSpPr>
        <p:spPr>
          <a:xfrm>
            <a:off x="7726680" y="2651760"/>
            <a:ext cx="3520440" cy="713232"/>
          </a:xfrm>
          <a:prstGeom prst="rect">
            <a:avLst/>
          </a:prstGeom>
          <a:noFill/>
          <a:ln>
            <a:noFill/>
          </a:ln>
        </p:spPr>
        <p:txBody>
          <a:bodyPr anchorCtr="0" anchor="ctr" bIns="250" lIns="250" spcFirstLastPara="1" rIns="250" wrap="square" tIns="250">
            <a:normAutofit/>
          </a:bodyPr>
          <a:lstStyle/>
          <a:p>
            <a:pPr indent="0" lvl="0" marL="0" marR="0" rtl="0" algn="l">
              <a:lnSpc>
                <a:spcPct val="80000"/>
              </a:lnSpc>
              <a:spcBef>
                <a:spcPts val="0"/>
              </a:spcBef>
              <a:spcAft>
                <a:spcPts val="0"/>
              </a:spcAft>
              <a:buClr>
                <a:srgbClr val="1F2937"/>
              </a:buClr>
              <a:buSzPts val="1360"/>
              <a:buFont typeface="Arial"/>
              <a:buNone/>
            </a:pPr>
            <a:r>
              <a:rPr lang="zh-CN" sz="1360">
                <a:solidFill>
                  <a:srgbClr val="1F2937"/>
                </a:solidFill>
                <a:latin typeface="Arial"/>
                <a:ea typeface="Arial"/>
                <a:cs typeface="Arial"/>
                <a:sym typeface="Arial"/>
              </a:rPr>
              <a:t>受信機Rは、信号yの送信元Tが許可集合Aに属するかを判定する。</a:t>
            </a:r>
            <a:endParaRPr sz="1360">
              <a:solidFill>
                <a:schemeClr val="dk1"/>
              </a:solidFill>
              <a:latin typeface="Arial"/>
              <a:ea typeface="Arial"/>
              <a:cs typeface="Arial"/>
              <a:sym typeface="Arial"/>
            </a:endParaRPr>
          </a:p>
          <a:p>
            <a:pPr indent="0" lvl="0" marL="0" marR="0" rtl="0" algn="l">
              <a:lnSpc>
                <a:spcPct val="80000"/>
              </a:lnSpc>
              <a:spcBef>
                <a:spcPts val="0"/>
              </a:spcBef>
              <a:spcAft>
                <a:spcPts val="0"/>
              </a:spcAft>
              <a:buClr>
                <a:srgbClr val="1F2937"/>
              </a:buClr>
              <a:buSzPts val="1360"/>
              <a:buFont typeface="Arial"/>
              <a:buNone/>
            </a:pPr>
            <a:r>
              <a:rPr lang="zh-CN" sz="1360">
                <a:solidFill>
                  <a:srgbClr val="1F2937"/>
                </a:solidFill>
                <a:latin typeface="Arial"/>
                <a:ea typeface="Arial"/>
                <a:cs typeface="Arial"/>
                <a:sym typeface="Arial"/>
              </a:rPr>
              <a:t>Open-setでは「誰か」だけでなく「登録外か」も同時に扱う。</a:t>
            </a:r>
            <a:endParaRPr sz="1360">
              <a:solidFill>
                <a:schemeClr val="dk1"/>
              </a:solidFill>
              <a:latin typeface="Arial"/>
              <a:ea typeface="Arial"/>
              <a:cs typeface="Arial"/>
              <a:sym typeface="Arial"/>
            </a:endParaRPr>
          </a:p>
        </p:txBody>
      </p:sp>
      <p:sp>
        <p:nvSpPr>
          <p:cNvPr id="296" name="Google Shape;296;p14"/>
          <p:cNvSpPr/>
          <p:nvPr/>
        </p:nvSpPr>
        <p:spPr>
          <a:xfrm>
            <a:off x="7726680" y="3621024"/>
            <a:ext cx="3520440" cy="228600"/>
          </a:xfrm>
          <a:prstGeom prst="rect">
            <a:avLst/>
          </a:prstGeom>
          <a:noFill/>
          <a:ln>
            <a:noFill/>
          </a:ln>
        </p:spPr>
        <p:txBody>
          <a:bodyPr anchorCtr="0" anchor="ctr" bIns="250" lIns="250" spcFirstLastPara="1" rIns="250" wrap="square" tIns="250">
            <a:normAutofit/>
          </a:bodyPr>
          <a:lstStyle/>
          <a:p>
            <a:pPr indent="0" lvl="0" marL="0" marR="0" rtl="0" algn="l">
              <a:lnSpc>
                <a:spcPct val="90000"/>
              </a:lnSpc>
              <a:spcBef>
                <a:spcPts val="0"/>
              </a:spcBef>
              <a:spcAft>
                <a:spcPts val="0"/>
              </a:spcAft>
              <a:buClr>
                <a:srgbClr val="1F2937"/>
              </a:buClr>
              <a:buSzPts val="1600"/>
              <a:buFont typeface="Arial"/>
              <a:buNone/>
            </a:pPr>
            <a:r>
              <a:rPr b="1" lang="zh-CN" sz="1600">
                <a:solidFill>
                  <a:srgbClr val="1F2937"/>
                </a:solidFill>
                <a:latin typeface="Arial"/>
                <a:ea typeface="Arial"/>
                <a:cs typeface="Arial"/>
                <a:sym typeface="Arial"/>
              </a:rPr>
              <a:t>代表的な方式</a:t>
            </a:r>
            <a:endParaRPr sz="1600">
              <a:solidFill>
                <a:schemeClr val="dk1"/>
              </a:solidFill>
              <a:latin typeface="Arial"/>
              <a:ea typeface="Arial"/>
              <a:cs typeface="Arial"/>
              <a:sym typeface="Arial"/>
            </a:endParaRPr>
          </a:p>
        </p:txBody>
      </p:sp>
      <p:sp>
        <p:nvSpPr>
          <p:cNvPr id="297" name="Google Shape;297;p14"/>
          <p:cNvSpPr/>
          <p:nvPr/>
        </p:nvSpPr>
        <p:spPr>
          <a:xfrm>
            <a:off x="7726680" y="3931920"/>
            <a:ext cx="3566160" cy="78638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F2937"/>
              </a:buClr>
              <a:buSzPts val="1221"/>
              <a:buFont typeface="Arial"/>
              <a:buNone/>
            </a:pPr>
            <a:r>
              <a:rPr lang="zh-CN" sz="1221">
                <a:solidFill>
                  <a:srgbClr val="1F2937"/>
                </a:solidFill>
                <a:latin typeface="Arial"/>
                <a:ea typeface="Arial"/>
                <a:cs typeface="Arial"/>
                <a:sym typeface="Arial"/>
              </a:rPr>
              <a:t>• OvA：各許可Txごとに「自分か/違うか」を判定</a:t>
            </a:r>
            <a:endParaRPr sz="1221">
              <a:solidFill>
                <a:schemeClr val="dk1"/>
              </a:solidFill>
              <a:latin typeface="Arial"/>
              <a:ea typeface="Arial"/>
              <a:cs typeface="Arial"/>
              <a:sym typeface="Arial"/>
            </a:endParaRPr>
          </a:p>
          <a:p>
            <a:pPr indent="0" lvl="0" marL="0" marR="0" rtl="0" algn="l">
              <a:spcBef>
                <a:spcPts val="0"/>
              </a:spcBef>
              <a:spcAft>
                <a:spcPts val="0"/>
              </a:spcAft>
              <a:buClr>
                <a:srgbClr val="1F2937"/>
              </a:buClr>
              <a:buSzPts val="1221"/>
              <a:buFont typeface="Arial"/>
              <a:buNone/>
            </a:pPr>
            <a:r>
              <a:rPr lang="zh-CN" sz="1221">
                <a:solidFill>
                  <a:srgbClr val="1F2937"/>
                </a:solidFill>
                <a:latin typeface="Arial"/>
                <a:ea typeface="Arial"/>
                <a:cs typeface="Arial"/>
                <a:sym typeface="Arial"/>
              </a:rPr>
              <a:t>• OpenMax：分類器の不確かさから未知を拒否</a:t>
            </a:r>
            <a:endParaRPr sz="1221">
              <a:solidFill>
                <a:schemeClr val="dk1"/>
              </a:solidFill>
              <a:latin typeface="Arial"/>
              <a:ea typeface="Arial"/>
              <a:cs typeface="Arial"/>
              <a:sym typeface="Arial"/>
            </a:endParaRPr>
          </a:p>
          <a:p>
            <a:pPr indent="0" lvl="0" marL="0" marR="0" rtl="0" algn="l">
              <a:spcBef>
                <a:spcPts val="0"/>
              </a:spcBef>
              <a:spcAft>
                <a:spcPts val="0"/>
              </a:spcAft>
              <a:buClr>
                <a:srgbClr val="1F2937"/>
              </a:buClr>
              <a:buSzPts val="1221"/>
              <a:buFont typeface="Arial"/>
              <a:buNone/>
            </a:pPr>
            <a:r>
              <a:rPr lang="zh-CN" sz="1221">
                <a:solidFill>
                  <a:srgbClr val="1F2937"/>
                </a:solidFill>
                <a:latin typeface="Arial"/>
                <a:ea typeface="Arial"/>
                <a:cs typeface="Arial"/>
                <a:sym typeface="Arial"/>
              </a:rPr>
              <a:t>• AutoEncoder：再構成誤差が大きい信号を拒否</a:t>
            </a:r>
            <a:endParaRPr sz="1221">
              <a:solidFill>
                <a:schemeClr val="dk1"/>
              </a:solidFill>
              <a:latin typeface="Arial"/>
              <a:ea typeface="Arial"/>
              <a:cs typeface="Arial"/>
              <a:sym typeface="Arial"/>
            </a:endParaRPr>
          </a:p>
        </p:txBody>
      </p:sp>
      <p:sp>
        <p:nvSpPr>
          <p:cNvPr id="298" name="Google Shape;298;p14"/>
          <p:cNvSpPr/>
          <p:nvPr/>
        </p:nvSpPr>
        <p:spPr>
          <a:xfrm>
            <a:off x="7726680" y="5047488"/>
            <a:ext cx="3520440" cy="530352"/>
          </a:xfrm>
          <a:prstGeom prst="roundRect">
            <a:avLst>
              <a:gd fmla="val 17241" name="adj"/>
            </a:avLst>
          </a:prstGeom>
          <a:solidFill>
            <a:srgbClr val="FEF3C7"/>
          </a:solidFill>
          <a:ln cap="flat" cmpd="sng" w="12700">
            <a:solidFill>
              <a:srgbClr val="F59E0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9" name="Google Shape;299;p14"/>
          <p:cNvSpPr/>
          <p:nvPr/>
        </p:nvSpPr>
        <p:spPr>
          <a:xfrm>
            <a:off x="7909560" y="5184648"/>
            <a:ext cx="3154680" cy="201168"/>
          </a:xfrm>
          <a:prstGeom prst="rect">
            <a:avLst/>
          </a:prstGeom>
          <a:noFill/>
          <a:ln>
            <a:noFill/>
          </a:ln>
        </p:spPr>
        <p:txBody>
          <a:bodyPr anchorCtr="0" anchor="ctr" bIns="250" lIns="250" spcFirstLastPara="1" rIns="250" wrap="square" tIns="250">
            <a:normAutofit/>
          </a:bodyPr>
          <a:lstStyle/>
          <a:p>
            <a:pPr indent="0" lvl="0" marL="0" marR="0" rtl="0" algn="ctr">
              <a:lnSpc>
                <a:spcPct val="90000"/>
              </a:lnSpc>
              <a:spcBef>
                <a:spcPts val="0"/>
              </a:spcBef>
              <a:spcAft>
                <a:spcPts val="0"/>
              </a:spcAft>
              <a:buClr>
                <a:srgbClr val="B45309"/>
              </a:buClr>
              <a:buSzPts val="1400"/>
              <a:buFont typeface="Arial"/>
              <a:buNone/>
            </a:pPr>
            <a:r>
              <a:rPr b="1" lang="zh-CN" sz="1400">
                <a:solidFill>
                  <a:srgbClr val="B45309"/>
                </a:solidFill>
                <a:latin typeface="Arial"/>
                <a:ea typeface="Arial"/>
                <a:cs typeface="Arial"/>
                <a:sym typeface="Arial"/>
              </a:rPr>
              <a:t>結果：OvA + 既知の未許可Txが有効</a:t>
            </a:r>
            <a:endParaRPr sz="1400">
              <a:solidFill>
                <a:schemeClr val="dk1"/>
              </a:solidFill>
              <a:latin typeface="Arial"/>
              <a:ea typeface="Arial"/>
              <a:cs typeface="Arial"/>
              <a:sym typeface="Arial"/>
            </a:endParaRPr>
          </a:p>
        </p:txBody>
      </p:sp>
      <p:sp>
        <p:nvSpPr>
          <p:cNvPr id="300" name="Google Shape;300;p14"/>
          <p:cNvSpPr/>
          <p:nvPr/>
        </p:nvSpPr>
        <p:spPr>
          <a:xfrm>
            <a:off x="7818120" y="5596128"/>
            <a:ext cx="3337560" cy="429768"/>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4B5563"/>
              </a:buClr>
              <a:buSzPts val="1220"/>
              <a:buFont typeface="Arial"/>
              <a:buNone/>
            </a:pPr>
            <a:r>
              <a:rPr lang="zh-CN" sz="1220">
                <a:solidFill>
                  <a:srgbClr val="4B5563"/>
                </a:solidFill>
                <a:latin typeface="Arial"/>
                <a:ea typeface="Arial"/>
                <a:cs typeface="Arial"/>
                <a:sym typeface="Arial"/>
              </a:rPr>
              <a:t>10許可Tx + 50既知outlierで</a:t>
            </a:r>
            <a:endParaRPr sz="1220">
              <a:solidFill>
                <a:schemeClr val="dk1"/>
              </a:solidFill>
              <a:latin typeface="Arial"/>
              <a:ea typeface="Arial"/>
              <a:cs typeface="Arial"/>
              <a:sym typeface="Arial"/>
            </a:endParaRPr>
          </a:p>
          <a:p>
            <a:pPr indent="0" lvl="0" marL="0" marR="0" rtl="0" algn="ctr">
              <a:spcBef>
                <a:spcPts val="0"/>
              </a:spcBef>
              <a:spcAft>
                <a:spcPts val="0"/>
              </a:spcAft>
              <a:buClr>
                <a:srgbClr val="4B5563"/>
              </a:buClr>
              <a:buSzPts val="1220"/>
              <a:buFont typeface="Arial"/>
              <a:buNone/>
            </a:pPr>
            <a:r>
              <a:rPr lang="zh-CN" sz="1220">
                <a:solidFill>
                  <a:srgbClr val="4B5563"/>
                </a:solidFill>
                <a:latin typeface="Arial"/>
                <a:ea typeface="Arial"/>
                <a:cs typeface="Arial"/>
                <a:sym typeface="Arial"/>
              </a:rPr>
              <a:t>同日98%・別日80%のoutlier検出精度</a:t>
            </a:r>
            <a:endParaRPr sz="1220">
              <a:solidFill>
                <a:schemeClr val="dk1"/>
              </a:solidFill>
              <a:latin typeface="Arial"/>
              <a:ea typeface="Arial"/>
              <a:cs typeface="Arial"/>
              <a:sym typeface="Arial"/>
            </a:endParaRPr>
          </a:p>
        </p:txBody>
      </p:sp>
      <p:sp>
        <p:nvSpPr>
          <p:cNvPr id="301" name="Google Shape;301;p14"/>
          <p:cNvSpPr/>
          <p:nvPr/>
        </p:nvSpPr>
        <p:spPr>
          <a:xfrm>
            <a:off x="530352" y="6428232"/>
            <a:ext cx="8412480" cy="20116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6B7280"/>
              </a:buClr>
              <a:buSzPts val="1000"/>
              <a:buFont typeface="Arial"/>
              <a:buNone/>
            </a:pPr>
            <a:r>
              <a:rPr lang="zh-CN" sz="1000">
                <a:solidFill>
                  <a:srgbClr val="6B7280"/>
                </a:solidFill>
                <a:latin typeface="Arial"/>
                <a:ea typeface="Arial"/>
                <a:cs typeface="Arial"/>
                <a:sym typeface="Arial"/>
              </a:rPr>
              <a:t>出典: Hanna et al., “Open Set Wireless Transmitter Authorization” / WiSig 関連論文</a:t>
            </a:r>
            <a:endParaRPr sz="10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ustom.xml><?xml version="1.0" encoding="utf-8"?>
<Properties xmlns="http://schemas.openxmlformats.org/officeDocument/2006/custom-properties" xmlns:vt="http://schemas.openxmlformats.org/officeDocument/2006/docPropsVTypes">
  <property fmtid="{D5CDD505-2E9C-101B-9397-08002B2CF9AE}" pid="2" name="Notes">
    <vt:r8>16.0</vt:r8>
  </property>
  <property fmtid="{D5CDD505-2E9C-101B-9397-08002B2CF9AE}" pid="3" name="PresentationFormat">
    <vt:lpwstr>On-screen Show (16:9)</vt:lpwstr>
  </property>
  <property fmtid="{D5CDD505-2E9C-101B-9397-08002B2CF9AE}" pid="4" name="Slides">
    <vt:r8>16.0</vt:r8>
  </property>
</Properties>
</file>